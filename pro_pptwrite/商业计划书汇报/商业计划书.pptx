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>
              <a:defRPr sz="1350">
                <a:solidFill>
                  <a:srgbClr val="1C2B24"/>
                </a:solidFill>
              </a:defRPr>
            </a:pPr>
            <a:r>
              <a:rPr lang="zh-CN" altLang="en-US" sz="1350">
                <a:solidFill>
                  <a:srgbClr val="1C2B24"/>
                </a:solidFill>
              </a:rPr>
              <a:t>养老照护市场刚需（万人 </a:t>
            </a:r>
            <a:r>
              <a:rPr lang="en-US" altLang="zh-CN" sz="1350">
                <a:solidFill>
                  <a:srgbClr val="1C2B24"/>
                </a:solidFill>
              </a:rPr>
              <a:t>/ </a:t>
            </a:r>
            <a:r>
              <a:rPr lang="zh-CN" altLang="en-US" sz="1350">
                <a:solidFill>
                  <a:srgbClr val="1C2B24"/>
                </a:solidFill>
              </a:rPr>
              <a:t>亿）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规模</c:v>
                </c:pt>
              </c:strCache>
            </c:strRef>
          </c:tx>
          <c:spPr>
            <a:solidFill>
              <a:srgbClr val="0F5C46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0F5C46"/>
                    </a:solidFill>
                  </a:defRPr>
                </a:pPr>
                <a:endParaRPr lang="zh-CN"/>
              </a:p>
            </c:txPr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60岁以上人口(亿)</c:v>
              </c:pt>
              <c:pt idx="1">
                <c:v>失能半失能(万)</c:v>
              </c:pt>
              <c:pt idx="2">
                <c:v>持证人才缺口(万)</c:v>
              </c:pt>
            </c:strLit>
          </c:cat>
          <c:val>
            <c:numLit>
              <c:formatCode>General</c:formatCode>
              <c:ptCount val="3"/>
              <c:pt idx="0">
                <c:v>3.2</c:v>
              </c:pt>
              <c:pt idx="1">
                <c:v>4500</c:v>
              </c:pt>
              <c:pt idx="2">
                <c:v>900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366-4583-97A3-2D531E2D88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lstStyle/>
          <a:p>
            <a:pPr>
              <a:defRPr sz="900">
                <a:solidFill>
                  <a:srgbClr val="5C6B63"/>
                </a:solidFill>
              </a:defRPr>
            </a:pPr>
            <a:endParaRPr lang="zh-CN"/>
          </a:p>
        </c:txPr>
        <c:crossAx val="89736802"/>
        <c:crosses val="autoZero"/>
        <c:auto val="1"/>
        <c:lblAlgn val="ctr"/>
        <c:lblOffset val="100"/>
        <c:noMultiLvlLbl val="1"/>
      </c:catAx>
      <c:valAx>
        <c:axId val="8973680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900">
                <a:solidFill>
                  <a:srgbClr val="5C6B63"/>
                </a:solidFill>
              </a:defRPr>
            </a:pPr>
            <a:endParaRPr lang="zh-CN"/>
          </a:p>
        </c:txPr>
        <c:crossAx val="8973680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>
              <a:defRPr sz="1350">
                <a:solidFill>
                  <a:srgbClr val="1C2B24"/>
                </a:solidFill>
              </a:defRPr>
            </a:pPr>
            <a:r>
              <a:rPr lang="zh-CN" altLang="en-US" sz="1350">
                <a:solidFill>
                  <a:srgbClr val="1C2B24"/>
                </a:solidFill>
              </a:rPr>
              <a:t>股权结构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doughnutChart>
        <c:varyColors val="1"/>
        <c:ser>
          <c:idx val="0"/>
          <c:order val="0"/>
          <c:tx>
            <c:strRef>
              <c:f>sheet</c:f>
              <c:strCache>
                <c:ptCount val="1"/>
                <c:pt idx="0">
                  <c:v>占比</c:v>
                </c:pt>
              </c:strCache>
            </c:strRef>
          </c:tx>
          <c:dPt>
            <c:idx val="0"/>
            <c:bubble3D val="0"/>
            <c:spPr>
              <a:solidFill>
                <a:srgbClr val="0F5C46"/>
              </a:solidFill>
            </c:spPr>
            <c:extLst>
              <c:ext xmlns:c16="http://schemas.microsoft.com/office/drawing/2014/chart" uri="{C3380CC4-5D6E-409C-BE32-E72D297353CC}">
                <c16:uniqueId val="{00000001-BE39-4E2D-B2E5-DF3DD31BF5DA}"/>
              </c:ext>
            </c:extLst>
          </c:dPt>
          <c:dPt>
            <c:idx val="1"/>
            <c:bubble3D val="0"/>
            <c:spPr>
              <a:solidFill>
                <a:srgbClr val="2E9E78"/>
              </a:solidFill>
            </c:spPr>
            <c:extLst>
              <c:ext xmlns:c16="http://schemas.microsoft.com/office/drawing/2014/chart" uri="{C3380CC4-5D6E-409C-BE32-E72D297353CC}">
                <c16:uniqueId val="{00000003-BE39-4E2D-B2E5-DF3DD31BF5DA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FFFFFF"/>
                    </a:solidFill>
                  </a:defRPr>
                </a:pPr>
                <a:endParaRPr lang="zh-CN"/>
              </a:p>
            </c:txPr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Lit>
              <c:ptCount val="2"/>
              <c:pt idx="0">
                <c:v>原自然人股东</c:v>
              </c:pt>
              <c:pt idx="1">
                <c:v>湖南外国语职业学院</c:v>
              </c:pt>
            </c:strLit>
          </c:cat>
          <c:val>
            <c:numLit>
              <c:formatCode>General</c:formatCode>
              <c:ptCount val="2"/>
              <c:pt idx="0">
                <c:v>60</c:v>
              </c:pt>
              <c:pt idx="1">
                <c:v>40</c:v>
              </c:pt>
            </c:numLit>
          </c:val>
          <c:extLst>
            <c:ext xmlns:c16="http://schemas.microsoft.com/office/drawing/2014/chart" uri="{C3380CC4-5D6E-409C-BE32-E72D297353CC}">
              <c16:uniqueId val="{00000004-BE39-4E2D-B2E5-DF3DD31BF5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/>
        <a:lstStyle/>
        <a:p>
          <a:pPr>
            <a:defRPr sz="900">
              <a:solidFill>
                <a:srgbClr val="5C6B63"/>
              </a:solidFill>
            </a:defRPr>
          </a:pPr>
          <a:endParaRPr lang="zh-CN"/>
        </a:p>
      </c:txPr>
    </c:legend>
    <c:plotVisOnly val="1"/>
    <c:dispBlanksAs val="gap"/>
    <c:showDLblsOverMax val="1"/>
  </c:char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pPr>
              <a:defRPr sz="1350">
                <a:solidFill>
                  <a:srgbClr val="1C2B24"/>
                </a:solidFill>
              </a:defRPr>
            </a:pPr>
            <a:r>
              <a:rPr lang="en-US" altLang="zh-CN" sz="1350">
                <a:solidFill>
                  <a:srgbClr val="1C2B24"/>
                </a:solidFill>
              </a:rPr>
              <a:t>1200 </a:t>
            </a:r>
            <a:r>
              <a:rPr lang="zh-CN" altLang="en-US" sz="1350">
                <a:solidFill>
                  <a:srgbClr val="1C2B24"/>
                </a:solidFill>
              </a:rPr>
              <a:t>万资金专项用途（万元）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金额</c:v>
                </c:pt>
              </c:strCache>
            </c:strRef>
          </c:tx>
          <c:spPr>
            <a:solidFill>
              <a:srgbClr val="2E9E7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>
                    <a:solidFill>
                      <a:srgbClr val="0F5C46"/>
                    </a:solidFill>
                  </a:defRPr>
                </a:pPr>
                <a:endParaRPr lang="zh-CN"/>
              </a:p>
            </c:txPr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省级鉴定申报</c:v>
              </c:pt>
              <c:pt idx="1">
                <c:v>线上平台迭代</c:v>
              </c:pt>
              <c:pt idx="2">
                <c:v>市场渠道拓展</c:v>
              </c:pt>
              <c:pt idx="3">
                <c:v>团队/师资扩充</c:v>
              </c:pt>
              <c:pt idx="4">
                <c:v>场地改造/耗材</c:v>
              </c:pt>
            </c:strLit>
          </c:cat>
          <c:val>
            <c:numLit>
              <c:formatCode>General</c:formatCode>
              <c:ptCount val="5"/>
              <c:pt idx="0">
                <c:v>420</c:v>
              </c:pt>
              <c:pt idx="1">
                <c:v>300</c:v>
              </c:pt>
              <c:pt idx="2">
                <c:v>240</c:v>
              </c:pt>
              <c:pt idx="3">
                <c:v>150</c:v>
              </c:pt>
              <c:pt idx="4">
                <c:v>90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8935-4DCB-9CFE-CF370D29B4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>
            <a:solidFill>
              <a:srgbClr val="D9D9D9"/>
            </a:solidFill>
            <a:round/>
          </a:ln>
          <a:effectLst/>
        </c:spPr>
        <c:txPr>
          <a:bodyPr/>
          <a:lstStyle/>
          <a:p>
            <a:pPr>
              <a:defRPr sz="900">
                <a:solidFill>
                  <a:srgbClr val="5C6B63"/>
                </a:solidFill>
              </a:defRPr>
            </a:pPr>
            <a:endParaRPr lang="zh-CN"/>
          </a:p>
        </c:txPr>
        <c:crossAx val="89736802"/>
        <c:crosses val="autoZero"/>
        <c:auto val="1"/>
        <c:lblAlgn val="ctr"/>
        <c:lblOffset val="100"/>
        <c:noMultiLvlLbl val="1"/>
      </c:catAx>
      <c:valAx>
        <c:axId val="8973680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D9D9D9"/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/>
          <a:lstStyle/>
          <a:p>
            <a:pPr>
              <a:defRPr sz="900">
                <a:solidFill>
                  <a:srgbClr val="5C6B63"/>
                </a:solidFill>
              </a:defRPr>
            </a:pPr>
            <a:endParaRPr lang="zh-CN"/>
          </a:p>
        </c:txPr>
        <c:crossAx val="89736801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gap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width: '1280px', height: '720px', fontFamily: &quot;'Source Han Sans SC', 'Microsoft YaHei', sans-serif&quot; }}&gt;&#10;  {/* 校园实景全屏背景 */}&#10;  &lt;Image src=&quot;assets/hero_gate.png&quot; style={{ position: 'absolute', top: 0, left: 0, width: '100%', height: '100%', objectFit: 'cover' }} /&gt;&#10;&#10;  {/* 深绿半透明蒙版 */}&#10;  &lt;Box style={{ position: 'absolute', top: 0, left: 0, right: 0, bottom: 0, background: 'linear-gradient(180deg, rgba(10,43,77,0.78) 0%, rgba(15,92,70,0.72) 55%, rgba(15,92,70,0.55) 100%)' }} /&gt;&#10;&#10;  {/* 顶部日期 */}&#10;  &lt;Text style={{ position: 'absolute', top: 54, left: 0, right: 0, textAlign: 'center', color: 'rgba(255,255,255,0.9)', fontSize: 20, letterSpacing: 4 }}&gt;&#10;    2026 / 08 / 16&#10;  &lt;/Text&gt;&#10;&#10;  {/* 主标题区 */}&#10;  &lt;Box style={{ position: 'absolute', top: 186, left: 0, right: 0, alignItems: 'center' }}&gt;&#10;    &lt;Text style={{ color: '#FFFFFF', fontSize: 64, fontWeight: 'bold', textShadow: '0 4px 20px rgba(0,0,0,0.35)', letterSpacing: 2 }}&gt;&#10;      校企合作商业计划书&#10;    &lt;/Text&gt;&#10;    &lt;Box style={{ width: 120, height: 6, borderRadius: 3, background: '#2E9E78', marginTop: 24 }} /&gt;&#10;    &lt;Text style={{ color: 'rgba(255,255,255,0.95)', fontSize: 28, marginTop: 24, letterSpacing: 2 }}&gt;&#10;      叁竹职业培训学校 × 湖南外国语职业学院&#10;    &lt;/Text&gt;&#10;  &lt;/Box&gt;&#10;&#10;  {/* 底部海军蓝弧形 wave + 白色区域 */}&#10;  &lt;Box style={{ position: 'absolute', left: 0, right: 0, bottom: 0, height: 240, overflow: 'hidden' }}&gt;&#10;    &lt;svg width='1280' height='240' viewBox='0 0 1280 240' style={{ position: 'absolute', bottom: 0 }}&gt;&#10;      &lt;path d='M0,540 C320,500 960,580 1280,520 L1280,720 L0,720 Z' fill='#F8FBFA' transform='translate(0,-480)' /&gt;&#10;      &lt;path d='M0,500 C320,460 960,540 1280,480 L1280,525 C960,565 320,485 0,525 Z' fill='#0A2B4D' /&gt;&#10;    &lt;/svg&gt;&#10;&#10;    {/* 校徽/Logo 徽章 */}&#10;    &lt;Box style={{ position: 'absolute', left: 0, right: 0, top: 18, alignItems: 'center' }}&gt;&#10;      &lt;Box style={{ width: 86, height: 86, borderRadius: 999, background: '#FFFFFF', border: '3px solid #0A2B4D', justifyContent: 'center', alignItems: 'center', boxShadow: '0 4px 16px rgba(0,0,0,0.15)' }}&gt;&#10;        &lt;FAIcon name='graduation-cap' style={{ fill: '#0F5C46', width: 44, height: 44 }} /&gt;&#10;      &lt;/Box&gt;&#10;    &lt;/Box&gt;&#10;  &lt;/Box&gt;&#10;&#10;  {/* 标的摘要条 */}&#10;  &lt;Box style={{ position: 'absolute', bottom: 136, left: 60, right: 60, flexDirection: 'row', justifyContent: 'center', gap: 24 }}&gt;&#10;    {[&#10;      ['标的主体', '长沙市望城区叁竹职业培训学校有限公司'],&#10;      ['合作模式', '湖外现金入股持股 40% · 原股东 60%'],&#10;      ['核心赛道', '养老照护九大工种 + 省级技能认定'],&#10;    ].map((item, i) =&gt; (&#10;      &lt;Box key={i} style={{ background: 'rgba(255,255,255,0.12)', border: '1px solid rgba(255,255,255,0.22)', borderRadius: 12, padding: '14px 20px', minWidth: 300 }}&gt;&#10;        &lt;Text style={{ color: '#7FE3C0', fontSize: 15, fontWeight: 'bold' }}&gt;{item[0]}&lt;/Text&gt;&#10;        &lt;Text style={{ color: '#FFFFFF', fontSize: 16, marginTop: 5, lineHeight: 1.4 }}&gt;{item[1]}&lt;/Text&gt;&#10;      &lt;/Box&gt;&#10;    ))}&#10;  &lt;/Box&gt;&#10;&#10;  {/* 汇报人 */}&#10;  &lt;Text style={{ position: 'absolute', bottom: 56, left: 0, right: 0, textAlign: 'center', color: '#5C6B63', fontSize: 16 }}&gt;&#10;    呈报：双方战略合作决策委员会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t="8894" b="889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2B4D">
                  <a:alpha val="78000"/>
                </a:srgbClr>
              </a:gs>
              <a:gs pos="55000">
                <a:srgbClr val="0F5C46">
                  <a:alpha val="72000"/>
                </a:srgbClr>
              </a:gs>
              <a:gs pos="100000">
                <a:srgbClr val="0F5C46">
                  <a:alpha val="55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3267075" y="1771650"/>
            <a:ext cx="5657850" cy="7334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800" b="1" spc="150">
                <a:solidFill>
                  <a:srgbClr val="FFFFFF"/>
                </a:solidFill>
                <a:effectLst>
                  <a:outerShdw blurRad="190500" dist="38100" dir="5400000">
                    <a:srgbClr val="000000">
                      <a:alpha val="35000"/>
                    </a:srgbClr>
                  </a:outerShdw>
                </a:effectLst>
                <a:latin typeface="Source Han Sans SC"/>
                <a:ea typeface="Source Han Sans SC"/>
              </a:rPr>
              <a:t>校企合作商业计划书</a:t>
            </a:r>
            <a:endParaRPr/>
          </a:p>
        </p:txBody>
      </p:sp>
      <p:sp>
        <p:nvSpPr>
          <p:cNvPr id="6" name="矩形: 圆角 5"/>
          <p:cNvSpPr/>
          <p:nvPr/>
        </p:nvSpPr>
        <p:spPr>
          <a:xfrm>
            <a:off x="5524500" y="2733675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3457575" y="3019425"/>
            <a:ext cx="527685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100" spc="150">
                <a:solidFill>
                  <a:srgbClr val="FFFFFF">
                    <a:alpha val="95000"/>
                  </a:srgbClr>
                </a:solidFill>
                <a:latin typeface="Source Han Sans SC"/>
                <a:ea typeface="Source Han Sans SC"/>
              </a:rPr>
              <a:t>叁竹职业培训学校</a:t>
            </a:r>
            <a:r>
              <a:rPr lang="en-US" sz="2100" spc="150">
                <a:solidFill>
                  <a:srgbClr val="FFFFFF">
                    <a:alpha val="95000"/>
                  </a:srgbClr>
                </a:solidFill>
                <a:latin typeface="Source Han Sans SC"/>
                <a:ea typeface="Source Han Sans SC"/>
              </a:rPr>
              <a:t> × </a:t>
            </a:r>
            <a:r>
              <a:rPr lang="zh-CN" sz="2100" spc="150">
                <a:solidFill>
                  <a:srgbClr val="FFFFFF">
                    <a:alpha val="95000"/>
                  </a:srgbClr>
                </a:solidFill>
                <a:latin typeface="Source Han Sans SC"/>
                <a:ea typeface="Source Han Sans SC"/>
              </a:rPr>
              <a:t>湖南外国语职业学院</a:t>
            </a:r>
            <a:endParaRPr/>
          </a:p>
        </p:txBody>
      </p:sp>
      <p:pic>
        <p:nvPicPr>
          <p:cNvPr id="8" name="图形 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572000"/>
            <a:ext cx="12192000" cy="2286000"/>
          </a:xfrm>
          <a:prstGeom prst="rect">
            <a:avLst/>
          </a:prstGeom>
          <a:ln/>
        </p:spPr>
      </p:pic>
      <p:sp>
        <p:nvSpPr>
          <p:cNvPr id="9" name="矩形: 圆角 8"/>
          <p:cNvSpPr/>
          <p:nvPr/>
        </p:nvSpPr>
        <p:spPr>
          <a:xfrm>
            <a:off x="5686425" y="4743450"/>
            <a:ext cx="819150" cy="819150"/>
          </a:xfrm>
          <a:prstGeom prst="roundRect">
            <a:avLst>
              <a:gd name="adj" fmla="val 1161628"/>
            </a:avLst>
          </a:prstGeom>
          <a:solidFill>
            <a:srgbClr val="FFFFFF"/>
          </a:solidFill>
          <a:ln w="38100">
            <a:solidFill>
              <a:srgbClr val="0A2B4D"/>
            </a:solidFill>
            <a:prstDash val="solid"/>
          </a:ln>
          <a:effectLst>
            <a:outerShdw blurRad="152400" dist="38100" dir="540000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图形 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86450" y="4943475"/>
            <a:ext cx="419100" cy="419100"/>
          </a:xfrm>
          <a:prstGeom prst="rect">
            <a:avLst/>
          </a:prstGeom>
          <a:ln/>
        </p:spPr>
      </p:pic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5238750" y="6109607"/>
            <a:ext cx="2133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altLang="zh-CN" sz="1500" dirty="0">
                <a:solidFill>
                  <a:srgbClr val="5C6B63"/>
                </a:solidFill>
                <a:latin typeface="Source Han Sans SC"/>
                <a:ea typeface="Source Han Sans SC"/>
              </a:rPr>
              <a:t>2026 </a:t>
            </a:r>
            <a:r>
              <a:rPr lang="zh-CN" altLang="en-US" sz="1500" dirty="0">
                <a:solidFill>
                  <a:srgbClr val="5C6B63"/>
                </a:solidFill>
                <a:latin typeface="Source Han Sans SC"/>
                <a:ea typeface="Source Han Sans SC"/>
              </a:rPr>
              <a:t>年 </a:t>
            </a:r>
            <a:r>
              <a:rPr lang="en-US" altLang="zh-CN" sz="1500" dirty="0">
                <a:solidFill>
                  <a:srgbClr val="5C6B63"/>
                </a:solidFill>
                <a:latin typeface="Source Han Sans SC"/>
                <a:ea typeface="Source Han Sans SC"/>
              </a:rPr>
              <a:t>08 </a:t>
            </a:r>
            <a:r>
              <a:rPr lang="zh-CN" altLang="en-US" sz="1500" dirty="0">
                <a:solidFill>
                  <a:srgbClr val="5C6B63"/>
                </a:solidFill>
                <a:latin typeface="Source Han Sans SC"/>
                <a:ea typeface="Source Han Sans SC"/>
              </a:rPr>
              <a:t>月 </a:t>
            </a:r>
            <a:r>
              <a:rPr lang="en-US" altLang="zh-CN" sz="1500" dirty="0">
                <a:solidFill>
                  <a:srgbClr val="5C6B63"/>
                </a:solidFill>
                <a:latin typeface="Source Han Sans SC"/>
                <a:ea typeface="Source Han Sans SC"/>
              </a:rPr>
              <a:t>16 </a:t>
            </a:r>
            <a:r>
              <a:rPr lang="zh-CN" altLang="en-US" sz="1500" dirty="0">
                <a:solidFill>
                  <a:srgbClr val="5C6B63"/>
                </a:solidFill>
                <a:latin typeface="Source Han Sans SC"/>
                <a:ea typeface="Source Han Sans SC"/>
              </a:rPr>
              <a:t>日</a:t>
            </a:r>
            <a:endParaRPr sz="1500" dirty="0">
              <a:latin typeface="Source Han San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background: '#F4F9F6', fontFamily: &quot;'Source Han Sans SC', 'Microsoft YaHei', sans-serif&quot; }}&gt;&#10;  {/* A 标题块 */}&#10;  &lt;Box style={{ position: 'absolute', top: 0, left: 0, right: 0, height: 110, paddingLeft: 60, paddingRight: 60, flexDirection: 'row', alignItems: 'center' }}&gt;&#10;    &lt;Box style={{ width: 6, height: 44, background: '#0F5C46', borderRadius: 3, marginRight: 18 }} /&gt;&#10;    &lt;Text style={{ fontSize: 36, fontWeight: 'bold', color: '#1C2B24' }}&gt;报告纲要&lt;/Text&gt;&#10;    &lt;Box style={{ flex: 1, height: 1, background: '#D9E8E1', marginLeft: 24 }} /&gt;&#10;    &lt;Text style={{ fontSize: 16, color: '#5C6B63', marginLeft: 16 }}&gt;CONTENTS&lt;/Text&gt;&#10;  &lt;/Box&gt;&#10;&#10;  {/* B 内容区：两列卡片 */}&#10;  &lt;Box style={{ position: 'absolute', top: 130, left: 60, right: 60, bottom: 64, flexDirection: 'row', gap: 28 }}&gt;&#10;    &lt;Box style={{ flex: 1, flexDirection: 'column', gap: 16 }}&gt;&#10;      {[&#10;        ['01', '执行摘要', '合作根基 · 核心突破 · 估值与收益'],&#10;        ['02', '校企合作渊源与合作动因', '长期合作历史与双方转型诉求'],&#10;        ['03', '养老照护行业市场与核心优势', '政策红利 · 市场空间 · 五维优势'],&#10;        ['04', '叁竹公司经营现状与平台价值', '股权业务 · 无形资产 · 估值基础'],&#10;        ['05', '湖外配套资源与合作价值', '专属场地 · UBIC 社区 · 软性赋能'],&#10;      ].map((c, i) =&gt; (&#10;        &lt;Box key={i} style={{ flexDirection: 'row', alignItems: 'center', gap: 20, background: '#FFFFFF', borderRadius: 14, padding: '16px 22px', boxShadow: '0 4px 16px rgba(15,92,70,0.08)' }}&gt;&#10;          &lt;Box style={{ width: 52, height: 52, borderRadius: 12, background: 'linear-gradient(135deg,#0F5C46,#0A2B4D)', justifyContent: 'center', alignItems: 'center' }}&gt;&#10;            &lt;Text style={{ color: '#FFFFFF', fontSize: 24, fontWeight: 'bold' }}&gt;{c[0]}&lt;/Text&gt;&#10;          &lt;/Box&gt;&#10;          &lt;Box style={{ flex: 1 }}&gt;&#10;            &lt;Text style={{ fontSize: 21, fontWeight: 'bold', color: '#1C2B24' }}&gt;{c[1]}&lt;/Text&gt;&#10;            &lt;Text style={{ fontSize: 15, color: '#5C6B63', marginTop: 3 }}&gt;{c[2]}&lt;/Text&gt;&#10;          &lt;/Box&gt;&#10;        &lt;/Box&gt;&#10;      ))}&#10;    &lt;/Box&gt;&#10;    &lt;Box style={{ flex: 1, flexDirection: 'column', gap: 16 }}&gt;&#10;      {[&#10;        ['06', '股权架构、估值与现金入股', '3000万估值 · 1200万出资 · 40%股权'],&#10;        ['07', '融合后全产业链业务布局', '培训 · 鉴定 · 平台 · 社区闭环'],&#10;        ['08', '三年发展规划', '资质落地 · 省内盈利 · 全国复制'],&#10;        ['09', '双方协同价值与产业前景', '对湖外 · 对叁竹 · 长期前景'],&#10;        ['10', '合规管控与落地实施步骤', '四维合规 · 四阶段落地'],&#10;      ].map((c, i) =&gt; (&#10;        &lt;Box key={i} style={{ flexDirection: 'row', alignItems: 'center', gap: 20, background: '#FFFFFF', borderRadius: 14, padding: '16px 22px', boxShadow: '0 4px 16px rgba(15,92,70,0.08)' }}&gt;&#10;          &lt;Box style={{ width: 52, height: 52, borderRadius: 12, background: 'linear-gradient(135deg,#0F5C46,#0A2B4D)', justifyContent: 'center', alignItems: 'center' }}&gt;&#10;            &lt;Text style={{ color: '#FFFFFF', fontSize: 24, fontWeight: 'bold' }}&gt;{c[0]}&lt;/Text&gt;&#10;          &lt;/Box&gt;&#10;          &lt;Box style={{ flex: 1 }}&gt;&#10;            &lt;Text style={{ fontSize: 21, fontWeight: 'bold', color: '#1C2B24' }}&gt;{c[1]}&lt;/Text&gt;&#10;            &lt;Text style={{ fontSize: 15, color: '#5C6B63', marginTop: 3 }}&gt;{c[2]}&lt;/Text&gt;&#10;          &lt;/Box&gt;&#10;        &lt;/Box&gt;&#10;      ))}&#10;    &lt;/Box&gt;&#10;  &lt;/Box&gt;&#10;&#10;  {/* C 页脚 */}&#10;  &lt;Box style={{ position: 'absolute', bottom: 0, left: 0, right: 0, height: 58, paddingLeft: 60, paddingRight: 60, flexDirection: 'row', alignItems: 'center' }}&gt;&#10;    &lt;Box style={{ flex: 1 }} /&gt;&#10;    &lt;Text style={{ fontSize: 14, color: '#5C6B63', textAlign: 'center' }}&gt;叁竹 × 湖外 校企合作商业计划书&lt;/Text&gt;&#10;    &lt;Box style={{ flex: 1, alignItems: 'flex-end' }}&gt;&#10;      &lt;Text style={{ fontSize: 14, color: '#5C6B63' }}&gt;02 / 27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矩形 2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3" name="矩形: 圆角 232"/>
          <p:cNvSpPr/>
          <p:nvPr/>
        </p:nvSpPr>
        <p:spPr>
          <a:xfrm>
            <a:off x="571500" y="314325"/>
            <a:ext cx="57150" cy="419100"/>
          </a:xfrm>
          <a:prstGeom prst="roundRect">
            <a:avLst>
              <a:gd name="adj" fmla="val 50000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800100" y="314325"/>
            <a:ext cx="1371600" cy="4191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C2B24"/>
                </a:solidFill>
                <a:latin typeface="Source Han Sans SC"/>
                <a:ea typeface="Source Han Sans SC"/>
              </a:rPr>
              <a:t>报告纲要</a:t>
            </a:r>
            <a:endParaRPr/>
          </a:p>
        </p:txBody>
      </p:sp>
      <p:sp>
        <p:nvSpPr>
          <p:cNvPr id="235" name="矩形 234"/>
          <p:cNvSpPr/>
          <p:nvPr/>
        </p:nvSpPr>
        <p:spPr>
          <a:xfrm>
            <a:off x="2400300" y="523875"/>
            <a:ext cx="8248650" cy="9525"/>
          </a:xfrm>
          <a:prstGeom prst="rect">
            <a:avLst/>
          </a:prstGeom>
          <a:solidFill>
            <a:srgbClr val="D9E8E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10801350" y="428625"/>
            <a:ext cx="8191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>
                <a:solidFill>
                  <a:srgbClr val="5C6B63"/>
                </a:solidFill>
                <a:latin typeface="Source Han Sans SC"/>
                <a:ea typeface="Source Han Sans SC"/>
              </a:rPr>
              <a:t>CONTENTS</a:t>
            </a:r>
            <a:endParaRPr/>
          </a:p>
        </p:txBody>
      </p:sp>
      <p:sp>
        <p:nvSpPr>
          <p:cNvPr id="237" name="矩形: 圆角 236"/>
          <p:cNvSpPr/>
          <p:nvPr/>
        </p:nvSpPr>
        <p:spPr>
          <a:xfrm>
            <a:off x="571500" y="1238250"/>
            <a:ext cx="53911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8" name="矩形: 圆角 237"/>
          <p:cNvSpPr/>
          <p:nvPr/>
        </p:nvSpPr>
        <p:spPr>
          <a:xfrm>
            <a:off x="781050" y="1390650"/>
            <a:ext cx="495300" cy="49530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0F5C46"/>
              </a:gs>
              <a:gs pos="100000">
                <a:srgbClr val="0A2B4D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39" name="文本框 238" descr="{&quot;isTemplate&quot;:true,&quot;type&quot;:&quot;text&quot;}"/>
          <p:cNvSpPr txBox="1"/>
          <p:nvPr/>
        </p:nvSpPr>
        <p:spPr>
          <a:xfrm>
            <a:off x="885825" y="1504950"/>
            <a:ext cx="285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01</a:t>
            </a:r>
            <a:endParaRPr/>
          </a:p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1466850" y="1419225"/>
            <a:ext cx="42862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C2B24"/>
                </a:solidFill>
                <a:latin typeface="Source Han Sans SC"/>
                <a:ea typeface="Source Han Sans SC"/>
              </a:rPr>
              <a:t>执行摘要</a:t>
            </a:r>
            <a:endParaRPr/>
          </a:p>
        </p:txBody>
      </p:sp>
      <p:sp>
        <p:nvSpPr>
          <p:cNvPr id="241" name="文本框 240" descr="{&quot;isTemplate&quot;:true,&quot;type&quot;:&quot;text&quot;}"/>
          <p:cNvSpPr txBox="1"/>
          <p:nvPr/>
        </p:nvSpPr>
        <p:spPr>
          <a:xfrm>
            <a:off x="1466850" y="1695450"/>
            <a:ext cx="4286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合作根基</a:t>
            </a:r>
            <a:r>
              <a:rPr lang="en-US" sz="1125">
                <a:solidFill>
                  <a:srgbClr val="5C6B63"/>
                </a:solidFill>
                <a:latin typeface="Source Han Sans SC"/>
                <a:ea typeface="Source Han Sans SC"/>
              </a:rPr>
              <a:t> · </a:t>
            </a: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核心突破</a:t>
            </a:r>
            <a:r>
              <a:rPr lang="en-US" sz="1125">
                <a:solidFill>
                  <a:srgbClr val="5C6B63"/>
                </a:solidFill>
                <a:latin typeface="Source Han Sans SC"/>
                <a:ea typeface="Source Han Sans SC"/>
              </a:rPr>
              <a:t> · </a:t>
            </a: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估值与收益</a:t>
            </a:r>
            <a:endParaRPr/>
          </a:p>
        </p:txBody>
      </p:sp>
      <p:sp>
        <p:nvSpPr>
          <p:cNvPr id="242" name="矩形: 圆角 241"/>
          <p:cNvSpPr/>
          <p:nvPr/>
        </p:nvSpPr>
        <p:spPr>
          <a:xfrm>
            <a:off x="571500" y="2190750"/>
            <a:ext cx="53911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3" name="矩形: 圆角 242"/>
          <p:cNvSpPr/>
          <p:nvPr/>
        </p:nvSpPr>
        <p:spPr>
          <a:xfrm>
            <a:off x="781050" y="2343150"/>
            <a:ext cx="495300" cy="49530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0F5C46"/>
              </a:gs>
              <a:gs pos="100000">
                <a:srgbClr val="0A2B4D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44" name="文本框 243" descr="{&quot;isTemplate&quot;:true,&quot;type&quot;:&quot;text&quot;}"/>
          <p:cNvSpPr txBox="1"/>
          <p:nvPr/>
        </p:nvSpPr>
        <p:spPr>
          <a:xfrm>
            <a:off x="885825" y="2457450"/>
            <a:ext cx="285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02</a:t>
            </a:r>
            <a:endParaRPr/>
          </a:p>
        </p:txBody>
      </p:sp>
      <p:sp>
        <p:nvSpPr>
          <p:cNvPr id="245" name="文本框 244" descr="{&quot;isTemplate&quot;:true,&quot;type&quot;:&quot;text&quot;}"/>
          <p:cNvSpPr txBox="1"/>
          <p:nvPr/>
        </p:nvSpPr>
        <p:spPr>
          <a:xfrm>
            <a:off x="1466850" y="2371725"/>
            <a:ext cx="42862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C2B24"/>
                </a:solidFill>
                <a:latin typeface="Source Han Sans SC"/>
                <a:ea typeface="Source Han Sans SC"/>
              </a:rPr>
              <a:t>校企合作渊源与合作动因</a:t>
            </a:r>
            <a:endParaRPr/>
          </a:p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1466850" y="2647950"/>
            <a:ext cx="4286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长期合作历史与双方转型诉求</a:t>
            </a:r>
            <a:endParaRPr/>
          </a:p>
        </p:txBody>
      </p:sp>
      <p:sp>
        <p:nvSpPr>
          <p:cNvPr id="247" name="矩形: 圆角 246"/>
          <p:cNvSpPr/>
          <p:nvPr/>
        </p:nvSpPr>
        <p:spPr>
          <a:xfrm>
            <a:off x="571500" y="3143250"/>
            <a:ext cx="53911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8" name="矩形: 圆角 247"/>
          <p:cNvSpPr/>
          <p:nvPr/>
        </p:nvSpPr>
        <p:spPr>
          <a:xfrm>
            <a:off x="781050" y="3295650"/>
            <a:ext cx="495300" cy="49530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0F5C46"/>
              </a:gs>
              <a:gs pos="100000">
                <a:srgbClr val="0A2B4D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885825" y="3409950"/>
            <a:ext cx="285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03</a:t>
            </a:r>
            <a:endParaRPr/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1466850" y="3324225"/>
            <a:ext cx="42862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C2B24"/>
                </a:solidFill>
                <a:latin typeface="Source Han Sans SC"/>
                <a:ea typeface="Source Han Sans SC"/>
              </a:rPr>
              <a:t>养老照护行业市场与核心优势</a:t>
            </a:r>
            <a:endParaRPr/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1466850" y="3600450"/>
            <a:ext cx="4286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政策红利</a:t>
            </a:r>
            <a:r>
              <a:rPr lang="en-US" sz="1125">
                <a:solidFill>
                  <a:srgbClr val="5C6B63"/>
                </a:solidFill>
                <a:latin typeface="Source Han Sans SC"/>
                <a:ea typeface="Source Han Sans SC"/>
              </a:rPr>
              <a:t> · </a:t>
            </a: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市场空间</a:t>
            </a:r>
            <a:r>
              <a:rPr lang="en-US" sz="1125">
                <a:solidFill>
                  <a:srgbClr val="5C6B63"/>
                </a:solidFill>
                <a:latin typeface="Source Han Sans SC"/>
                <a:ea typeface="Source Han Sans SC"/>
              </a:rPr>
              <a:t> · </a:t>
            </a: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五维优势</a:t>
            </a:r>
            <a:endParaRPr/>
          </a:p>
        </p:txBody>
      </p:sp>
      <p:sp>
        <p:nvSpPr>
          <p:cNvPr id="252" name="矩形: 圆角 251"/>
          <p:cNvSpPr/>
          <p:nvPr/>
        </p:nvSpPr>
        <p:spPr>
          <a:xfrm>
            <a:off x="571500" y="4095750"/>
            <a:ext cx="53911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3" name="矩形: 圆角 252"/>
          <p:cNvSpPr/>
          <p:nvPr/>
        </p:nvSpPr>
        <p:spPr>
          <a:xfrm>
            <a:off x="781050" y="4248150"/>
            <a:ext cx="495300" cy="49530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0F5C46"/>
              </a:gs>
              <a:gs pos="100000">
                <a:srgbClr val="0A2B4D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54" name="文本框 253" descr="{&quot;isTemplate&quot;:true,&quot;type&quot;:&quot;text&quot;}"/>
          <p:cNvSpPr txBox="1"/>
          <p:nvPr/>
        </p:nvSpPr>
        <p:spPr>
          <a:xfrm>
            <a:off x="885825" y="4362450"/>
            <a:ext cx="285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04</a:t>
            </a:r>
            <a:endParaRPr/>
          </a:p>
        </p:txBody>
      </p:sp>
      <p:sp>
        <p:nvSpPr>
          <p:cNvPr id="255" name="文本框 254" descr="{&quot;isTemplate&quot;:true,&quot;type&quot;:&quot;text&quot;}"/>
          <p:cNvSpPr txBox="1"/>
          <p:nvPr/>
        </p:nvSpPr>
        <p:spPr>
          <a:xfrm>
            <a:off x="1466850" y="4276725"/>
            <a:ext cx="42862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C2B24"/>
                </a:solidFill>
                <a:latin typeface="Source Han Sans SC"/>
                <a:ea typeface="Source Han Sans SC"/>
              </a:rPr>
              <a:t>叁竹公司经营现状与平台价值</a:t>
            </a:r>
            <a:endParaRPr/>
          </a:p>
        </p:txBody>
      </p:sp>
      <p:sp>
        <p:nvSpPr>
          <p:cNvPr id="256" name="文本框 255" descr="{&quot;isTemplate&quot;:true,&quot;type&quot;:&quot;text&quot;}"/>
          <p:cNvSpPr txBox="1"/>
          <p:nvPr/>
        </p:nvSpPr>
        <p:spPr>
          <a:xfrm>
            <a:off x="1466850" y="4552950"/>
            <a:ext cx="4286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股权业务</a:t>
            </a:r>
            <a:r>
              <a:rPr lang="en-US" sz="1125">
                <a:solidFill>
                  <a:srgbClr val="5C6B63"/>
                </a:solidFill>
                <a:latin typeface="Source Han Sans SC"/>
                <a:ea typeface="Source Han Sans SC"/>
              </a:rPr>
              <a:t> · </a:t>
            </a: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无形资产</a:t>
            </a:r>
            <a:r>
              <a:rPr lang="en-US" sz="1125">
                <a:solidFill>
                  <a:srgbClr val="5C6B63"/>
                </a:solidFill>
                <a:latin typeface="Source Han Sans SC"/>
                <a:ea typeface="Source Han Sans SC"/>
              </a:rPr>
              <a:t> · </a:t>
            </a: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估值基础</a:t>
            </a:r>
            <a:endParaRPr/>
          </a:p>
        </p:txBody>
      </p:sp>
      <p:sp>
        <p:nvSpPr>
          <p:cNvPr id="257" name="矩形: 圆角 256"/>
          <p:cNvSpPr/>
          <p:nvPr/>
        </p:nvSpPr>
        <p:spPr>
          <a:xfrm>
            <a:off x="571500" y="5048250"/>
            <a:ext cx="53911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8" name="矩形: 圆角 257"/>
          <p:cNvSpPr/>
          <p:nvPr/>
        </p:nvSpPr>
        <p:spPr>
          <a:xfrm>
            <a:off x="781050" y="5200650"/>
            <a:ext cx="495300" cy="49530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0F5C46"/>
              </a:gs>
              <a:gs pos="100000">
                <a:srgbClr val="0A2B4D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885825" y="5314950"/>
            <a:ext cx="285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05</a:t>
            </a:r>
            <a:endParaRPr/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1466850" y="5229225"/>
            <a:ext cx="42862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C2B24"/>
                </a:solidFill>
                <a:latin typeface="Source Han Sans SC"/>
                <a:ea typeface="Source Han Sans SC"/>
              </a:rPr>
              <a:t>湖外配套资源与合作价值</a:t>
            </a:r>
            <a:endParaRPr/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1466850" y="5505450"/>
            <a:ext cx="4286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专属场地</a:t>
            </a:r>
            <a:r>
              <a:rPr lang="en-US" sz="1125">
                <a:solidFill>
                  <a:srgbClr val="5C6B63"/>
                </a:solidFill>
                <a:latin typeface="Source Han Sans SC"/>
                <a:ea typeface="Source Han Sans SC"/>
              </a:rPr>
              <a:t> · UBIC </a:t>
            </a: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社区</a:t>
            </a:r>
            <a:r>
              <a:rPr lang="en-US" sz="1125">
                <a:solidFill>
                  <a:srgbClr val="5C6B63"/>
                </a:solidFill>
                <a:latin typeface="Source Han Sans SC"/>
                <a:ea typeface="Source Han Sans SC"/>
              </a:rPr>
              <a:t> · </a:t>
            </a: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软性赋能</a:t>
            </a:r>
            <a:endParaRPr/>
          </a:p>
        </p:txBody>
      </p:sp>
      <p:sp>
        <p:nvSpPr>
          <p:cNvPr id="262" name="矩形: 圆角 261"/>
          <p:cNvSpPr/>
          <p:nvPr/>
        </p:nvSpPr>
        <p:spPr>
          <a:xfrm>
            <a:off x="6229350" y="1238250"/>
            <a:ext cx="53911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3" name="矩形: 圆角 262"/>
          <p:cNvSpPr/>
          <p:nvPr/>
        </p:nvSpPr>
        <p:spPr>
          <a:xfrm>
            <a:off x="6438900" y="1390650"/>
            <a:ext cx="495300" cy="49530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0F5C46"/>
              </a:gs>
              <a:gs pos="100000">
                <a:srgbClr val="0A2B4D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64" name="文本框 263" descr="{&quot;isTemplate&quot;:true,&quot;type&quot;:&quot;text&quot;}"/>
          <p:cNvSpPr txBox="1"/>
          <p:nvPr/>
        </p:nvSpPr>
        <p:spPr>
          <a:xfrm>
            <a:off x="6543675" y="1504950"/>
            <a:ext cx="285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06</a:t>
            </a:r>
            <a:endParaRPr/>
          </a:p>
        </p:txBody>
      </p:sp>
      <p:sp>
        <p:nvSpPr>
          <p:cNvPr id="265" name="文本框 264" descr="{&quot;isTemplate&quot;:true,&quot;type&quot;:&quot;text&quot;}"/>
          <p:cNvSpPr txBox="1"/>
          <p:nvPr/>
        </p:nvSpPr>
        <p:spPr>
          <a:xfrm>
            <a:off x="7124700" y="1419225"/>
            <a:ext cx="42862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C2B24"/>
                </a:solidFill>
                <a:latin typeface="Source Han Sans SC"/>
                <a:ea typeface="Source Han Sans SC"/>
              </a:rPr>
              <a:t>股权架构、估值与现金入股</a:t>
            </a:r>
            <a:endParaRPr/>
          </a:p>
        </p:txBody>
      </p:sp>
      <p:sp>
        <p:nvSpPr>
          <p:cNvPr id="266" name="文本框 265" descr="{&quot;isTemplate&quot;:true,&quot;type&quot;:&quot;text&quot;}"/>
          <p:cNvSpPr txBox="1"/>
          <p:nvPr/>
        </p:nvSpPr>
        <p:spPr>
          <a:xfrm>
            <a:off x="7124700" y="1695450"/>
            <a:ext cx="4286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125">
                <a:solidFill>
                  <a:srgbClr val="5C6B63"/>
                </a:solidFill>
                <a:latin typeface="Source Han Sans SC"/>
                <a:ea typeface="Source Han Sans SC"/>
              </a:rPr>
              <a:t>3000</a:t>
            </a: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万估值</a:t>
            </a:r>
            <a:r>
              <a:rPr lang="en-US" sz="1125">
                <a:solidFill>
                  <a:srgbClr val="5C6B63"/>
                </a:solidFill>
                <a:latin typeface="Source Han Sans SC"/>
                <a:ea typeface="Source Han Sans SC"/>
              </a:rPr>
              <a:t> · 1200</a:t>
            </a: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万出资</a:t>
            </a:r>
            <a:r>
              <a:rPr lang="en-US" sz="1125">
                <a:solidFill>
                  <a:srgbClr val="5C6B63"/>
                </a:solidFill>
                <a:latin typeface="Source Han Sans SC"/>
                <a:ea typeface="Source Han Sans SC"/>
              </a:rPr>
              <a:t> · 40%</a:t>
            </a: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股权</a:t>
            </a:r>
            <a:endParaRPr/>
          </a:p>
        </p:txBody>
      </p:sp>
      <p:sp>
        <p:nvSpPr>
          <p:cNvPr id="267" name="矩形: 圆角 266"/>
          <p:cNvSpPr/>
          <p:nvPr/>
        </p:nvSpPr>
        <p:spPr>
          <a:xfrm>
            <a:off x="6229350" y="2190750"/>
            <a:ext cx="53911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8" name="矩形: 圆角 267"/>
          <p:cNvSpPr/>
          <p:nvPr/>
        </p:nvSpPr>
        <p:spPr>
          <a:xfrm>
            <a:off x="6438900" y="2343150"/>
            <a:ext cx="495300" cy="49530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0F5C46"/>
              </a:gs>
              <a:gs pos="100000">
                <a:srgbClr val="0A2B4D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69" name="文本框 268" descr="{&quot;isTemplate&quot;:true,&quot;type&quot;:&quot;text&quot;}"/>
          <p:cNvSpPr txBox="1"/>
          <p:nvPr/>
        </p:nvSpPr>
        <p:spPr>
          <a:xfrm>
            <a:off x="6543675" y="2457450"/>
            <a:ext cx="285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07</a:t>
            </a:r>
            <a:endParaRPr/>
          </a:p>
        </p:txBody>
      </p:sp>
      <p:sp>
        <p:nvSpPr>
          <p:cNvPr id="270" name="文本框 269" descr="{&quot;isTemplate&quot;:true,&quot;type&quot;:&quot;text&quot;}"/>
          <p:cNvSpPr txBox="1"/>
          <p:nvPr/>
        </p:nvSpPr>
        <p:spPr>
          <a:xfrm>
            <a:off x="7124700" y="2371725"/>
            <a:ext cx="42862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C2B24"/>
                </a:solidFill>
                <a:latin typeface="Source Han Sans SC"/>
                <a:ea typeface="Source Han Sans SC"/>
              </a:rPr>
              <a:t>融合后全产业链业务布局</a:t>
            </a:r>
            <a:endParaRPr/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7124700" y="2647950"/>
            <a:ext cx="4286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培训</a:t>
            </a:r>
            <a:r>
              <a:rPr lang="en-US" sz="1125">
                <a:solidFill>
                  <a:srgbClr val="5C6B63"/>
                </a:solidFill>
                <a:latin typeface="Source Han Sans SC"/>
                <a:ea typeface="Source Han Sans SC"/>
              </a:rPr>
              <a:t> · </a:t>
            </a: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鉴定</a:t>
            </a:r>
            <a:r>
              <a:rPr lang="en-US" sz="1125">
                <a:solidFill>
                  <a:srgbClr val="5C6B63"/>
                </a:solidFill>
                <a:latin typeface="Source Han Sans SC"/>
                <a:ea typeface="Source Han Sans SC"/>
              </a:rPr>
              <a:t> · </a:t>
            </a: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平台</a:t>
            </a:r>
            <a:r>
              <a:rPr lang="en-US" sz="1125">
                <a:solidFill>
                  <a:srgbClr val="5C6B63"/>
                </a:solidFill>
                <a:latin typeface="Source Han Sans SC"/>
                <a:ea typeface="Source Han Sans SC"/>
              </a:rPr>
              <a:t> · </a:t>
            </a: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社区闭环</a:t>
            </a:r>
            <a:endParaRPr/>
          </a:p>
        </p:txBody>
      </p:sp>
      <p:sp>
        <p:nvSpPr>
          <p:cNvPr id="272" name="矩形: 圆角 271"/>
          <p:cNvSpPr/>
          <p:nvPr/>
        </p:nvSpPr>
        <p:spPr>
          <a:xfrm>
            <a:off x="6229350" y="3143250"/>
            <a:ext cx="53911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3" name="矩形: 圆角 272"/>
          <p:cNvSpPr/>
          <p:nvPr/>
        </p:nvSpPr>
        <p:spPr>
          <a:xfrm>
            <a:off x="6438900" y="3295650"/>
            <a:ext cx="495300" cy="49530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0F5C46"/>
              </a:gs>
              <a:gs pos="100000">
                <a:srgbClr val="0A2B4D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74" name="文本框 273" descr="{&quot;isTemplate&quot;:true,&quot;type&quot;:&quot;text&quot;}"/>
          <p:cNvSpPr txBox="1"/>
          <p:nvPr/>
        </p:nvSpPr>
        <p:spPr>
          <a:xfrm>
            <a:off x="6543675" y="3409950"/>
            <a:ext cx="285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08</a:t>
            </a:r>
            <a:endParaRPr/>
          </a:p>
        </p:txBody>
      </p:sp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7124700" y="3324225"/>
            <a:ext cx="42862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C2B24"/>
                </a:solidFill>
                <a:latin typeface="Source Han Sans SC"/>
                <a:ea typeface="Source Han Sans SC"/>
              </a:rPr>
              <a:t>三年发展规划</a:t>
            </a:r>
            <a:endParaRPr/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7124700" y="3600450"/>
            <a:ext cx="4286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资质落地</a:t>
            </a:r>
            <a:r>
              <a:rPr lang="en-US" sz="1125">
                <a:solidFill>
                  <a:srgbClr val="5C6B63"/>
                </a:solidFill>
                <a:latin typeface="Source Han Sans SC"/>
                <a:ea typeface="Source Han Sans SC"/>
              </a:rPr>
              <a:t> · </a:t>
            </a: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省内盈利</a:t>
            </a:r>
            <a:r>
              <a:rPr lang="en-US" sz="1125">
                <a:solidFill>
                  <a:srgbClr val="5C6B63"/>
                </a:solidFill>
                <a:latin typeface="Source Han Sans SC"/>
                <a:ea typeface="Source Han Sans SC"/>
              </a:rPr>
              <a:t> · </a:t>
            </a: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全国复制</a:t>
            </a:r>
            <a:endParaRPr/>
          </a:p>
        </p:txBody>
      </p:sp>
      <p:sp>
        <p:nvSpPr>
          <p:cNvPr id="277" name="矩形: 圆角 276"/>
          <p:cNvSpPr/>
          <p:nvPr/>
        </p:nvSpPr>
        <p:spPr>
          <a:xfrm>
            <a:off x="6229350" y="4095750"/>
            <a:ext cx="53911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78" name="矩形: 圆角 277"/>
          <p:cNvSpPr/>
          <p:nvPr/>
        </p:nvSpPr>
        <p:spPr>
          <a:xfrm>
            <a:off x="6438900" y="4248150"/>
            <a:ext cx="495300" cy="49530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0F5C46"/>
              </a:gs>
              <a:gs pos="100000">
                <a:srgbClr val="0A2B4D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79" name="文本框 278" descr="{&quot;isTemplate&quot;:true,&quot;type&quot;:&quot;text&quot;}"/>
          <p:cNvSpPr txBox="1"/>
          <p:nvPr/>
        </p:nvSpPr>
        <p:spPr>
          <a:xfrm>
            <a:off x="6543675" y="4362450"/>
            <a:ext cx="285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09</a:t>
            </a:r>
            <a:endParaRPr/>
          </a:p>
        </p:txBody>
      </p:sp>
      <p:sp>
        <p:nvSpPr>
          <p:cNvPr id="280" name="文本框 279" descr="{&quot;isTemplate&quot;:true,&quot;type&quot;:&quot;text&quot;}"/>
          <p:cNvSpPr txBox="1"/>
          <p:nvPr/>
        </p:nvSpPr>
        <p:spPr>
          <a:xfrm>
            <a:off x="7124700" y="4276725"/>
            <a:ext cx="42862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C2B24"/>
                </a:solidFill>
                <a:latin typeface="Source Han Sans SC"/>
                <a:ea typeface="Source Han Sans SC"/>
              </a:rPr>
              <a:t>双方协同价值与产业前景</a:t>
            </a:r>
            <a:endParaRPr/>
          </a:p>
        </p:txBody>
      </p:sp>
      <p:sp>
        <p:nvSpPr>
          <p:cNvPr id="281" name="文本框 280" descr="{&quot;isTemplate&quot;:true,&quot;type&quot;:&quot;text&quot;}"/>
          <p:cNvSpPr txBox="1"/>
          <p:nvPr/>
        </p:nvSpPr>
        <p:spPr>
          <a:xfrm>
            <a:off x="7124700" y="4552950"/>
            <a:ext cx="4286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对湖外</a:t>
            </a:r>
            <a:r>
              <a:rPr lang="en-US" sz="1125">
                <a:solidFill>
                  <a:srgbClr val="5C6B63"/>
                </a:solidFill>
                <a:latin typeface="Source Han Sans SC"/>
                <a:ea typeface="Source Han Sans SC"/>
              </a:rPr>
              <a:t> · </a:t>
            </a: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对叁竹</a:t>
            </a:r>
            <a:r>
              <a:rPr lang="en-US" sz="1125">
                <a:solidFill>
                  <a:srgbClr val="5C6B63"/>
                </a:solidFill>
                <a:latin typeface="Source Han Sans SC"/>
                <a:ea typeface="Source Han Sans SC"/>
              </a:rPr>
              <a:t> · </a:t>
            </a: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长期前景</a:t>
            </a:r>
            <a:endParaRPr/>
          </a:p>
        </p:txBody>
      </p:sp>
      <p:sp>
        <p:nvSpPr>
          <p:cNvPr id="282" name="矩形: 圆角 281"/>
          <p:cNvSpPr/>
          <p:nvPr/>
        </p:nvSpPr>
        <p:spPr>
          <a:xfrm>
            <a:off x="6229350" y="5048250"/>
            <a:ext cx="5391150" cy="8001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3" name="矩形: 圆角 282"/>
          <p:cNvSpPr/>
          <p:nvPr/>
        </p:nvSpPr>
        <p:spPr>
          <a:xfrm>
            <a:off x="6438900" y="5200650"/>
            <a:ext cx="495300" cy="49530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0F5C46"/>
              </a:gs>
              <a:gs pos="100000">
                <a:srgbClr val="0A2B4D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543675" y="5314950"/>
            <a:ext cx="285750" cy="2762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Source Han Sans SC"/>
                <a:ea typeface="Source Han Sans SC"/>
              </a:rPr>
              <a:t>10</a:t>
            </a:r>
            <a:endParaRPr/>
          </a:p>
        </p:txBody>
      </p:sp>
      <p:sp>
        <p:nvSpPr>
          <p:cNvPr id="285" name="文本框 284" descr="{&quot;isTemplate&quot;:true,&quot;type&quot;:&quot;text&quot;}"/>
          <p:cNvSpPr txBox="1"/>
          <p:nvPr/>
        </p:nvSpPr>
        <p:spPr>
          <a:xfrm>
            <a:off x="7124700" y="5229225"/>
            <a:ext cx="428625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C2B24"/>
                </a:solidFill>
                <a:latin typeface="Source Han Sans SC"/>
                <a:ea typeface="Source Han Sans SC"/>
              </a:rPr>
              <a:t>合规管控与落地实施步骤</a:t>
            </a:r>
            <a:endParaRPr/>
          </a:p>
        </p:txBody>
      </p:sp>
      <p:sp>
        <p:nvSpPr>
          <p:cNvPr id="286" name="文本框 285" descr="{&quot;isTemplate&quot;:true,&quot;type&quot;:&quot;text&quot;}"/>
          <p:cNvSpPr txBox="1"/>
          <p:nvPr/>
        </p:nvSpPr>
        <p:spPr>
          <a:xfrm>
            <a:off x="7124700" y="5505450"/>
            <a:ext cx="428625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四维合规</a:t>
            </a:r>
            <a:r>
              <a:rPr lang="en-US" sz="1125">
                <a:solidFill>
                  <a:srgbClr val="5C6B63"/>
                </a:solidFill>
                <a:latin typeface="Source Han Sans SC"/>
                <a:ea typeface="Source Han Sans SC"/>
              </a:rPr>
              <a:t> · </a:t>
            </a:r>
            <a:r>
              <a:rPr lang="zh-CN" sz="1125">
                <a:solidFill>
                  <a:srgbClr val="5C6B63"/>
                </a:solidFill>
                <a:latin typeface="Source Han Sans SC"/>
                <a:ea typeface="Source Han Sans SC"/>
              </a:rPr>
              <a:t>四阶段落地</a:t>
            </a:r>
            <a:endParaRPr/>
          </a:p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5124450" y="6505575"/>
            <a:ext cx="1952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叁竹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×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湖外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校企合作商业计划书</a:t>
            </a:r>
            <a:endParaRPr/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02 / 27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width: '1280px', height: '720px', fontFamily: &quot;'Source Han Sans SC', 'Microsoft YaHei', sans-serif&quot; }}&gt;&#10;  &lt;Image src=&quot;assets/hero_gate.png&quot; style={{ position: 'absolute', top: 0, left: 0, width: '100%', height: '100%', objectFit: 'cover' }} /&gt;&#10;  &lt;Box style={{ position: 'absolute', top: 0, left: 0, right: 0, bottom: 0, background: 'linear-gradient(135deg, rgba(10,43,77,0.82) 0%, rgba(15,92,70,0.78) 100%)' }} /&gt;&#10;&#10;  &lt;Box style={{ position: 'absolute', left: 0, right: 0, bottom: 0, height: 240, overflow: 'hidden' }}&gt;&#10;    &lt;svg width='1280' height='240' viewBox='0 0 1280 240' style={{ position: 'absolute', bottom: 0 }}&gt;&#10;      &lt;path d='M0,90 C340,20 920,180 1280,70 L1280,240 L0,240 Z' fill='rgba(10,43,77,0.55)' /&gt;&#10;      &lt;path d='M0,150 C380,80 900,210 1280,120 L1280,240 L0,240 Z' fill='rgba(10,43,77,0.40)' /&gt;&#10;    &lt;/svg&gt;&#10;  &lt;/Box&gt;&#10;&#10;  &lt;Box style={{ position: 'absolute', top: 0, left: 0, right: 0, bottom: 0, justifyContent: 'center', alignItems: 'center' }}&gt;&#10;    &lt;Box style={{ width: 200, height: 200, borderRadius: 999, background: 'rgba(255,255,255,0.12)', border: '4px solid rgba(255,255,255,0.35)', justifyContent: 'center', alignItems: 'center', marginBottom: 36 }}&gt;&#10;      &lt;Text style={{ color: '#FFFFFF', fontSize: 96, fontWeight: 'bold', fontFamily: &quot;'DIN Alternate','Inter',sans-serif&quot; }}&gt;01&lt;/Text&gt;&#10;    &lt;/Box&gt;&#10;    &lt;Text style={{ color: '#FFFFFF', fontSize: 56, fontWeight: 'bold', textShadow: '0 4px 18px rgba(0,0,0,0.35)' }}&gt;一、执行摘要&lt;/Text&gt;&#10;    &lt;Text style={{ color: 'rgba(255,255,255,0.82)', fontSize: 22, marginTop: 18, letterSpacing: 2 }}&gt;Executive Summary · 合作根基 · 估值与收益&lt;/Text&gt;&#10;  &lt;/Box&gt;&#10;&#10;  &lt;Text style={{ position: 'absolute', bottom: 48, left: 0, right: 0, textAlign: 'center', color: 'rgba(255,255,255,0.6)', fontSize: 15 }}&gt;&#10;    叁竹 × 湖外 校企合作商业计划书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" name="图片 490"/>
          <p:cNvPicPr>
            <a:picLocks noChangeAspect="1"/>
          </p:cNvPicPr>
          <p:nvPr/>
        </p:nvPicPr>
        <p:blipFill>
          <a:blip r:embed="rId2"/>
          <a:srcRect t="8894" b="889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92" name="矩形 49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2B4D">
                  <a:alpha val="82000"/>
                </a:srgbClr>
              </a:gs>
              <a:gs pos="100000">
                <a:srgbClr val="0F5C46">
                  <a:alpha val="78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493" name="图形 49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572000"/>
            <a:ext cx="12192000" cy="2286000"/>
          </a:xfrm>
          <a:prstGeom prst="rect">
            <a:avLst/>
          </a:prstGeom>
          <a:ln/>
        </p:spPr>
      </p:pic>
      <p:sp>
        <p:nvSpPr>
          <p:cNvPr id="494" name="矩形: 圆角 493"/>
          <p:cNvSpPr/>
          <p:nvPr/>
        </p:nvSpPr>
        <p:spPr>
          <a:xfrm>
            <a:off x="5143500" y="1771650"/>
            <a:ext cx="1905000" cy="1905000"/>
          </a:xfrm>
          <a:prstGeom prst="roundRect">
            <a:avLst>
              <a:gd name="adj" fmla="val 499500"/>
            </a:avLst>
          </a:prstGeom>
          <a:solidFill>
            <a:srgbClr val="FFFFFF">
              <a:alpha val="12000"/>
            </a:srgbClr>
          </a:solidFill>
          <a:ln w="508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5" name="文本框 494" descr="{&quot;isTemplate&quot;:true,&quot;type&quot;:&quot;text&quot;}"/>
          <p:cNvSpPr txBox="1"/>
          <p:nvPr/>
        </p:nvSpPr>
        <p:spPr>
          <a:xfrm>
            <a:off x="5514975" y="2171700"/>
            <a:ext cx="1171575" cy="1104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DIN Alternate"/>
                <a:ea typeface="DIN Alternate"/>
              </a:rPr>
              <a:t>01</a:t>
            </a:r>
            <a:endParaRPr/>
          </a:p>
        </p:txBody>
      </p:sp>
      <p:sp>
        <p:nvSpPr>
          <p:cNvPr id="496" name="文本框 495" descr="{&quot;isTemplate&quot;:true,&quot;type&quot;:&quot;text&quot;}"/>
          <p:cNvSpPr txBox="1"/>
          <p:nvPr/>
        </p:nvSpPr>
        <p:spPr>
          <a:xfrm>
            <a:off x="4495800" y="4019550"/>
            <a:ext cx="3200400" cy="647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effectLst>
                  <a:outerShdw blurRad="171450" dist="38100" dir="5400000">
                    <a:srgbClr val="000000">
                      <a:alpha val="35000"/>
                    </a:srgbClr>
                  </a:outerShdw>
                </a:effectLst>
                <a:latin typeface="Source Han Sans SC"/>
                <a:ea typeface="Source Han Sans SC"/>
              </a:rPr>
              <a:t>一、执行摘要</a:t>
            </a:r>
            <a:endParaRPr/>
          </a:p>
        </p:txBody>
      </p:sp>
      <p:sp>
        <p:nvSpPr>
          <p:cNvPr id="497" name="文本框 496" descr="{&quot;isTemplate&quot;:true,&quot;type&quot;:&quot;text&quot;}"/>
          <p:cNvSpPr txBox="1"/>
          <p:nvPr/>
        </p:nvSpPr>
        <p:spPr>
          <a:xfrm>
            <a:off x="3695700" y="4838700"/>
            <a:ext cx="48006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Executive Summary · 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合作根基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估值与收益</a:t>
            </a:r>
            <a:endParaRPr/>
          </a:p>
        </p:txBody>
      </p:sp>
      <p:sp>
        <p:nvSpPr>
          <p:cNvPr id="498" name="文本框 497" descr="{&quot;isTemplate&quot;:true,&quot;type&quot;:&quot;text&quot;}"/>
          <p:cNvSpPr txBox="1"/>
          <p:nvPr/>
        </p:nvSpPr>
        <p:spPr>
          <a:xfrm>
            <a:off x="-1" y="6229350"/>
            <a:ext cx="12191999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叁竹</a:t>
            </a: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× </a:t>
            </a: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湖外</a:t>
            </a: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</a:t>
            </a: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校企合作商业计划书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background: '#F4F9F6', fontFamily: &quot;'Source Han Sans SC', 'Microsoft YaHei', sans-serif&quot; }}&gt;&#10;  {/* A 标题块 */}&#10;  &lt;Box style={{ position: 'absolute', top: 0, left: 0, right: 0, height: 110, paddingLeft: 60, paddingRight: 60, flexDirection: 'row', alignItems: 'center' }}&gt;&#10;    &lt;Box style={{ width: 6, height: 44, background: '#0F5C46', borderRadius: 3, marginRight: 18 }} /&gt;&#10;    &lt;Text style={{ fontSize: 34, fontWeight: 'bold', color: '#1C2B24' }}&gt;执行摘要 · 合作根基与核心突破&lt;/Text&gt;&#10;  &lt;/Box&gt;&#10;&#10;  {/* B 内容区 */}&#10;  &lt;Box style={{ position: 'absolute', top: 124, left: 60, right: 60, bottom: 64, flexDirection: 'column', gap: 14 }}&gt;&#10;    &lt;Text style={{ fontSize: 18, color: '#5C6B63', lineHeight: 1.55 }}&gt;&#10;      双方基于多年共建学院的深厚互信，由&quot;口头合作意向&quot;升级为&lt;Text style={{ color: '#0F5C46', fontWeight: 'bold' }}&gt;全新股权战略合作&lt;/Text&gt;；本次落地最大突破，是校方&lt;Text style={{ color: '#0F5C46', fontWeight: 'bold' }}&gt;首次明确划拨专属实训与办公场地&lt;/Text&gt;。&#10;    &lt;/Text&gt;&#10;&#10;    {/* 2×2 图文卡 */}&#10;    &lt;Box style={{ flex: 1, flexDirection: 'row', gap: 22 }}&gt;&#10;      {[&#10;        ['01', '深厚合作根基', '健康管理学院由双方董事长联合创办，互信牢固；叁竹长期仅工商挂靠、无专属场地，健康照护师鉴定资质由叁竹全程协助落地。', 'assets/hero_gate.png'],&#10;        ['02', '核心突破：专属场地划拨', '合作落地后校方划定专属实训教学区 + 独立办公区，合作期永久免费，彻底解决无固定场地痛点，满足省级鉴定站验收硬标准。', 'assets/training_room.png'],&#10;        ['03', '湖外转型刚需', 'AI 压缩传统外语就业空间，亟需依托养老照护国家政策赛道升级专业；UBIC 养老社区缺课程、缺运营、缺人才，本次补齐产业闭环短板。', 'assets/hero_building.png'],&#10;        ['04', '叁竹核心行业实力', '省内养老照护培训稳居前三；九大工种完整自研体系；全国线上招生平台已落地；2025 全年培训突破 6000 人次，品牌壁垒突出。', 'assets/students_training.png'],&#10;      ].map((c, i) =&gt; (&#10;        &lt;Box key={i} style={{ flex: 1, background: '#FFFFFF', borderRadius: 14, overflow: 'hidden', boxShadow: '0 4px 16px rgba(15,92,70,0.08)', flexDirection: 'column' }}&gt;&#10;          &lt;Box style={{ height: 128, overflow: 'hidden' }}&gt;&#10;            &lt;Image src={c[3]} style={{ width: '100%', height: '100%', objectFit: 'cover' }} /&gt;&#10;          &lt;/Box&gt;&#10;          &lt;Box style={{ padding: '14px 18px 16px 18px', flex: 1, flexDirection: 'column' }}&gt;&#10;            &lt;Box style={{ flexDirection: 'row', alignItems: 'center', gap: 10, marginBottom: 8 }}&gt;&#10;              &lt;Box style={{ width: 34, height: 34, borderRadius: 10, background: 'rgba(46,158,120,0.14)', justifyContent: 'center', alignItems: 'center' }}&gt;&#10;                &lt;Text style={{ color: '#2E9E78', fontSize: 18, fontWeight: 'bold', fontFamily: &quot;'DIN Alternate','Inter',sans-serif&quot; }}&gt;{c[0]}&lt;/Text&gt;&#10;              &lt;/Box&gt;&#10;              &lt;Text style={{ fontSize: 20, fontWeight: 'bold', color: '#0F5C46' }}&gt;{c[1]}&lt;/Text&gt;&#10;            &lt;/Box&gt;&#10;            &lt;Text style={{ fontSize: 16, color: '#3A463F', lineHeight: 1.55 }}&gt;{c[2]}&lt;/Text&gt;&#10;          &lt;/Box&gt;&#10;        &lt;/Box&gt;&#10;      ))}&#10;    &lt;/Box&gt;&#10;  &lt;/Box&gt;&#10;&#10;  {/* C 页脚 */}&#10;  &lt;Box style={{ position: 'absolute', bottom: 0, left: 0, right: 0, height: 58, paddingLeft: 60, paddingRight: 60, flexDirection: 'row', alignItems: 'center' }}&gt;&#10;    &lt;Box style={{ flex: 1 }} /&gt;&#10;    &lt;Text style={{ fontSize: 14, color: '#5C6B63', textAlign: 'center' }}&gt;叁竹 × 湖外 校企合作商业计划书&lt;/Text&gt;&#10;    &lt;Box style={{ flex: 1, alignItems: 'flex-end' }}&gt;&#10;      &lt;Text style={{ fontSize: 14, color: '#5C6B63' }}&gt;04 / 27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矩形 49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1" name="矩形: 圆角 500"/>
          <p:cNvSpPr/>
          <p:nvPr/>
        </p:nvSpPr>
        <p:spPr>
          <a:xfrm>
            <a:off x="571500" y="314325"/>
            <a:ext cx="57150" cy="419100"/>
          </a:xfrm>
          <a:prstGeom prst="roundRect">
            <a:avLst>
              <a:gd name="adj" fmla="val 50000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2" name="文本框 501" descr="{&quot;isTemplate&quot;:true,&quot;type&quot;:&quot;text&quot;}"/>
          <p:cNvSpPr txBox="1"/>
          <p:nvPr/>
        </p:nvSpPr>
        <p:spPr>
          <a:xfrm>
            <a:off x="800100" y="333375"/>
            <a:ext cx="45529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2B24"/>
                </a:solidFill>
                <a:latin typeface="Source Han Sans SC"/>
                <a:ea typeface="Source Han Sans SC"/>
              </a:rPr>
              <a:t>执行摘要</a:t>
            </a:r>
            <a:r>
              <a:rPr lang="en-US" sz="2550" b="1">
                <a:solidFill>
                  <a:srgbClr val="1C2B24"/>
                </a:solidFill>
                <a:latin typeface="Source Han Sans SC"/>
                <a:ea typeface="Source Han Sans SC"/>
              </a:rPr>
              <a:t> · </a:t>
            </a:r>
            <a:r>
              <a:rPr lang="zh-CN" sz="2550" b="1">
                <a:solidFill>
                  <a:srgbClr val="1C2B24"/>
                </a:solidFill>
                <a:latin typeface="Source Han Sans SC"/>
                <a:ea typeface="Source Han Sans SC"/>
              </a:rPr>
              <a:t>合作根基与核心突破</a:t>
            </a:r>
            <a:endParaRPr/>
          </a:p>
        </p:txBody>
      </p:sp>
      <p:sp>
        <p:nvSpPr>
          <p:cNvPr id="503" name="文本框 502" descr="{&quot;isTemplate&quot;:true,&quot;type&quot;:&quot;text&quot;}"/>
          <p:cNvSpPr txBox="1"/>
          <p:nvPr/>
        </p:nvSpPr>
        <p:spPr>
          <a:xfrm>
            <a:off x="571500" y="1181100"/>
            <a:ext cx="11049000" cy="3238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350">
                <a:solidFill>
                  <a:srgbClr val="5C6B63"/>
                </a:solidFill>
                <a:latin typeface="Source Han Sans SC"/>
                <a:ea typeface="Source Han Sans SC"/>
              </a:rPr>
              <a:t>双方基于多年共建学院的深厚互信，由</a:t>
            </a:r>
            <a:r>
              <a:rPr lang="en-US" sz="1350">
                <a:solidFill>
                  <a:srgbClr val="5C6B63"/>
                </a:solidFill>
                <a:latin typeface="Source Han Sans SC"/>
                <a:ea typeface="Source Han Sans SC"/>
              </a:rPr>
              <a:t>"</a:t>
            </a:r>
            <a:r>
              <a:rPr lang="zh-CN" sz="1350">
                <a:solidFill>
                  <a:srgbClr val="5C6B63"/>
                </a:solidFill>
                <a:latin typeface="Source Han Sans SC"/>
                <a:ea typeface="Source Han Sans SC"/>
              </a:rPr>
              <a:t>口头合作意向</a:t>
            </a:r>
            <a:r>
              <a:rPr lang="en-US" sz="1350">
                <a:solidFill>
                  <a:srgbClr val="5C6B63"/>
                </a:solidFill>
                <a:latin typeface="Source Han Sans SC"/>
                <a:ea typeface="Source Han Sans SC"/>
              </a:rPr>
              <a:t>"</a:t>
            </a:r>
            <a:r>
              <a:rPr lang="zh-CN" sz="1350">
                <a:solidFill>
                  <a:srgbClr val="5C6B63"/>
                </a:solidFill>
                <a:latin typeface="Source Han Sans SC"/>
                <a:ea typeface="Source Han Sans SC"/>
              </a:rPr>
              <a:t>升级为全新股权战略合作；本次落地最大突破，是校方首次明确划拨专属实训与办公场地。</a:t>
            </a:r>
            <a:endParaRPr/>
          </a:p>
        </p:txBody>
      </p:sp>
      <p:sp>
        <p:nvSpPr>
          <p:cNvPr id="504" name="矩形: 圆角 503"/>
          <p:cNvSpPr/>
          <p:nvPr/>
        </p:nvSpPr>
        <p:spPr>
          <a:xfrm>
            <a:off x="571500" y="1638300"/>
            <a:ext cx="2609850" cy="4610100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05" name="图片 504"/>
          <p:cNvPicPr>
            <a:picLocks noChangeAspect="1"/>
          </p:cNvPicPr>
          <p:nvPr/>
        </p:nvPicPr>
        <p:blipFill>
          <a:blip r:embed="rId2"/>
          <a:srcRect t="15861" b="15861"/>
          <a:stretch>
            <a:fillRect/>
          </a:stretch>
        </p:blipFill>
        <p:spPr>
          <a:xfrm>
            <a:off x="571500" y="1638300"/>
            <a:ext cx="2609850" cy="1219200"/>
          </a:xfrm>
          <a:custGeom>
            <a:avLst/>
            <a:gdLst/>
            <a:ahLst/>
            <a:cxnLst/>
            <a:rect l="0" t="0" r="0" b="0"/>
            <a:pathLst>
              <a:path w="274" h="128">
                <a:moveTo>
                  <a:pt x="260" y="0"/>
                </a:moveTo>
                <a:cubicBezTo>
                  <a:pt x="268" y="0"/>
                  <a:pt x="274" y="6"/>
                  <a:pt x="274" y="14"/>
                </a:cubicBezTo>
                <a:lnTo>
                  <a:pt x="274" y="128"/>
                </a:lnTo>
                <a:lnTo>
                  <a:pt x="0" y="128"/>
                </a:ln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260" y="0"/>
                </a:lnTo>
                <a:close/>
              </a:path>
            </a:pathLst>
          </a:custGeom>
          <a:ln/>
        </p:spPr>
      </p:pic>
      <p:sp>
        <p:nvSpPr>
          <p:cNvPr id="506" name="矩形: 圆角 505"/>
          <p:cNvSpPr/>
          <p:nvPr/>
        </p:nvSpPr>
        <p:spPr>
          <a:xfrm>
            <a:off x="742950" y="299085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2E9E78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07" name="文本框 506" descr="{&quot;isTemplate&quot;:true,&quot;type&quot;:&quot;text&quot;}"/>
          <p:cNvSpPr txBox="1"/>
          <p:nvPr/>
        </p:nvSpPr>
        <p:spPr>
          <a:xfrm>
            <a:off x="800100" y="3048000"/>
            <a:ext cx="2190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E9E78"/>
                </a:solidFill>
                <a:latin typeface="DIN Alternate"/>
                <a:ea typeface="DIN Alternate"/>
              </a:rPr>
              <a:t>01</a:t>
            </a:r>
            <a:endParaRPr/>
          </a:p>
        </p:txBody>
      </p:sp>
      <p:sp>
        <p:nvSpPr>
          <p:cNvPr id="508" name="文本框 507" descr="{&quot;isTemplate&quot;:true,&quot;type&quot;:&quot;text&quot;}"/>
          <p:cNvSpPr txBox="1"/>
          <p:nvPr/>
        </p:nvSpPr>
        <p:spPr>
          <a:xfrm>
            <a:off x="1162050" y="3038475"/>
            <a:ext cx="1143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5C46"/>
                </a:solidFill>
                <a:latin typeface="Source Han Sans SC"/>
                <a:ea typeface="Source Han Sans SC"/>
              </a:rPr>
              <a:t>深厚合作根基</a:t>
            </a:r>
            <a:endParaRPr/>
          </a:p>
        </p:txBody>
      </p:sp>
      <p:sp>
        <p:nvSpPr>
          <p:cNvPr id="509" name="文本框 508" descr="{&quot;isTemplate&quot;:true,&quot;type&quot;:&quot;text&quot;}"/>
          <p:cNvSpPr txBox="1"/>
          <p:nvPr/>
        </p:nvSpPr>
        <p:spPr>
          <a:xfrm>
            <a:off x="742950" y="3390900"/>
            <a:ext cx="2266950" cy="1419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健康管理学院由双方董事长联合创办，互信牢固；叁竹长期仅工商挂靠、无专属场地，健康照护师鉴定资质由叁竹全程协助落地。</a:t>
            </a:r>
            <a:endParaRPr/>
          </a:p>
        </p:txBody>
      </p:sp>
      <p:sp>
        <p:nvSpPr>
          <p:cNvPr id="510" name="矩形: 圆角 509"/>
          <p:cNvSpPr/>
          <p:nvPr/>
        </p:nvSpPr>
        <p:spPr>
          <a:xfrm>
            <a:off x="3390900" y="1638300"/>
            <a:ext cx="2600325" cy="46101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11" name="图片 510"/>
          <p:cNvPicPr>
            <a:picLocks noChangeAspect="1"/>
          </p:cNvPicPr>
          <p:nvPr/>
        </p:nvPicPr>
        <p:blipFill>
          <a:blip r:embed="rId3"/>
          <a:srcRect t="18742" b="18742"/>
          <a:stretch>
            <a:fillRect/>
          </a:stretch>
        </p:blipFill>
        <p:spPr>
          <a:xfrm>
            <a:off x="3390900" y="1638300"/>
            <a:ext cx="2600325" cy="1219200"/>
          </a:xfrm>
          <a:custGeom>
            <a:avLst/>
            <a:gdLst/>
            <a:ahLst/>
            <a:cxnLst/>
            <a:rect l="0" t="0" r="0" b="0"/>
            <a:pathLst>
              <a:path w="273" h="128">
                <a:moveTo>
                  <a:pt x="259" y="0"/>
                </a:moveTo>
                <a:cubicBezTo>
                  <a:pt x="267" y="0"/>
                  <a:pt x="273" y="6"/>
                  <a:pt x="273" y="14"/>
                </a:cubicBezTo>
                <a:lnTo>
                  <a:pt x="273" y="128"/>
                </a:lnTo>
                <a:lnTo>
                  <a:pt x="0" y="128"/>
                </a:ln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259" y="0"/>
                </a:lnTo>
                <a:close/>
              </a:path>
            </a:pathLst>
          </a:custGeom>
          <a:ln/>
        </p:spPr>
      </p:pic>
      <p:sp>
        <p:nvSpPr>
          <p:cNvPr id="512" name="矩形: 圆角 511"/>
          <p:cNvSpPr/>
          <p:nvPr/>
        </p:nvSpPr>
        <p:spPr>
          <a:xfrm>
            <a:off x="3562350" y="299085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2E9E78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3" name="文本框 512" descr="{&quot;isTemplate&quot;:true,&quot;type&quot;:&quot;text&quot;}"/>
          <p:cNvSpPr txBox="1"/>
          <p:nvPr/>
        </p:nvSpPr>
        <p:spPr>
          <a:xfrm>
            <a:off x="3619500" y="3048000"/>
            <a:ext cx="2190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E9E78"/>
                </a:solidFill>
                <a:latin typeface="DIN Alternate"/>
                <a:ea typeface="DIN Alternate"/>
              </a:rPr>
              <a:t>02</a:t>
            </a:r>
            <a:endParaRPr/>
          </a:p>
        </p:txBody>
      </p:sp>
      <p:sp>
        <p:nvSpPr>
          <p:cNvPr id="514" name="文本框 513" descr="{&quot;isTemplate&quot;:true,&quot;type&quot;:&quot;text&quot;}"/>
          <p:cNvSpPr txBox="1"/>
          <p:nvPr/>
        </p:nvSpPr>
        <p:spPr>
          <a:xfrm>
            <a:off x="3943350" y="3038475"/>
            <a:ext cx="18764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5C46"/>
                </a:solidFill>
                <a:latin typeface="Source Han Sans SC"/>
                <a:ea typeface="Source Han Sans SC"/>
              </a:rPr>
              <a:t>核心突破：专属场地划拨</a:t>
            </a:r>
            <a:endParaRPr/>
          </a:p>
        </p:txBody>
      </p:sp>
      <p:sp>
        <p:nvSpPr>
          <p:cNvPr id="515" name="文本框 514" descr="{&quot;isTemplate&quot;:true,&quot;type&quot;:&quot;text&quot;}"/>
          <p:cNvSpPr txBox="1"/>
          <p:nvPr/>
        </p:nvSpPr>
        <p:spPr>
          <a:xfrm>
            <a:off x="3562350" y="3390900"/>
            <a:ext cx="2257425" cy="1419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合作落地后校方划定专属实训教学区</a:t>
            </a:r>
            <a:r>
              <a:rPr lang="en-US" sz="1200">
                <a:solidFill>
                  <a:srgbClr val="3A463F"/>
                </a:solidFill>
                <a:latin typeface="Source Han Sans SC"/>
                <a:ea typeface="Source Han Sans SC"/>
              </a:rPr>
              <a:t> + </a:t>
            </a: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独立办公区，合作期永久免费，彻底解决无固定场地痛点，满足省级鉴定站验收硬标准。</a:t>
            </a:r>
            <a:endParaRPr/>
          </a:p>
        </p:txBody>
      </p:sp>
      <p:sp>
        <p:nvSpPr>
          <p:cNvPr id="516" name="矩形: 圆角 515"/>
          <p:cNvSpPr/>
          <p:nvPr/>
        </p:nvSpPr>
        <p:spPr>
          <a:xfrm>
            <a:off x="6200775" y="1638300"/>
            <a:ext cx="2609850" cy="4610100"/>
          </a:xfrm>
          <a:prstGeom prst="roundRect">
            <a:avLst>
              <a:gd name="adj" fmla="val 5109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17" name="图片 516"/>
          <p:cNvPicPr>
            <a:picLocks noChangeAspect="1"/>
          </p:cNvPicPr>
          <p:nvPr/>
        </p:nvPicPr>
        <p:blipFill>
          <a:blip r:embed="rId4"/>
          <a:srcRect t="15861" b="15861"/>
          <a:stretch>
            <a:fillRect/>
          </a:stretch>
        </p:blipFill>
        <p:spPr>
          <a:xfrm>
            <a:off x="6200775" y="1638300"/>
            <a:ext cx="2609850" cy="1219200"/>
          </a:xfrm>
          <a:custGeom>
            <a:avLst/>
            <a:gdLst/>
            <a:ahLst/>
            <a:cxnLst/>
            <a:rect l="0" t="0" r="0" b="0"/>
            <a:pathLst>
              <a:path w="274" h="128">
                <a:moveTo>
                  <a:pt x="260" y="0"/>
                </a:moveTo>
                <a:cubicBezTo>
                  <a:pt x="268" y="0"/>
                  <a:pt x="274" y="6"/>
                  <a:pt x="274" y="14"/>
                </a:cubicBezTo>
                <a:lnTo>
                  <a:pt x="274" y="128"/>
                </a:lnTo>
                <a:lnTo>
                  <a:pt x="0" y="128"/>
                </a:ln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260" y="0"/>
                </a:lnTo>
                <a:close/>
              </a:path>
            </a:pathLst>
          </a:custGeom>
          <a:ln/>
        </p:spPr>
      </p:pic>
      <p:sp>
        <p:nvSpPr>
          <p:cNvPr id="518" name="矩形: 圆角 517"/>
          <p:cNvSpPr/>
          <p:nvPr/>
        </p:nvSpPr>
        <p:spPr>
          <a:xfrm>
            <a:off x="6372225" y="299085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2E9E78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19" name="文本框 518" descr="{&quot;isTemplate&quot;:true,&quot;type&quot;:&quot;text&quot;}"/>
          <p:cNvSpPr txBox="1"/>
          <p:nvPr/>
        </p:nvSpPr>
        <p:spPr>
          <a:xfrm>
            <a:off x="6429375" y="3048000"/>
            <a:ext cx="2190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E9E78"/>
                </a:solidFill>
                <a:latin typeface="DIN Alternate"/>
                <a:ea typeface="DIN Alternate"/>
              </a:rPr>
              <a:t>03</a:t>
            </a:r>
            <a:endParaRPr/>
          </a:p>
        </p:txBody>
      </p:sp>
      <p:sp>
        <p:nvSpPr>
          <p:cNvPr id="520" name="文本框 519" descr="{&quot;isTemplate&quot;:true,&quot;type&quot;:&quot;text&quot;}"/>
          <p:cNvSpPr txBox="1"/>
          <p:nvPr/>
        </p:nvSpPr>
        <p:spPr>
          <a:xfrm>
            <a:off x="6791325" y="3038475"/>
            <a:ext cx="1143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5C46"/>
                </a:solidFill>
                <a:latin typeface="Source Han Sans SC"/>
                <a:ea typeface="Source Han Sans SC"/>
              </a:rPr>
              <a:t>湖外转型刚需</a:t>
            </a:r>
            <a:endParaRPr/>
          </a:p>
        </p:txBody>
      </p:sp>
      <p:sp>
        <p:nvSpPr>
          <p:cNvPr id="521" name="文本框 520" descr="{&quot;isTemplate&quot;:true,&quot;type&quot;:&quot;text&quot;}"/>
          <p:cNvSpPr txBox="1"/>
          <p:nvPr/>
        </p:nvSpPr>
        <p:spPr>
          <a:xfrm>
            <a:off x="6372225" y="3390900"/>
            <a:ext cx="2266950" cy="1419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200">
                <a:solidFill>
                  <a:srgbClr val="3A463F"/>
                </a:solidFill>
                <a:latin typeface="Source Han Sans SC"/>
                <a:ea typeface="Source Han Sans SC"/>
              </a:rPr>
              <a:t>AI </a:t>
            </a: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压缩传统外语就业空间，亟需依托养老照护国家政策赛道升级专业；</a:t>
            </a:r>
            <a:r>
              <a:rPr lang="en-US" sz="1200">
                <a:solidFill>
                  <a:srgbClr val="3A463F"/>
                </a:solidFill>
                <a:latin typeface="Source Han Sans SC"/>
                <a:ea typeface="Source Han Sans SC"/>
              </a:rPr>
              <a:t>UBIC </a:t>
            </a: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养老社区缺课程、缺运营、缺人才，本次补齐产业闭环短板。</a:t>
            </a:r>
            <a:endParaRPr/>
          </a:p>
        </p:txBody>
      </p:sp>
      <p:sp>
        <p:nvSpPr>
          <p:cNvPr id="522" name="矩形: 圆角 521"/>
          <p:cNvSpPr/>
          <p:nvPr/>
        </p:nvSpPr>
        <p:spPr>
          <a:xfrm>
            <a:off x="9020175" y="1638300"/>
            <a:ext cx="2600325" cy="46101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23" name="图片 522"/>
          <p:cNvPicPr>
            <a:picLocks noChangeAspect="1"/>
          </p:cNvPicPr>
          <p:nvPr/>
        </p:nvPicPr>
        <p:blipFill>
          <a:blip r:embed="rId5"/>
          <a:srcRect t="18742" b="18742"/>
          <a:stretch>
            <a:fillRect/>
          </a:stretch>
        </p:blipFill>
        <p:spPr>
          <a:xfrm>
            <a:off x="9020175" y="1638300"/>
            <a:ext cx="2600325" cy="1219200"/>
          </a:xfrm>
          <a:custGeom>
            <a:avLst/>
            <a:gdLst/>
            <a:ahLst/>
            <a:cxnLst/>
            <a:rect l="0" t="0" r="0" b="0"/>
            <a:pathLst>
              <a:path w="273" h="128">
                <a:moveTo>
                  <a:pt x="259" y="0"/>
                </a:moveTo>
                <a:cubicBezTo>
                  <a:pt x="267" y="0"/>
                  <a:pt x="273" y="6"/>
                  <a:pt x="273" y="14"/>
                </a:cubicBezTo>
                <a:lnTo>
                  <a:pt x="273" y="128"/>
                </a:lnTo>
                <a:lnTo>
                  <a:pt x="0" y="128"/>
                </a:ln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259" y="0"/>
                </a:lnTo>
                <a:close/>
              </a:path>
            </a:pathLst>
          </a:custGeom>
          <a:ln/>
        </p:spPr>
      </p:pic>
      <p:sp>
        <p:nvSpPr>
          <p:cNvPr id="524" name="矩形: 圆角 523"/>
          <p:cNvSpPr/>
          <p:nvPr/>
        </p:nvSpPr>
        <p:spPr>
          <a:xfrm>
            <a:off x="9191625" y="2990850"/>
            <a:ext cx="323850" cy="323850"/>
          </a:xfrm>
          <a:prstGeom prst="roundRect">
            <a:avLst>
              <a:gd name="adj" fmla="val 29412"/>
            </a:avLst>
          </a:prstGeom>
          <a:solidFill>
            <a:srgbClr val="2E9E78">
              <a:alpha val="14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5" name="文本框 524" descr="{&quot;isTemplate&quot;:true,&quot;type&quot;:&quot;text&quot;}"/>
          <p:cNvSpPr txBox="1"/>
          <p:nvPr/>
        </p:nvSpPr>
        <p:spPr>
          <a:xfrm>
            <a:off x="9248775" y="3048000"/>
            <a:ext cx="2190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E9E78"/>
                </a:solidFill>
                <a:latin typeface="DIN Alternate"/>
                <a:ea typeface="DIN Alternate"/>
              </a:rPr>
              <a:t>04</a:t>
            </a:r>
            <a:endParaRPr/>
          </a:p>
        </p:txBody>
      </p:sp>
      <p:sp>
        <p:nvSpPr>
          <p:cNvPr id="526" name="文本框 525" descr="{&quot;isTemplate&quot;:true,&quot;type&quot;:&quot;text&quot;}"/>
          <p:cNvSpPr txBox="1"/>
          <p:nvPr/>
        </p:nvSpPr>
        <p:spPr>
          <a:xfrm>
            <a:off x="9610725" y="3038475"/>
            <a:ext cx="15240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5C46"/>
                </a:solidFill>
                <a:latin typeface="Source Han Sans SC"/>
                <a:ea typeface="Source Han Sans SC"/>
              </a:rPr>
              <a:t>叁竹核心行业实力</a:t>
            </a:r>
            <a:endParaRPr/>
          </a:p>
        </p:txBody>
      </p:sp>
      <p:sp>
        <p:nvSpPr>
          <p:cNvPr id="527" name="文本框 526" descr="{&quot;isTemplate&quot;:true,&quot;type&quot;:&quot;text&quot;}"/>
          <p:cNvSpPr txBox="1"/>
          <p:nvPr/>
        </p:nvSpPr>
        <p:spPr>
          <a:xfrm>
            <a:off x="9191625" y="3390900"/>
            <a:ext cx="2257425" cy="14192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省内养老照护培训稳居前三；九大工种完整自研体系；全国线上招生平台已落地；</a:t>
            </a:r>
            <a:r>
              <a:rPr lang="en-US" sz="1200">
                <a:solidFill>
                  <a:srgbClr val="3A463F"/>
                </a:solidFill>
                <a:latin typeface="Source Han Sans SC"/>
                <a:ea typeface="Source Han Sans SC"/>
              </a:rPr>
              <a:t>2025 </a:t>
            </a: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全年培训突破</a:t>
            </a:r>
            <a:r>
              <a:rPr lang="en-US" sz="1200">
                <a:solidFill>
                  <a:srgbClr val="3A463F"/>
                </a:solidFill>
                <a:latin typeface="Source Han Sans SC"/>
                <a:ea typeface="Source Han Sans SC"/>
              </a:rPr>
              <a:t> 6000 </a:t>
            </a: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人次，品牌壁垒突出。</a:t>
            </a:r>
            <a:endParaRPr/>
          </a:p>
        </p:txBody>
      </p:sp>
      <p:sp>
        <p:nvSpPr>
          <p:cNvPr id="528" name="文本框 527" descr="{&quot;isTemplate&quot;:true,&quot;type&quot;:&quot;text&quot;}"/>
          <p:cNvSpPr txBox="1"/>
          <p:nvPr/>
        </p:nvSpPr>
        <p:spPr>
          <a:xfrm>
            <a:off x="5124450" y="6505575"/>
            <a:ext cx="1952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叁竹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×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湖外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校企合作商业计划书</a:t>
            </a:r>
            <a:endParaRPr/>
          </a:p>
        </p:txBody>
      </p:sp>
      <p:sp>
        <p:nvSpPr>
          <p:cNvPr id="529" name="文本框 528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04 / 27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background: '#F4F9F6', fontFamily: &quot;'Source Han Sans SC', 'Microsoft YaHei', sans-serif&quot; }}&gt;&#10;  {/* 顶部深绿数据通栏 */}&#10;  &lt;Box style={{ position: 'absolute', top: 0, left: 0, right: 0, height: 92, background: '#0F5C46', flexDirection: 'row', alignItems: 'center', justifyContent: 'space-between', paddingLeft: 60, paddingRight: 60 }}&gt;&#10;    &lt;Box style={{ flexDirection: 'row', alignItems: 'baseline', gap: 8 }}&gt;&#10;      &lt;Text style={{ color: 'rgba(255,255,255,0.85)', fontSize: 18 }}&gt;投前估值&lt;/Text&gt;&#10;      &lt;Text style={{ color: '#FFFFFF', fontSize: 38, fontWeight: 'bold', fontFamily: &quot;'DIN Alternate','Inter',sans-serif&quot; }}&gt;3000&lt;/Text&gt;&#10;      &lt;Text style={{ color: 'rgba(255,255,255,0.9)', fontSize: 20, fontWeight: 'bold' }}&gt;万元&lt;/Text&gt;&#10;    &lt;/Box&gt;&#10;    &lt;Box style={{ width: 1, height: 40, background: 'rgba(255,255,255,0.25)' }} /&gt;&#10;    &lt;Box style={{ flexDirection: 'row', alignItems: 'baseline', gap: 8 }}&gt;&#10;      &lt;Text style={{ color: 'rgba(255,255,255,0.85)', fontSize: 18 }}&gt;湖外出资&lt;/Text&gt;&#10;      &lt;Text style={{ color: '#FFFFFF', fontSize: 38, fontWeight: 'bold', fontFamily: &quot;'DIN Alternate','Inter',sans-serif&quot; }}&gt;1200&lt;/Text&gt;&#10;      &lt;Text style={{ color: 'rgba(255,255,255,0.9)', fontSize: 20, fontWeight: 'bold' }}&gt;万元&lt;/Text&gt;&#10;    &lt;/Box&gt;&#10;    &lt;Box style={{ width: 1, height: 40, background: 'rgba(255,255,255,0.25)' }} /&gt;&#10;    &lt;Box style={{ flexDirection: 'row', alignItems: 'baseline', gap: 8 }}&gt;&#10;      &lt;Text style={{ color: 'rgba(255,255,255,0.85)', fontSize: 18 }}&gt;占股&lt;/Text&gt;&#10;      &lt;Text style={{ color: '#FFFFFF', fontSize: 38, fontWeight: 'bold', fontFamily: &quot;'DIN Alternate','Inter',sans-serif&quot; }}&gt;40&lt;/Text&gt;&#10;      &lt;Text style={{ color: 'rgba(255,255,255,0.9)', fontSize: 20, fontWeight: 'bold' }}&gt;%&lt;/Text&gt;&#10;    &lt;/Box&gt;&#10;    &lt;Text style={{ color: 'rgba(255,255,255,0.7)', fontSize: 15 }}&gt;协商定价体现信任 · 现金入股保障发展&lt;/Text&gt;&#10;  &lt;/Box&gt;&#10;&#10;  {/* 中部三列卡片 */}&#10;  &lt;Box style={{ position: 'absolute', top: 110, left: 60, right: 60, height: 348, flexDirection: 'row', gap: 20 }}&gt;&#10;    {[&#10;      ['股权架构', [&#10;        ['湖外全部以货币现金入股，持有公司', '40%', '股权'],&#10;        ['原自然人股东持股', '60%', '并全权运营'],&#10;        ['校方场地仅校内台账登记备案，', '不折价抵扣', '入股资金，合作后正式交付常态化使用']&#10;      ]],&#10;      ['估值逻辑', [&#10;        ['不引入', '第三方资产评估', '机构'],&#10;        ['依托双方多年合作积淀、湖外宁平董事长对康养行业的', '深度研判', ''],&#10;        ['以打造校园 UBIC 养老社区', '全产业链闭环', '的长期战略目标协商确定']&#10;      ]],&#10;      ['资金投向', [&#10;        ['01', '多工种省级鉴定资质申报'],&#10;        ['02', '线上全国平台迭代'],&#10;        ['03', '市场扩张'],&#10;        ['04', '考评师资团队扩充']&#10;      ]]&#10;    ].map((col, idx) =&gt; (&#10;      &lt;Box key={idx} style={{ flex: 1, background: '#FFFFFF', borderRadius: 14, padding: '18px 20px', boxShadow: '0 4px 16px rgba(15,92,70,0.08)', flexDirection: 'column' }}&gt;&#10;        &lt;Text style={{ fontSize: 22, fontWeight: 'bold', color: '#0F5C46', marginBottom: 12, borderBottom: '2px solid #2E9E78', paddingBottom: 8 }}&gt;{col[0]}&lt;/Text&gt;&#10;        {idx === 2 ? (&#10;          &lt;Box style={{ flex: 1, flexDirection: 'row', flexWrap: 'wrap', gap: 12 }}&gt;&#10;            {col[1].map((item, i) =&gt; (&#10;              &lt;Box key={i} style={{ width: '46%', background: '#F4F9F6', borderRadius: 10, padding: '14px 10px', alignItems: 'center', justifyContent: 'center' }}&gt;&#10;                &lt;Text style={{ color: '#0F5C46', fontSize: 18, fontWeight: 'bold', fontFamily: &quot;'DIN Alternate','Inter',sans-serif&quot; }}&gt;{item[0]}&lt;/Text&gt;&#10;                &lt;Text style={{ color: '#3A463F', fontSize: 15, marginTop: 6, textAlign: 'center' }}&gt;{item[1]}&lt;/Text&gt;&#10;              &lt;/Box&gt;&#10;            ))}&#10;          &lt;/Box&gt;&#10;        ) : (&#10;          &lt;Box style={{ flex: 1, flexDirection: 'column', gap: 14 }}&gt;&#10;            {col[1].map((item, i) =&gt; (&#10;              &lt;Box key={i} style={{ flexDirection: 'row', alignItems: 'flex-start', gap: 8 }}&gt;&#10;                &lt;Box style={{ width: 8, height: 8, borderRadius: 999, background: '#2E9E78', marginTop: 8 }} /&gt;&#10;                &lt;Text style={{ fontSize: 16, color: '#3A463F', lineHeight: 1.55, flex: 1 }}&gt;&#10;                  {item[0]}&lt;Text style={{ color: '#0F5C46', fontWeight: 'bold' }}&gt;{item[1]}&lt;/Text&gt;{item[2]}&#10;                &lt;/Text&gt;&#10;              &lt;/Box&gt;&#10;            ))}&#10;          &lt;/Box&gt;&#10;        )}&#10;      &lt;/Box&gt;&#10;    ))}&#10;  &lt;/Box&gt;&#10;&#10;  {/* 底部六步闭环流程图 */}&#10;  &lt;Box style={{ position: 'absolute', bottom: 64, left: 60, right: 60, height: 152, background: '#FFFFFF', borderRadius: 14, padding: '16px 20px', boxShadow: '0 4px 16px rgba(15,92,70,0.08)' }}&gt;&#10;    &lt;Text style={{ fontSize: 17, fontWeight: 'bold', color: '#0F5C46', marginBottom: 12 }}&gt;完整产业闭环&lt;/Text&gt;&#10;    &lt;Box style={{ flexDirection: 'row', alignItems: 'center', justifyContent: 'space-between' }}&gt;&#10;      {[&#10;        ['①', '湖外康养在校生'],&#10;        ['②', '校内专属实训基地实操'],&#10;        ['③', '省级技能鉴定发证'],&#10;        ['④', '校内 UBIC 养老社区定向就业'],&#10;        ['⑤', '全国养老机构人才输送'],&#10;        ['⑥', '养老机构咨询服务'],&#10;      ].map((s, i) =&gt; (&#10;        &lt;Box key={i} style={{ flexDirection: 'row', alignItems: 'center' }}&gt;&#10;          &lt;Box style={{ width: 138, height: 76, background: i === 3 ? '#0F5C46' : '#F4F9F6', borderRadius: 10, padding: 8, justifyContent: 'center', alignItems: 'center' }}&gt;&#10;            &lt;Text style={{ color: i === 3 ? '#7FE3C0' : '#2E9E78', fontSize: 16, fontWeight: 'bold', fontFamily: &quot;'DIN Alternate','Inter',sans-serif&quot; }}&gt;{s[0]}&lt;/Text&gt;&#10;            &lt;Text style={{ color: i === 3 ? '#FFFFFF' : '#1C2B24', fontSize: 14, textAlign: 'center', marginTop: 4, lineHeight: 1.35 }}&gt;{s[1]}&lt;/Text&gt;&#10;          &lt;/Box&gt;&#10;          {i &lt; 5 &amp;&amp; (&#10;            &lt;Box style={{ width: 0, height: 0, borderTop: '8px solid transparent', borderBottom: '8px solid transparent', borderLeft: '12px solid #2E9E78', marginHorizontal: 6 }} /&gt;&#10;          )}&#10;        &lt;/Box&gt;&#10;      ))}&#10;    &lt;/Box&gt;&#10;  &lt;/Box&gt;&#10;&#10;  {/* C 页脚 */}&#10;  &lt;Box style={{ position: 'absolute', bottom: 0, left: 0, right: 0, height: 58, paddingLeft: 60, paddingRight: 60, flexDirection: 'row', alignItems: 'center' }}&gt;&#10;    &lt;Box style={{ flex: 1 }} /&gt;&#10;    &lt;Text style={{ fontSize: 14, color: '#5C6B63', textAlign: 'center' }}&gt;叁竹 × 湖外 校企合作商业计划书&lt;/Text&gt;&#10;    &lt;Box style={{ flex: 1, alignItems: 'flex-end' }}&gt;&#10;      &lt;Text style={{ fontSize: 14, color: '#5C6B63' }}&gt;05 / 27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矩形 5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2" name="矩形 531"/>
          <p:cNvSpPr/>
          <p:nvPr/>
        </p:nvSpPr>
        <p:spPr>
          <a:xfrm>
            <a:off x="0" y="0"/>
            <a:ext cx="12192000" cy="876300"/>
          </a:xfrm>
          <a:prstGeom prst="rect">
            <a:avLst/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3" name="文本框 532" descr="{&quot;isTemplate&quot;:true,&quot;type&quot;:&quot;text&quot;}"/>
          <p:cNvSpPr txBox="1"/>
          <p:nvPr/>
        </p:nvSpPr>
        <p:spPr>
          <a:xfrm>
            <a:off x="571500" y="219075"/>
            <a:ext cx="685800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投前估值</a:t>
            </a:r>
            <a:endParaRPr/>
          </a:p>
        </p:txBody>
      </p:sp>
      <p:sp>
        <p:nvSpPr>
          <p:cNvPr id="534" name="文本框 533" descr="{&quot;isTemplate&quot;:true,&quot;type&quot;:&quot;text&quot;}"/>
          <p:cNvSpPr txBox="1"/>
          <p:nvPr/>
        </p:nvSpPr>
        <p:spPr>
          <a:xfrm>
            <a:off x="1333500" y="85725"/>
            <a:ext cx="923925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850" b="1" dirty="0">
                <a:solidFill>
                  <a:srgbClr val="FFFFFF"/>
                </a:solidFill>
                <a:latin typeface="DIN Alternate"/>
                <a:ea typeface="DIN Alternate"/>
              </a:rPr>
              <a:t>3000</a:t>
            </a:r>
            <a:endParaRPr dirty="0"/>
          </a:p>
        </p:txBody>
      </p:sp>
      <p:sp>
        <p:nvSpPr>
          <p:cNvPr id="535" name="文本框 534" descr="{&quot;isTemplate&quot;:true,&quot;type&quot;:&quot;text&quot;}"/>
          <p:cNvSpPr txBox="1"/>
          <p:nvPr/>
        </p:nvSpPr>
        <p:spPr>
          <a:xfrm>
            <a:off x="2333625" y="219075"/>
            <a:ext cx="381000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 dirty="0">
                <a:solidFill>
                  <a:srgbClr val="FFFFFF">
                    <a:alpha val="90000"/>
                  </a:srgbClr>
                </a:solidFill>
                <a:latin typeface="Source Han Sans SC"/>
                <a:ea typeface="Source Han Sans SC"/>
              </a:rPr>
              <a:t>万元</a:t>
            </a:r>
            <a:endParaRPr dirty="0"/>
          </a:p>
        </p:txBody>
      </p:sp>
      <p:sp>
        <p:nvSpPr>
          <p:cNvPr id="536" name="矩形 535"/>
          <p:cNvSpPr/>
          <p:nvPr/>
        </p:nvSpPr>
        <p:spPr>
          <a:xfrm>
            <a:off x="3352800" y="247650"/>
            <a:ext cx="9525" cy="3810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37" name="文本框 536" descr="{&quot;isTemplate&quot;:true,&quot;type&quot;:&quot;text&quot;}"/>
          <p:cNvSpPr txBox="1"/>
          <p:nvPr/>
        </p:nvSpPr>
        <p:spPr>
          <a:xfrm>
            <a:off x="4000500" y="219075"/>
            <a:ext cx="685800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湖外出资</a:t>
            </a:r>
            <a:endParaRPr/>
          </a:p>
        </p:txBody>
      </p:sp>
      <p:sp>
        <p:nvSpPr>
          <p:cNvPr id="538" name="文本框 537" descr="{&quot;isTemplate&quot;:true,&quot;type&quot;:&quot;text&quot;}"/>
          <p:cNvSpPr txBox="1"/>
          <p:nvPr/>
        </p:nvSpPr>
        <p:spPr>
          <a:xfrm>
            <a:off x="4762500" y="76201"/>
            <a:ext cx="923925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850" b="1" dirty="0">
                <a:solidFill>
                  <a:srgbClr val="FFFFFF"/>
                </a:solidFill>
                <a:latin typeface="DIN Alternate"/>
                <a:ea typeface="DIN Alternate"/>
              </a:rPr>
              <a:t>1200</a:t>
            </a:r>
            <a:endParaRPr dirty="0"/>
          </a:p>
        </p:txBody>
      </p:sp>
      <p:sp>
        <p:nvSpPr>
          <p:cNvPr id="539" name="文本框 538" descr="{&quot;isTemplate&quot;:true,&quot;type&quot;:&quot;text&quot;}"/>
          <p:cNvSpPr txBox="1"/>
          <p:nvPr/>
        </p:nvSpPr>
        <p:spPr>
          <a:xfrm>
            <a:off x="5762625" y="219075"/>
            <a:ext cx="381000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>
                    <a:alpha val="90000"/>
                  </a:srgbClr>
                </a:solidFill>
                <a:latin typeface="Source Han Sans SC"/>
                <a:ea typeface="Source Han Sans SC"/>
              </a:rPr>
              <a:t>万元</a:t>
            </a:r>
            <a:endParaRPr/>
          </a:p>
        </p:txBody>
      </p:sp>
      <p:sp>
        <p:nvSpPr>
          <p:cNvPr id="540" name="矩形 539"/>
          <p:cNvSpPr/>
          <p:nvPr/>
        </p:nvSpPr>
        <p:spPr>
          <a:xfrm>
            <a:off x="6781800" y="247650"/>
            <a:ext cx="9525" cy="3810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1" name="文本框 540" descr="{&quot;isTemplate&quot;:true,&quot;type&quot;:&quot;text&quot;}"/>
          <p:cNvSpPr txBox="1"/>
          <p:nvPr/>
        </p:nvSpPr>
        <p:spPr>
          <a:xfrm>
            <a:off x="7429500" y="219075"/>
            <a:ext cx="342900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占股</a:t>
            </a:r>
            <a:endParaRPr/>
          </a:p>
        </p:txBody>
      </p:sp>
      <p:sp>
        <p:nvSpPr>
          <p:cNvPr id="542" name="文本框 541" descr="{&quot;isTemplate&quot;:true,&quot;type&quot;:&quot;text&quot;}"/>
          <p:cNvSpPr txBox="1"/>
          <p:nvPr/>
        </p:nvSpPr>
        <p:spPr>
          <a:xfrm>
            <a:off x="7848600" y="76201"/>
            <a:ext cx="466725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850" b="1" dirty="0">
                <a:solidFill>
                  <a:srgbClr val="FFFFFF"/>
                </a:solidFill>
                <a:latin typeface="DIN Alternate"/>
                <a:ea typeface="DIN Alternate"/>
              </a:rPr>
              <a:t>40</a:t>
            </a:r>
            <a:endParaRPr dirty="0"/>
          </a:p>
        </p:txBody>
      </p:sp>
      <p:sp>
        <p:nvSpPr>
          <p:cNvPr id="543" name="文本框 542" descr="{&quot;isTemplate&quot;:true,&quot;type&quot;:&quot;text&quot;}"/>
          <p:cNvSpPr txBox="1"/>
          <p:nvPr/>
        </p:nvSpPr>
        <p:spPr>
          <a:xfrm>
            <a:off x="8391525" y="219075"/>
            <a:ext cx="180975" cy="4381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>
                    <a:alpha val="90000"/>
                  </a:srgbClr>
                </a:solidFill>
                <a:latin typeface="Source Han Sans SC"/>
                <a:ea typeface="Source Han Sans SC"/>
              </a:rPr>
              <a:t>%</a:t>
            </a:r>
            <a:endParaRPr/>
          </a:p>
        </p:txBody>
      </p:sp>
      <p:sp>
        <p:nvSpPr>
          <p:cNvPr id="544" name="文本框 543" descr="{&quot;isTemplate&quot;:true,&quot;type&quot;:&quot;text&quot;}"/>
          <p:cNvSpPr txBox="1"/>
          <p:nvPr/>
        </p:nvSpPr>
        <p:spPr>
          <a:xfrm>
            <a:off x="9210675" y="352425"/>
            <a:ext cx="24098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协商定价体现信任</a:t>
            </a:r>
            <a:r>
              <a:rPr lang="en-US" sz="1125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125">
                <a:solidFill>
                  <a:srgbClr val="FFFFFF">
                    <a:alpha val="70000"/>
                  </a:srgbClr>
                </a:solidFill>
                <a:latin typeface="Source Han Sans SC"/>
                <a:ea typeface="Source Han Sans SC"/>
              </a:rPr>
              <a:t>现金入股保障发展</a:t>
            </a:r>
            <a:endParaRPr/>
          </a:p>
        </p:txBody>
      </p:sp>
      <p:sp>
        <p:nvSpPr>
          <p:cNvPr id="545" name="矩形: 圆角 544"/>
          <p:cNvSpPr/>
          <p:nvPr/>
        </p:nvSpPr>
        <p:spPr>
          <a:xfrm>
            <a:off x="571500" y="1047750"/>
            <a:ext cx="3552825" cy="3314700"/>
          </a:xfrm>
          <a:prstGeom prst="roundRect">
            <a:avLst>
              <a:gd name="adj" fmla="val 402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46" name="文本框 545" descr="{&quot;isTemplate&quot;:true,&quot;type&quot;:&quot;text&quot;}"/>
          <p:cNvSpPr txBox="1"/>
          <p:nvPr/>
        </p:nvSpPr>
        <p:spPr>
          <a:xfrm>
            <a:off x="762000" y="1219200"/>
            <a:ext cx="3171825" cy="333375"/>
          </a:xfrm>
          <a:prstGeom prst="rect">
            <a:avLst/>
          </a:prstGeom>
        </p:spPr>
        <p:txBody>
          <a:bodyPr wrap="none" lIns="0" tIns="0" rIns="0" bIns="5715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5C46"/>
                </a:solidFill>
                <a:latin typeface="Source Han Sans SC"/>
                <a:ea typeface="Source Han Sans SC"/>
              </a:rPr>
              <a:t>股权架构</a:t>
            </a:r>
            <a:endParaRPr/>
          </a:p>
        </p:txBody>
      </p:sp>
      <p:sp>
        <p:nvSpPr>
          <p:cNvPr id="547" name="矩形: 圆角 546"/>
          <p:cNvSpPr/>
          <p:nvPr/>
        </p:nvSpPr>
        <p:spPr>
          <a:xfrm>
            <a:off x="762000" y="1743075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48" name="文本框 547" descr="{&quot;isTemplate&quot;:true,&quot;type&quot;:&quot;text&quot;}"/>
          <p:cNvSpPr txBox="1"/>
          <p:nvPr/>
        </p:nvSpPr>
        <p:spPr>
          <a:xfrm>
            <a:off x="914400" y="1666875"/>
            <a:ext cx="301942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湖外全部以货币现金入股，持有公司</a:t>
            </a:r>
            <a:r>
              <a:rPr lang="en-US" sz="1200">
                <a:solidFill>
                  <a:srgbClr val="3A463F"/>
                </a:solidFill>
                <a:latin typeface="Source Han Sans SC"/>
                <a:ea typeface="Source Han Sans SC"/>
              </a:rPr>
              <a:t>40%</a:t>
            </a: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股权</a:t>
            </a:r>
            <a:endParaRPr/>
          </a:p>
        </p:txBody>
      </p:sp>
      <p:sp>
        <p:nvSpPr>
          <p:cNvPr id="549" name="矩形: 圆角 548"/>
          <p:cNvSpPr/>
          <p:nvPr/>
        </p:nvSpPr>
        <p:spPr>
          <a:xfrm>
            <a:off x="762000" y="2265048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0" name="文本框 549" descr="{&quot;isTemplate&quot;:true,&quot;type&quot;:&quot;text&quot;}"/>
          <p:cNvSpPr txBox="1"/>
          <p:nvPr/>
        </p:nvSpPr>
        <p:spPr>
          <a:xfrm>
            <a:off x="914400" y="2188848"/>
            <a:ext cx="3019425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00" dirty="0">
                <a:solidFill>
                  <a:srgbClr val="3A463F"/>
                </a:solidFill>
                <a:latin typeface="Source Han Sans SC"/>
                <a:ea typeface="Source Han Sans SC"/>
              </a:rPr>
              <a:t>原自然人股东持股</a:t>
            </a:r>
            <a:r>
              <a:rPr lang="en-US" sz="1200" dirty="0">
                <a:solidFill>
                  <a:srgbClr val="3A463F"/>
                </a:solidFill>
                <a:latin typeface="Source Han Sans SC"/>
                <a:ea typeface="Source Han Sans SC"/>
              </a:rPr>
              <a:t>60%</a:t>
            </a:r>
            <a:r>
              <a:rPr lang="zh-CN" sz="1200" dirty="0">
                <a:solidFill>
                  <a:srgbClr val="3A463F"/>
                </a:solidFill>
                <a:latin typeface="Source Han Sans SC"/>
                <a:ea typeface="Source Han Sans SC"/>
              </a:rPr>
              <a:t>并全权运营</a:t>
            </a:r>
            <a:endParaRPr dirty="0"/>
          </a:p>
        </p:txBody>
      </p:sp>
      <p:sp>
        <p:nvSpPr>
          <p:cNvPr id="551" name="矩形: 圆角 550"/>
          <p:cNvSpPr/>
          <p:nvPr/>
        </p:nvSpPr>
        <p:spPr>
          <a:xfrm>
            <a:off x="762000" y="2867025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2" name="文本框 551" descr="{&quot;isTemplate&quot;:true,&quot;type&quot;:&quot;text&quot;}"/>
          <p:cNvSpPr txBox="1"/>
          <p:nvPr/>
        </p:nvSpPr>
        <p:spPr>
          <a:xfrm>
            <a:off x="914400" y="2790825"/>
            <a:ext cx="3019425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校方场地仅校内台账登记备案，不折价抵扣入股资金，合作后正式交付常态化使用</a:t>
            </a:r>
            <a:endParaRPr/>
          </a:p>
        </p:txBody>
      </p:sp>
      <p:sp>
        <p:nvSpPr>
          <p:cNvPr id="553" name="矩形: 圆角 552"/>
          <p:cNvSpPr/>
          <p:nvPr/>
        </p:nvSpPr>
        <p:spPr>
          <a:xfrm>
            <a:off x="4314825" y="1047750"/>
            <a:ext cx="3562350" cy="3314700"/>
          </a:xfrm>
          <a:prstGeom prst="roundRect">
            <a:avLst>
              <a:gd name="adj" fmla="val 402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54" name="文本框 553" descr="{&quot;isTemplate&quot;:true,&quot;type&quot;:&quot;text&quot;}"/>
          <p:cNvSpPr txBox="1"/>
          <p:nvPr/>
        </p:nvSpPr>
        <p:spPr>
          <a:xfrm>
            <a:off x="4505325" y="1219200"/>
            <a:ext cx="3181350" cy="333375"/>
          </a:xfrm>
          <a:prstGeom prst="rect">
            <a:avLst/>
          </a:prstGeom>
        </p:spPr>
        <p:txBody>
          <a:bodyPr wrap="none" lIns="0" tIns="0" rIns="0" bIns="5715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5C46"/>
                </a:solidFill>
                <a:latin typeface="Source Han Sans SC"/>
                <a:ea typeface="Source Han Sans SC"/>
              </a:rPr>
              <a:t>估值逻辑</a:t>
            </a:r>
            <a:endParaRPr/>
          </a:p>
        </p:txBody>
      </p:sp>
      <p:sp>
        <p:nvSpPr>
          <p:cNvPr id="555" name="矩形: 圆角 554"/>
          <p:cNvSpPr/>
          <p:nvPr/>
        </p:nvSpPr>
        <p:spPr>
          <a:xfrm>
            <a:off x="4505325" y="1743075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6" name="文本框 555" descr="{&quot;isTemplate&quot;:true,&quot;type&quot;:&quot;text&quot;}"/>
          <p:cNvSpPr txBox="1"/>
          <p:nvPr/>
        </p:nvSpPr>
        <p:spPr>
          <a:xfrm>
            <a:off x="4657725" y="1666875"/>
            <a:ext cx="3028950" cy="2857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不引入第三方资产评估机构</a:t>
            </a:r>
            <a:endParaRPr/>
          </a:p>
        </p:txBody>
      </p:sp>
      <p:sp>
        <p:nvSpPr>
          <p:cNvPr id="557" name="矩形: 圆角 556"/>
          <p:cNvSpPr/>
          <p:nvPr/>
        </p:nvSpPr>
        <p:spPr>
          <a:xfrm>
            <a:off x="4505325" y="2162175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58" name="文本框 557" descr="{&quot;isTemplate&quot;:true,&quot;type&quot;:&quot;text&quot;}"/>
          <p:cNvSpPr txBox="1"/>
          <p:nvPr/>
        </p:nvSpPr>
        <p:spPr>
          <a:xfrm>
            <a:off x="4657725" y="2085975"/>
            <a:ext cx="30289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依托双方多年合作积淀、湖外宁平董事长对康养行业的深度研判</a:t>
            </a:r>
            <a:endParaRPr/>
          </a:p>
        </p:txBody>
      </p:sp>
      <p:sp>
        <p:nvSpPr>
          <p:cNvPr id="559" name="矩形: 圆角 558"/>
          <p:cNvSpPr/>
          <p:nvPr/>
        </p:nvSpPr>
        <p:spPr>
          <a:xfrm>
            <a:off x="4505325" y="2867025"/>
            <a:ext cx="76200" cy="76200"/>
          </a:xfrm>
          <a:prstGeom prst="roundRect">
            <a:avLst>
              <a:gd name="adj" fmla="val 12487500"/>
            </a:avLst>
          </a:pr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0" name="文本框 559" descr="{&quot;isTemplate&quot;:true,&quot;type&quot;:&quot;text&quot;}"/>
          <p:cNvSpPr txBox="1"/>
          <p:nvPr/>
        </p:nvSpPr>
        <p:spPr>
          <a:xfrm>
            <a:off x="4657725" y="2790825"/>
            <a:ext cx="3028950" cy="5715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以打造校园</a:t>
            </a:r>
            <a:r>
              <a:rPr lang="en-US" sz="1200">
                <a:solidFill>
                  <a:srgbClr val="3A463F"/>
                </a:solidFill>
                <a:latin typeface="Source Han Sans SC"/>
                <a:ea typeface="Source Han Sans SC"/>
              </a:rPr>
              <a:t> UBIC </a:t>
            </a: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养老社区全产业链闭环的长期战略目标协商确定</a:t>
            </a:r>
            <a:endParaRPr/>
          </a:p>
        </p:txBody>
      </p:sp>
      <p:sp>
        <p:nvSpPr>
          <p:cNvPr id="561" name="矩形: 圆角 560"/>
          <p:cNvSpPr/>
          <p:nvPr/>
        </p:nvSpPr>
        <p:spPr>
          <a:xfrm>
            <a:off x="8067675" y="1047750"/>
            <a:ext cx="3552825" cy="3314700"/>
          </a:xfrm>
          <a:prstGeom prst="roundRect">
            <a:avLst>
              <a:gd name="adj" fmla="val 402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62" name="文本框 561" descr="{&quot;isTemplate&quot;:true,&quot;type&quot;:&quot;text&quot;}"/>
          <p:cNvSpPr txBox="1"/>
          <p:nvPr/>
        </p:nvSpPr>
        <p:spPr>
          <a:xfrm>
            <a:off x="8258175" y="1219200"/>
            <a:ext cx="3171825" cy="333375"/>
          </a:xfrm>
          <a:prstGeom prst="rect">
            <a:avLst/>
          </a:prstGeom>
        </p:spPr>
        <p:txBody>
          <a:bodyPr wrap="none" lIns="0" tIns="0" rIns="0" bIns="5715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5C46"/>
                </a:solidFill>
                <a:latin typeface="Source Han Sans SC"/>
                <a:ea typeface="Source Han Sans SC"/>
              </a:rPr>
              <a:t>资金投向</a:t>
            </a:r>
            <a:endParaRPr/>
          </a:p>
        </p:txBody>
      </p:sp>
      <p:sp>
        <p:nvSpPr>
          <p:cNvPr id="563" name="矩形: 圆角 562"/>
          <p:cNvSpPr/>
          <p:nvPr/>
        </p:nvSpPr>
        <p:spPr>
          <a:xfrm>
            <a:off x="8258175" y="1666875"/>
            <a:ext cx="1457325" cy="1295400"/>
          </a:xfrm>
          <a:prstGeom prst="roundRect">
            <a:avLst>
              <a:gd name="adj" fmla="val 7353"/>
            </a:avLst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4" name="文本框 563" descr="{&quot;isTemplate&quot;:true,&quot;type&quot;:&quot;text&quot;}"/>
          <p:cNvSpPr txBox="1"/>
          <p:nvPr/>
        </p:nvSpPr>
        <p:spPr>
          <a:xfrm>
            <a:off x="8877300" y="2009775"/>
            <a:ext cx="2190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 dirty="0">
                <a:solidFill>
                  <a:srgbClr val="0F5C46"/>
                </a:solidFill>
                <a:latin typeface="DIN Alternate"/>
                <a:ea typeface="DIN Alternate"/>
              </a:rPr>
              <a:t>01</a:t>
            </a:r>
            <a:endParaRPr dirty="0"/>
          </a:p>
        </p:txBody>
      </p:sp>
      <p:sp>
        <p:nvSpPr>
          <p:cNvPr id="565" name="文本框 564" descr="{&quot;isTemplate&quot;:true,&quot;type&quot;:&quot;text&quot;}"/>
          <p:cNvSpPr txBox="1"/>
          <p:nvPr/>
        </p:nvSpPr>
        <p:spPr>
          <a:xfrm>
            <a:off x="8353425" y="2276475"/>
            <a:ext cx="1266825" cy="3429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sz="1125" dirty="0">
                <a:solidFill>
                  <a:srgbClr val="3A463F"/>
                </a:solidFill>
                <a:latin typeface="Source Han Sans SC"/>
                <a:ea typeface="Source Han Sans SC"/>
              </a:rPr>
              <a:t>多工种省级鉴定资质申报</a:t>
            </a:r>
            <a:endParaRPr dirty="0"/>
          </a:p>
        </p:txBody>
      </p:sp>
      <p:sp>
        <p:nvSpPr>
          <p:cNvPr id="566" name="矩形: 圆角 565"/>
          <p:cNvSpPr/>
          <p:nvPr/>
        </p:nvSpPr>
        <p:spPr>
          <a:xfrm>
            <a:off x="9829800" y="1666875"/>
            <a:ext cx="1457325" cy="1295400"/>
          </a:xfrm>
          <a:prstGeom prst="roundRect">
            <a:avLst>
              <a:gd name="adj" fmla="val 7353"/>
            </a:avLst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7" name="文本框 566" descr="{&quot;isTemplate&quot;:true,&quot;type&quot;:&quot;text&quot;}"/>
          <p:cNvSpPr txBox="1"/>
          <p:nvPr/>
        </p:nvSpPr>
        <p:spPr>
          <a:xfrm>
            <a:off x="10448925" y="2095500"/>
            <a:ext cx="2190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5C46"/>
                </a:solidFill>
                <a:latin typeface="DIN Alternate"/>
                <a:ea typeface="DIN Alternate"/>
              </a:rPr>
              <a:t>02</a:t>
            </a:r>
            <a:endParaRPr/>
          </a:p>
        </p:txBody>
      </p:sp>
      <p:sp>
        <p:nvSpPr>
          <p:cNvPr id="568" name="文本框 567" descr="{&quot;isTemplate&quot;:true,&quot;type&quot;:&quot;text&quot;}"/>
          <p:cNvSpPr txBox="1"/>
          <p:nvPr/>
        </p:nvSpPr>
        <p:spPr>
          <a:xfrm>
            <a:off x="9991725" y="2362200"/>
            <a:ext cx="1143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线上全国平台迭代</a:t>
            </a:r>
            <a:endParaRPr/>
          </a:p>
        </p:txBody>
      </p:sp>
      <p:sp>
        <p:nvSpPr>
          <p:cNvPr id="569" name="矩形: 圆角 568"/>
          <p:cNvSpPr/>
          <p:nvPr/>
        </p:nvSpPr>
        <p:spPr>
          <a:xfrm>
            <a:off x="8258175" y="3076575"/>
            <a:ext cx="1457325" cy="1114425"/>
          </a:xfrm>
          <a:prstGeom prst="roundRect">
            <a:avLst>
              <a:gd name="adj" fmla="val 8547"/>
            </a:avLst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0" name="文本框 569" descr="{&quot;isTemplate&quot;:true,&quot;type&quot;:&quot;text&quot;}"/>
          <p:cNvSpPr txBox="1"/>
          <p:nvPr/>
        </p:nvSpPr>
        <p:spPr>
          <a:xfrm>
            <a:off x="8877300" y="3419475"/>
            <a:ext cx="2190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5C46"/>
                </a:solidFill>
                <a:latin typeface="DIN Alternate"/>
                <a:ea typeface="DIN Alternate"/>
              </a:rPr>
              <a:t>03</a:t>
            </a:r>
            <a:endParaRPr/>
          </a:p>
        </p:txBody>
      </p:sp>
      <p:sp>
        <p:nvSpPr>
          <p:cNvPr id="571" name="文本框 570" descr="{&quot;isTemplate&quot;:true,&quot;type&quot;:&quot;text&quot;}"/>
          <p:cNvSpPr txBox="1"/>
          <p:nvPr/>
        </p:nvSpPr>
        <p:spPr>
          <a:xfrm>
            <a:off x="8705850" y="3686175"/>
            <a:ext cx="5715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 dirty="0">
                <a:solidFill>
                  <a:srgbClr val="3A463F"/>
                </a:solidFill>
                <a:latin typeface="Source Han Sans SC"/>
                <a:ea typeface="Source Han Sans SC"/>
              </a:rPr>
              <a:t>市场扩张</a:t>
            </a:r>
            <a:endParaRPr dirty="0"/>
          </a:p>
        </p:txBody>
      </p:sp>
      <p:sp>
        <p:nvSpPr>
          <p:cNvPr id="572" name="矩形: 圆角 571"/>
          <p:cNvSpPr/>
          <p:nvPr/>
        </p:nvSpPr>
        <p:spPr>
          <a:xfrm>
            <a:off x="9829800" y="3076575"/>
            <a:ext cx="1457325" cy="1114425"/>
          </a:xfrm>
          <a:prstGeom prst="roundRect">
            <a:avLst>
              <a:gd name="adj" fmla="val 8547"/>
            </a:avLst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3" name="文本框 572" descr="{&quot;isTemplate&quot;:true,&quot;type&quot;:&quot;text&quot;}"/>
          <p:cNvSpPr txBox="1"/>
          <p:nvPr/>
        </p:nvSpPr>
        <p:spPr>
          <a:xfrm>
            <a:off x="10448925" y="3419475"/>
            <a:ext cx="2190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5C46"/>
                </a:solidFill>
                <a:latin typeface="DIN Alternate"/>
                <a:ea typeface="DIN Alternate"/>
              </a:rPr>
              <a:t>04</a:t>
            </a:r>
            <a:endParaRPr/>
          </a:p>
        </p:txBody>
      </p:sp>
      <p:sp>
        <p:nvSpPr>
          <p:cNvPr id="574" name="文本框 573" descr="{&quot;isTemplate&quot;:true,&quot;type&quot;:&quot;text&quot;}"/>
          <p:cNvSpPr txBox="1"/>
          <p:nvPr/>
        </p:nvSpPr>
        <p:spPr>
          <a:xfrm>
            <a:off x="9991725" y="3686175"/>
            <a:ext cx="1143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考评师资团队扩充</a:t>
            </a:r>
            <a:endParaRPr/>
          </a:p>
        </p:txBody>
      </p:sp>
      <p:sp>
        <p:nvSpPr>
          <p:cNvPr id="575" name="矩形: 圆角 574"/>
          <p:cNvSpPr/>
          <p:nvPr/>
        </p:nvSpPr>
        <p:spPr>
          <a:xfrm>
            <a:off x="571500" y="4800600"/>
            <a:ext cx="11049000" cy="1447800"/>
          </a:xfrm>
          <a:prstGeom prst="roundRect">
            <a:avLst>
              <a:gd name="adj" fmla="val 921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76" name="文本框 575" descr="{&quot;isTemplate&quot;:true,&quot;type&quot;:&quot;text&quot;}"/>
          <p:cNvSpPr txBox="1"/>
          <p:nvPr/>
        </p:nvSpPr>
        <p:spPr>
          <a:xfrm>
            <a:off x="762000" y="4953000"/>
            <a:ext cx="1066800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F5C46"/>
                </a:solidFill>
                <a:latin typeface="Source Han Sans SC"/>
                <a:ea typeface="Source Han Sans SC"/>
              </a:rPr>
              <a:t>完整产业闭环</a:t>
            </a:r>
            <a:endParaRPr/>
          </a:p>
        </p:txBody>
      </p:sp>
      <p:sp>
        <p:nvSpPr>
          <p:cNvPr id="577" name="矩形: 圆角 576"/>
          <p:cNvSpPr/>
          <p:nvPr/>
        </p:nvSpPr>
        <p:spPr>
          <a:xfrm>
            <a:off x="762000" y="5267325"/>
            <a:ext cx="1314450" cy="723900"/>
          </a:xfrm>
          <a:prstGeom prst="roundRect">
            <a:avLst>
              <a:gd name="adj" fmla="val 13158"/>
            </a:avLst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78" name="文本框 577" descr="{&quot;isTemplate&quot;:true,&quot;type&quot;:&quot;text&quot;}"/>
          <p:cNvSpPr txBox="1"/>
          <p:nvPr/>
        </p:nvSpPr>
        <p:spPr>
          <a:xfrm>
            <a:off x="1343025" y="5410200"/>
            <a:ext cx="152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2E9E78"/>
                </a:solidFill>
                <a:latin typeface="DIN Alternate"/>
                <a:ea typeface="DIN Alternate"/>
              </a:rPr>
              <a:t>①</a:t>
            </a:r>
            <a:endParaRPr/>
          </a:p>
        </p:txBody>
      </p:sp>
      <p:sp>
        <p:nvSpPr>
          <p:cNvPr id="579" name="文本框 578" descr="{&quot;isTemplate&quot;:true,&quot;type&quot;:&quot;text&quot;}"/>
          <p:cNvSpPr txBox="1"/>
          <p:nvPr/>
        </p:nvSpPr>
        <p:spPr>
          <a:xfrm>
            <a:off x="952500" y="5638800"/>
            <a:ext cx="9334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35000"/>
              </a:lnSpc>
            </a:pPr>
            <a:r>
              <a:rPr lang="zh-CN" sz="1050">
                <a:solidFill>
                  <a:srgbClr val="1C2B24"/>
                </a:solidFill>
                <a:latin typeface="Source Han Sans SC"/>
                <a:ea typeface="Source Han Sans SC"/>
              </a:rPr>
              <a:t>湖外康养在校生</a:t>
            </a:r>
            <a:endParaRPr/>
          </a:p>
        </p:txBody>
      </p:sp>
      <p:sp>
        <p:nvSpPr>
          <p:cNvPr id="580" name="任意多边形: 形状 579"/>
          <p:cNvSpPr/>
          <p:nvPr/>
        </p:nvSpPr>
        <p:spPr>
          <a:xfrm>
            <a:off x="2076450" y="5629275"/>
            <a:ext cx="114300" cy="152400"/>
          </a:xfrm>
          <a:custGeom>
            <a:avLst/>
            <a:gdLst/>
            <a:ahLst/>
            <a:cxnLst/>
            <a:rect l="0" t="0" r="0" b="0"/>
            <a:pathLst>
              <a:path w="12" h="16">
                <a:moveTo>
                  <a:pt x="0" y="0"/>
                </a:moveTo>
                <a:lnTo>
                  <a:pt x="12" y="8"/>
                </a:lnTo>
                <a:lnTo>
                  <a:pt x="12" y="8"/>
                </a:lnTo>
                <a:lnTo>
                  <a:pt x="0" y="16"/>
                </a:lnTo>
                <a:close/>
              </a:path>
            </a:pathLst>
          </a:cu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1" name="任意多边形: 形状 580"/>
          <p:cNvSpPr/>
          <p:nvPr/>
        </p:nvSpPr>
        <p:spPr>
          <a:xfrm>
            <a:off x="2076450" y="5629275"/>
            <a:ext cx="114300" cy="152400"/>
          </a:xfrm>
          <a:custGeom>
            <a:avLst/>
            <a:gdLst/>
            <a:ahLst/>
            <a:cxnLst/>
            <a:rect l="0" t="0" r="0" b="0"/>
            <a:pathLst>
              <a:path w="12" h="16">
                <a:moveTo>
                  <a:pt x="0" y="0"/>
                </a:moveTo>
                <a:lnTo>
                  <a:pt x="12" y="0"/>
                </a:lnTo>
                <a:lnTo>
                  <a:pt x="12" y="8"/>
                </a:lnTo>
                <a:lnTo>
                  <a:pt x="12" y="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2" name="任意多边形: 形状 581"/>
          <p:cNvSpPr/>
          <p:nvPr/>
        </p:nvSpPr>
        <p:spPr>
          <a:xfrm>
            <a:off x="2076450" y="5629275"/>
            <a:ext cx="114300" cy="152400"/>
          </a:xfrm>
          <a:custGeom>
            <a:avLst/>
            <a:gdLst/>
            <a:ahLst/>
            <a:cxnLst/>
            <a:rect l="0" t="0" r="0" b="0"/>
            <a:pathLst>
              <a:path w="12" h="16">
                <a:moveTo>
                  <a:pt x="12" y="8"/>
                </a:moveTo>
                <a:lnTo>
                  <a:pt x="12" y="8"/>
                </a:lnTo>
                <a:lnTo>
                  <a:pt x="1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3" name="矩形: 圆角 582"/>
          <p:cNvSpPr/>
          <p:nvPr/>
        </p:nvSpPr>
        <p:spPr>
          <a:xfrm>
            <a:off x="2628900" y="5267325"/>
            <a:ext cx="1314450" cy="723900"/>
          </a:xfrm>
          <a:prstGeom prst="roundRect">
            <a:avLst>
              <a:gd name="adj" fmla="val 13158"/>
            </a:avLst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4" name="文本框 583" descr="{&quot;isTemplate&quot;:true,&quot;type&quot;:&quot;text&quot;}"/>
          <p:cNvSpPr txBox="1"/>
          <p:nvPr/>
        </p:nvSpPr>
        <p:spPr>
          <a:xfrm>
            <a:off x="3209925" y="5295900"/>
            <a:ext cx="152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2E9E78"/>
                </a:solidFill>
                <a:latin typeface="DIN Alternate"/>
                <a:ea typeface="DIN Alternate"/>
              </a:rPr>
              <a:t>②</a:t>
            </a:r>
            <a:endParaRPr/>
          </a:p>
        </p:txBody>
      </p:sp>
      <p:sp>
        <p:nvSpPr>
          <p:cNvPr id="585" name="文本框 584" descr="{&quot;isTemplate&quot;:true,&quot;type&quot;:&quot;text&quot;}"/>
          <p:cNvSpPr txBox="1"/>
          <p:nvPr/>
        </p:nvSpPr>
        <p:spPr>
          <a:xfrm>
            <a:off x="2705100" y="5524500"/>
            <a:ext cx="11620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35000"/>
              </a:lnSpc>
            </a:pPr>
            <a:r>
              <a:rPr lang="zh-CN" sz="1050">
                <a:solidFill>
                  <a:srgbClr val="1C2B24"/>
                </a:solidFill>
                <a:latin typeface="Source Han Sans SC"/>
                <a:ea typeface="Source Han Sans SC"/>
              </a:rPr>
              <a:t>校内专属实训基地实操</a:t>
            </a:r>
            <a:endParaRPr/>
          </a:p>
        </p:txBody>
      </p:sp>
      <p:sp>
        <p:nvSpPr>
          <p:cNvPr id="586" name="任意多边形: 形状 585"/>
          <p:cNvSpPr/>
          <p:nvPr/>
        </p:nvSpPr>
        <p:spPr>
          <a:xfrm>
            <a:off x="3943350" y="5629275"/>
            <a:ext cx="114300" cy="152400"/>
          </a:xfrm>
          <a:custGeom>
            <a:avLst/>
            <a:gdLst/>
            <a:ahLst/>
            <a:cxnLst/>
            <a:rect l="0" t="0" r="0" b="0"/>
            <a:pathLst>
              <a:path w="12" h="16">
                <a:moveTo>
                  <a:pt x="0" y="0"/>
                </a:moveTo>
                <a:lnTo>
                  <a:pt x="12" y="8"/>
                </a:lnTo>
                <a:lnTo>
                  <a:pt x="12" y="8"/>
                </a:lnTo>
                <a:lnTo>
                  <a:pt x="0" y="16"/>
                </a:lnTo>
                <a:close/>
              </a:path>
            </a:pathLst>
          </a:cu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7" name="任意多边形: 形状 586"/>
          <p:cNvSpPr/>
          <p:nvPr/>
        </p:nvSpPr>
        <p:spPr>
          <a:xfrm>
            <a:off x="3943350" y="5629275"/>
            <a:ext cx="114300" cy="152400"/>
          </a:xfrm>
          <a:custGeom>
            <a:avLst/>
            <a:gdLst/>
            <a:ahLst/>
            <a:cxnLst/>
            <a:rect l="0" t="0" r="0" b="0"/>
            <a:pathLst>
              <a:path w="12" h="16">
                <a:moveTo>
                  <a:pt x="0" y="0"/>
                </a:moveTo>
                <a:lnTo>
                  <a:pt x="12" y="0"/>
                </a:lnTo>
                <a:lnTo>
                  <a:pt x="12" y="8"/>
                </a:lnTo>
                <a:lnTo>
                  <a:pt x="12" y="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8" name="任意多边形: 形状 587"/>
          <p:cNvSpPr/>
          <p:nvPr/>
        </p:nvSpPr>
        <p:spPr>
          <a:xfrm>
            <a:off x="3943350" y="5629275"/>
            <a:ext cx="114300" cy="152400"/>
          </a:xfrm>
          <a:custGeom>
            <a:avLst/>
            <a:gdLst/>
            <a:ahLst/>
            <a:cxnLst/>
            <a:rect l="0" t="0" r="0" b="0"/>
            <a:pathLst>
              <a:path w="12" h="16">
                <a:moveTo>
                  <a:pt x="12" y="8"/>
                </a:moveTo>
                <a:lnTo>
                  <a:pt x="12" y="8"/>
                </a:lnTo>
                <a:lnTo>
                  <a:pt x="1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89" name="矩形: 圆角 588"/>
          <p:cNvSpPr/>
          <p:nvPr/>
        </p:nvSpPr>
        <p:spPr>
          <a:xfrm>
            <a:off x="4505325" y="5267325"/>
            <a:ext cx="1314450" cy="723900"/>
          </a:xfrm>
          <a:prstGeom prst="roundRect">
            <a:avLst>
              <a:gd name="adj" fmla="val 13158"/>
            </a:avLst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0" name="文本框 589" descr="{&quot;isTemplate&quot;:true,&quot;type&quot;:&quot;text&quot;}"/>
          <p:cNvSpPr txBox="1"/>
          <p:nvPr/>
        </p:nvSpPr>
        <p:spPr>
          <a:xfrm>
            <a:off x="5086350" y="5410200"/>
            <a:ext cx="152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2E9E78"/>
                </a:solidFill>
                <a:latin typeface="DIN Alternate"/>
                <a:ea typeface="DIN Alternate"/>
              </a:rPr>
              <a:t>③</a:t>
            </a:r>
            <a:endParaRPr/>
          </a:p>
        </p:txBody>
      </p:sp>
      <p:sp>
        <p:nvSpPr>
          <p:cNvPr id="591" name="文本框 590" descr="{&quot;isTemplate&quot;:true,&quot;type&quot;:&quot;text&quot;}"/>
          <p:cNvSpPr txBox="1"/>
          <p:nvPr/>
        </p:nvSpPr>
        <p:spPr>
          <a:xfrm>
            <a:off x="4629150" y="5638800"/>
            <a:ext cx="10668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35000"/>
              </a:lnSpc>
            </a:pPr>
            <a:r>
              <a:rPr lang="zh-CN" sz="1050" dirty="0">
                <a:solidFill>
                  <a:srgbClr val="1C2B24"/>
                </a:solidFill>
                <a:latin typeface="Source Han Sans SC"/>
                <a:ea typeface="Source Han Sans SC"/>
              </a:rPr>
              <a:t>省级技能鉴定发证</a:t>
            </a:r>
            <a:endParaRPr dirty="0"/>
          </a:p>
        </p:txBody>
      </p:sp>
      <p:sp>
        <p:nvSpPr>
          <p:cNvPr id="592" name="任意多边形: 形状 591"/>
          <p:cNvSpPr/>
          <p:nvPr/>
        </p:nvSpPr>
        <p:spPr>
          <a:xfrm>
            <a:off x="5819775" y="5629275"/>
            <a:ext cx="114300" cy="152400"/>
          </a:xfrm>
          <a:custGeom>
            <a:avLst/>
            <a:gdLst/>
            <a:ahLst/>
            <a:cxnLst/>
            <a:rect l="0" t="0" r="0" b="0"/>
            <a:pathLst>
              <a:path w="12" h="16">
                <a:moveTo>
                  <a:pt x="0" y="0"/>
                </a:moveTo>
                <a:lnTo>
                  <a:pt x="12" y="8"/>
                </a:lnTo>
                <a:lnTo>
                  <a:pt x="12" y="8"/>
                </a:lnTo>
                <a:lnTo>
                  <a:pt x="0" y="16"/>
                </a:lnTo>
                <a:close/>
              </a:path>
            </a:pathLst>
          </a:cu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3" name="任意多边形: 形状 592"/>
          <p:cNvSpPr/>
          <p:nvPr/>
        </p:nvSpPr>
        <p:spPr>
          <a:xfrm>
            <a:off x="5819775" y="5629275"/>
            <a:ext cx="114300" cy="152400"/>
          </a:xfrm>
          <a:custGeom>
            <a:avLst/>
            <a:gdLst/>
            <a:ahLst/>
            <a:cxnLst/>
            <a:rect l="0" t="0" r="0" b="0"/>
            <a:pathLst>
              <a:path w="12" h="16">
                <a:moveTo>
                  <a:pt x="0" y="0"/>
                </a:moveTo>
                <a:lnTo>
                  <a:pt x="12" y="0"/>
                </a:lnTo>
                <a:lnTo>
                  <a:pt x="12" y="8"/>
                </a:lnTo>
                <a:lnTo>
                  <a:pt x="12" y="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4" name="任意多边形: 形状 593"/>
          <p:cNvSpPr/>
          <p:nvPr/>
        </p:nvSpPr>
        <p:spPr>
          <a:xfrm>
            <a:off x="5819775" y="5629275"/>
            <a:ext cx="114300" cy="152400"/>
          </a:xfrm>
          <a:custGeom>
            <a:avLst/>
            <a:gdLst/>
            <a:ahLst/>
            <a:cxnLst/>
            <a:rect l="0" t="0" r="0" b="0"/>
            <a:pathLst>
              <a:path w="12" h="16">
                <a:moveTo>
                  <a:pt x="12" y="8"/>
                </a:moveTo>
                <a:lnTo>
                  <a:pt x="12" y="8"/>
                </a:lnTo>
                <a:lnTo>
                  <a:pt x="1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6" name="文本框 595" descr="{&quot;isTemplate&quot;:true,&quot;type&quot;:&quot;text&quot;}"/>
          <p:cNvSpPr txBox="1"/>
          <p:nvPr/>
        </p:nvSpPr>
        <p:spPr>
          <a:xfrm>
            <a:off x="6953250" y="5295900"/>
            <a:ext cx="152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 b="1" dirty="0">
                <a:solidFill>
                  <a:srgbClr val="7FE3C0"/>
                </a:solidFill>
                <a:latin typeface="DIN Alternate"/>
                <a:ea typeface="DIN Alternate"/>
              </a:rPr>
              <a:t>④</a:t>
            </a:r>
            <a:endParaRPr dirty="0"/>
          </a:p>
        </p:txBody>
      </p:sp>
      <p:sp>
        <p:nvSpPr>
          <p:cNvPr id="597" name="文本框 596" descr="{&quot;isTemplate&quot;:true,&quot;type&quot;:&quot;text&quot;}"/>
          <p:cNvSpPr txBox="1"/>
          <p:nvPr/>
        </p:nvSpPr>
        <p:spPr>
          <a:xfrm>
            <a:off x="6410325" y="5524500"/>
            <a:ext cx="11620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35000"/>
              </a:lnSpc>
            </a:pPr>
            <a:r>
              <a:rPr lang="zh-CN" sz="1050" dirty="0">
                <a:latin typeface="Source Han Sans SC"/>
                <a:ea typeface="Source Han Sans SC"/>
              </a:rPr>
              <a:t>校内</a:t>
            </a:r>
            <a:r>
              <a:rPr lang="en-US" sz="1050" dirty="0">
                <a:latin typeface="Source Han Sans SC"/>
                <a:ea typeface="Source Han Sans SC"/>
              </a:rPr>
              <a:t> UBIC </a:t>
            </a:r>
            <a:r>
              <a:rPr lang="zh-CN" sz="1050" dirty="0">
                <a:latin typeface="Source Han Sans SC"/>
                <a:ea typeface="Source Han Sans SC"/>
              </a:rPr>
              <a:t>养老社区定向就业</a:t>
            </a:r>
            <a:endParaRPr dirty="0"/>
          </a:p>
        </p:txBody>
      </p:sp>
      <p:sp>
        <p:nvSpPr>
          <p:cNvPr id="598" name="任意多边形: 形状 597"/>
          <p:cNvSpPr/>
          <p:nvPr/>
        </p:nvSpPr>
        <p:spPr>
          <a:xfrm>
            <a:off x="7686675" y="5629275"/>
            <a:ext cx="114300" cy="152400"/>
          </a:xfrm>
          <a:custGeom>
            <a:avLst/>
            <a:gdLst/>
            <a:ahLst/>
            <a:cxnLst/>
            <a:rect l="0" t="0" r="0" b="0"/>
            <a:pathLst>
              <a:path w="12" h="16">
                <a:moveTo>
                  <a:pt x="0" y="0"/>
                </a:moveTo>
                <a:lnTo>
                  <a:pt x="12" y="8"/>
                </a:lnTo>
                <a:lnTo>
                  <a:pt x="12" y="8"/>
                </a:lnTo>
                <a:lnTo>
                  <a:pt x="0" y="16"/>
                </a:lnTo>
                <a:close/>
              </a:path>
            </a:pathLst>
          </a:cu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99" name="任意多边形: 形状 598"/>
          <p:cNvSpPr/>
          <p:nvPr/>
        </p:nvSpPr>
        <p:spPr>
          <a:xfrm>
            <a:off x="7686675" y="5629275"/>
            <a:ext cx="114300" cy="152400"/>
          </a:xfrm>
          <a:custGeom>
            <a:avLst/>
            <a:gdLst/>
            <a:ahLst/>
            <a:cxnLst/>
            <a:rect l="0" t="0" r="0" b="0"/>
            <a:pathLst>
              <a:path w="12" h="16">
                <a:moveTo>
                  <a:pt x="0" y="0"/>
                </a:moveTo>
                <a:lnTo>
                  <a:pt x="12" y="0"/>
                </a:lnTo>
                <a:lnTo>
                  <a:pt x="12" y="8"/>
                </a:lnTo>
                <a:lnTo>
                  <a:pt x="12" y="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0" name="任意多边形: 形状 599"/>
          <p:cNvSpPr/>
          <p:nvPr/>
        </p:nvSpPr>
        <p:spPr>
          <a:xfrm>
            <a:off x="7686675" y="5629275"/>
            <a:ext cx="114300" cy="152400"/>
          </a:xfrm>
          <a:custGeom>
            <a:avLst/>
            <a:gdLst/>
            <a:ahLst/>
            <a:cxnLst/>
            <a:rect l="0" t="0" r="0" b="0"/>
            <a:pathLst>
              <a:path w="12" h="16">
                <a:moveTo>
                  <a:pt x="12" y="8"/>
                </a:moveTo>
                <a:lnTo>
                  <a:pt x="12" y="8"/>
                </a:lnTo>
                <a:lnTo>
                  <a:pt x="1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1" name="矩形: 圆角 600"/>
          <p:cNvSpPr/>
          <p:nvPr/>
        </p:nvSpPr>
        <p:spPr>
          <a:xfrm>
            <a:off x="8248650" y="5267325"/>
            <a:ext cx="1314450" cy="723900"/>
          </a:xfrm>
          <a:prstGeom prst="roundRect">
            <a:avLst>
              <a:gd name="adj" fmla="val 13158"/>
            </a:avLst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2" name="文本框 601" descr="{&quot;isTemplate&quot;:true,&quot;type&quot;:&quot;text&quot;}"/>
          <p:cNvSpPr txBox="1"/>
          <p:nvPr/>
        </p:nvSpPr>
        <p:spPr>
          <a:xfrm>
            <a:off x="8829675" y="5295900"/>
            <a:ext cx="152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2E9E78"/>
                </a:solidFill>
                <a:latin typeface="DIN Alternate"/>
                <a:ea typeface="DIN Alternate"/>
              </a:rPr>
              <a:t>⑤</a:t>
            </a:r>
            <a:endParaRPr/>
          </a:p>
        </p:txBody>
      </p:sp>
      <p:sp>
        <p:nvSpPr>
          <p:cNvPr id="603" name="文本框 602" descr="{&quot;isTemplate&quot;:true,&quot;type&quot;:&quot;text&quot;}"/>
          <p:cNvSpPr txBox="1"/>
          <p:nvPr/>
        </p:nvSpPr>
        <p:spPr>
          <a:xfrm>
            <a:off x="8324850" y="5524500"/>
            <a:ext cx="1162050" cy="4381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35000"/>
              </a:lnSpc>
            </a:pPr>
            <a:r>
              <a:rPr lang="zh-CN" sz="1050">
                <a:solidFill>
                  <a:srgbClr val="1C2B24"/>
                </a:solidFill>
                <a:latin typeface="Source Han Sans SC"/>
                <a:ea typeface="Source Han Sans SC"/>
              </a:rPr>
              <a:t>全国养老机构人才输送</a:t>
            </a:r>
            <a:endParaRPr/>
          </a:p>
        </p:txBody>
      </p:sp>
      <p:sp>
        <p:nvSpPr>
          <p:cNvPr id="604" name="任意多边形: 形状 603"/>
          <p:cNvSpPr/>
          <p:nvPr/>
        </p:nvSpPr>
        <p:spPr>
          <a:xfrm>
            <a:off x="9563100" y="5629275"/>
            <a:ext cx="114300" cy="152400"/>
          </a:xfrm>
          <a:custGeom>
            <a:avLst/>
            <a:gdLst/>
            <a:ahLst/>
            <a:cxnLst/>
            <a:rect l="0" t="0" r="0" b="0"/>
            <a:pathLst>
              <a:path w="12" h="16">
                <a:moveTo>
                  <a:pt x="0" y="0"/>
                </a:moveTo>
                <a:lnTo>
                  <a:pt x="12" y="8"/>
                </a:lnTo>
                <a:lnTo>
                  <a:pt x="12" y="8"/>
                </a:lnTo>
                <a:lnTo>
                  <a:pt x="0" y="16"/>
                </a:lnTo>
                <a:close/>
              </a:path>
            </a:pathLst>
          </a:cu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5" name="任意多边形: 形状 604"/>
          <p:cNvSpPr/>
          <p:nvPr/>
        </p:nvSpPr>
        <p:spPr>
          <a:xfrm>
            <a:off x="9563100" y="5629275"/>
            <a:ext cx="114300" cy="152400"/>
          </a:xfrm>
          <a:custGeom>
            <a:avLst/>
            <a:gdLst/>
            <a:ahLst/>
            <a:cxnLst/>
            <a:rect l="0" t="0" r="0" b="0"/>
            <a:pathLst>
              <a:path w="12" h="16">
                <a:moveTo>
                  <a:pt x="0" y="0"/>
                </a:moveTo>
                <a:lnTo>
                  <a:pt x="12" y="0"/>
                </a:lnTo>
                <a:lnTo>
                  <a:pt x="12" y="8"/>
                </a:lnTo>
                <a:lnTo>
                  <a:pt x="12" y="8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6" name="任意多边形: 形状 605"/>
          <p:cNvSpPr/>
          <p:nvPr/>
        </p:nvSpPr>
        <p:spPr>
          <a:xfrm>
            <a:off x="9563100" y="5629275"/>
            <a:ext cx="114300" cy="152400"/>
          </a:xfrm>
          <a:custGeom>
            <a:avLst/>
            <a:gdLst/>
            <a:ahLst/>
            <a:cxnLst/>
            <a:rect l="0" t="0" r="0" b="0"/>
            <a:pathLst>
              <a:path w="12" h="16">
                <a:moveTo>
                  <a:pt x="12" y="8"/>
                </a:moveTo>
                <a:lnTo>
                  <a:pt x="12" y="8"/>
                </a:lnTo>
                <a:lnTo>
                  <a:pt x="12" y="16"/>
                </a:lnTo>
                <a:lnTo>
                  <a:pt x="0" y="16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7" name="矩形: 圆角 606"/>
          <p:cNvSpPr/>
          <p:nvPr/>
        </p:nvSpPr>
        <p:spPr>
          <a:xfrm>
            <a:off x="10115550" y="5267325"/>
            <a:ext cx="1314450" cy="723900"/>
          </a:xfrm>
          <a:prstGeom prst="roundRect">
            <a:avLst>
              <a:gd name="adj" fmla="val 13158"/>
            </a:avLst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8" name="文本框 607" descr="{&quot;isTemplate&quot;:true,&quot;type&quot;:&quot;text&quot;}"/>
          <p:cNvSpPr txBox="1"/>
          <p:nvPr/>
        </p:nvSpPr>
        <p:spPr>
          <a:xfrm>
            <a:off x="10696575" y="5410200"/>
            <a:ext cx="152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200" b="1">
                <a:solidFill>
                  <a:srgbClr val="2E9E78"/>
                </a:solidFill>
                <a:latin typeface="DIN Alternate"/>
                <a:ea typeface="DIN Alternate"/>
              </a:rPr>
              <a:t>⑥</a:t>
            </a:r>
            <a:endParaRPr/>
          </a:p>
        </p:txBody>
      </p:sp>
      <p:sp>
        <p:nvSpPr>
          <p:cNvPr id="609" name="文本框 608" descr="{&quot;isTemplate&quot;:true,&quot;type&quot;:&quot;text&quot;}"/>
          <p:cNvSpPr txBox="1"/>
          <p:nvPr/>
        </p:nvSpPr>
        <p:spPr>
          <a:xfrm>
            <a:off x="10239375" y="5638800"/>
            <a:ext cx="10668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35000"/>
              </a:lnSpc>
            </a:pPr>
            <a:r>
              <a:rPr lang="zh-CN" sz="1050">
                <a:solidFill>
                  <a:srgbClr val="1C2B24"/>
                </a:solidFill>
                <a:latin typeface="Source Han Sans SC"/>
                <a:ea typeface="Source Han Sans SC"/>
              </a:rPr>
              <a:t>养老机构咨询服务</a:t>
            </a:r>
            <a:endParaRPr/>
          </a:p>
        </p:txBody>
      </p:sp>
      <p:sp>
        <p:nvSpPr>
          <p:cNvPr id="610" name="文本框 609" descr="{&quot;isTemplate&quot;:true,&quot;type&quot;:&quot;text&quot;}"/>
          <p:cNvSpPr txBox="1"/>
          <p:nvPr/>
        </p:nvSpPr>
        <p:spPr>
          <a:xfrm>
            <a:off x="5124450" y="6505575"/>
            <a:ext cx="1952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叁竹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×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湖外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校企合作商业计划书</a:t>
            </a:r>
            <a:endParaRPr/>
          </a:p>
        </p:txBody>
      </p:sp>
      <p:sp>
        <p:nvSpPr>
          <p:cNvPr id="611" name="文本框 610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05 / 27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width: '1280px', height: '720px', fontFamily: &quot;'Source Han Sans SC', 'Microsoft YaHei', sans-serif&quot; }}&gt;&#10;  &lt;Image src=&quot;assets/hero_garden.png&quot; style={{ position: 'absolute', top: 0, left: 0, width: '100%', height: '100%', objectFit: 'cover' }} /&gt;&#10;  &lt;Box style={{ position: 'absolute', top: 0, left: 0, right: 0, bottom: 0, background: 'linear-gradient(135deg, rgba(10,43,77,0.82) 0%, rgba(15,92,70,0.78) 100%)' }} /&gt;&#10;&#10;  &lt;Box style={{ position: 'absolute', left: 0, right: 0, bottom: 0, height: 240, overflow: 'hidden' }}&gt;&#10;    &lt;svg width='1280' height='240' viewBox='0 0 1280 240' style={{ position: 'absolute', bottom: 0 }}&gt;&#10;      &lt;path d='M0,90 C340,20 920,180 1280,70 L1280,240 L0,240 Z' fill='rgba(10,43,77,0.55)' /&gt;&#10;      &lt;path d='M0,150 C380,80 900,210 1280,120 L1280,240 L0,240 Z' fill='rgba(10,43,77,0.40)' /&gt;&#10;    &lt;/svg&gt;&#10;  &lt;/Box&gt;&#10;&#10;  &lt;Box style={{ position: 'absolute', top: 0, left: 0, right: 0, bottom: 0, justifyContent: 'center', alignItems: 'center' }}&gt;&#10;    &lt;Box style={{ width: 200, height: 200, borderRadius: 999, background: 'rgba(255,255,255,0.12)', border: '4px solid rgba(255,255,255,0.35)', justifyContent: 'center', alignItems: 'center', marginBottom: 36 }}&gt;&#10;      &lt;Text style={{ color: '#FFFFFF', fontSize: 96, fontWeight: 'bold', fontFamily: &quot;'DIN Alternate','Inter',sans-serif&quot; }}&gt;02&lt;/Text&gt;&#10;    &lt;/Box&gt;&#10;    &lt;Text style={{ color: '#FFFFFF', fontSize: 56, fontWeight: 'bold', textShadow: '0 4px 18px rgba(0,0,0,0.35)' }}&gt;二、合作渊源与动因&lt;/Text&gt;&#10;    &lt;Text style={{ color: 'rgba(255,255,255,0.82)', fontSize: 22, marginTop: 18, letterSpacing: 2 }}&gt;从长期共建到股权战略合作&lt;/Text&gt;&#10;  &lt;/Box&gt;&#10;&#10;  &lt;Text style={{ position: 'absolute', bottom: 48, left: 0, right: 0, textAlign: 'center', color: 'rgba(255,255,255,0.6)', fontSize: 15 }}&gt;&#10;    叁竹 × 湖外 校企合作商业计划书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3" name="图片 612"/>
          <p:cNvPicPr>
            <a:picLocks noChangeAspect="1"/>
          </p:cNvPicPr>
          <p:nvPr/>
        </p:nvPicPr>
        <p:blipFill>
          <a:blip r:embed="rId2"/>
          <a:srcRect t="8894" b="889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14" name="矩形 6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2B4D">
                  <a:alpha val="82000"/>
                </a:srgbClr>
              </a:gs>
              <a:gs pos="100000">
                <a:srgbClr val="0F5C46">
                  <a:alpha val="78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615" name="图形 6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572000"/>
            <a:ext cx="12192000" cy="2286000"/>
          </a:xfrm>
          <a:prstGeom prst="rect">
            <a:avLst/>
          </a:prstGeom>
          <a:ln/>
        </p:spPr>
      </p:pic>
      <p:sp>
        <p:nvSpPr>
          <p:cNvPr id="616" name="矩形: 圆角 615"/>
          <p:cNvSpPr/>
          <p:nvPr/>
        </p:nvSpPr>
        <p:spPr>
          <a:xfrm>
            <a:off x="5143500" y="1771650"/>
            <a:ext cx="1905000" cy="1905000"/>
          </a:xfrm>
          <a:prstGeom prst="roundRect">
            <a:avLst>
              <a:gd name="adj" fmla="val 499500"/>
            </a:avLst>
          </a:prstGeom>
          <a:solidFill>
            <a:srgbClr val="FFFFFF">
              <a:alpha val="12000"/>
            </a:srgbClr>
          </a:solidFill>
          <a:ln w="508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7" name="文本框 616" descr="{&quot;isTemplate&quot;:true,&quot;type&quot;:&quot;text&quot;}"/>
          <p:cNvSpPr txBox="1"/>
          <p:nvPr/>
        </p:nvSpPr>
        <p:spPr>
          <a:xfrm>
            <a:off x="5514975" y="2171700"/>
            <a:ext cx="1171575" cy="1104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DIN Alternate"/>
                <a:ea typeface="DIN Alternate"/>
              </a:rPr>
              <a:t>02</a:t>
            </a:r>
            <a:endParaRPr/>
          </a:p>
        </p:txBody>
      </p:sp>
      <p:sp>
        <p:nvSpPr>
          <p:cNvPr id="618" name="文本框 617" descr="{&quot;isTemplate&quot;:true,&quot;type&quot;:&quot;text&quot;}"/>
          <p:cNvSpPr txBox="1"/>
          <p:nvPr/>
        </p:nvSpPr>
        <p:spPr>
          <a:xfrm>
            <a:off x="3695700" y="4019550"/>
            <a:ext cx="4800600" cy="647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effectLst>
                  <a:outerShdw blurRad="171450" dist="38100" dir="5400000">
                    <a:srgbClr val="000000">
                      <a:alpha val="35000"/>
                    </a:srgbClr>
                  </a:outerShdw>
                </a:effectLst>
                <a:latin typeface="Source Han Sans SC"/>
                <a:ea typeface="Source Han Sans SC"/>
              </a:rPr>
              <a:t>二、合作渊源与动因</a:t>
            </a:r>
            <a:endParaRPr/>
          </a:p>
        </p:txBody>
      </p:sp>
      <p:sp>
        <p:nvSpPr>
          <p:cNvPr id="619" name="文本框 618" descr="{&quot;isTemplate&quot;:true,&quot;type&quot;:&quot;text&quot;}"/>
          <p:cNvSpPr txBox="1"/>
          <p:nvPr/>
        </p:nvSpPr>
        <p:spPr>
          <a:xfrm>
            <a:off x="4724400" y="4838700"/>
            <a:ext cx="27432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从长期共建到股权战略合作</a:t>
            </a:r>
            <a:endParaRPr/>
          </a:p>
        </p:txBody>
      </p:sp>
      <p:sp>
        <p:nvSpPr>
          <p:cNvPr id="620" name="文本框 619" descr="{&quot;isTemplate&quot;:true,&quot;type&quot;:&quot;text&quot;}"/>
          <p:cNvSpPr txBox="1"/>
          <p:nvPr/>
        </p:nvSpPr>
        <p:spPr>
          <a:xfrm>
            <a:off x="-1" y="6229350"/>
            <a:ext cx="12191999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叁竹</a:t>
            </a: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× </a:t>
            </a: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湖外</a:t>
            </a: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</a:t>
            </a: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校企合作商业计划书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background: '#F4F9F6', fontFamily: &quot;'Source Han Sans SC', 'Microsoft YaHei', sans-serif&quot; }}&gt;&#10;  &lt;Box style={{ position: 'absolute', top: 0, left: 0, right: 0, height: 110, paddingLeft: 60, paddingRight: 60, flexDirection: 'row', alignItems: 'center' }}&gt;&#10;    &lt;Box style={{ width: 6, height: 44, background: '#0F5C46', borderRadius: 3, marginRight: 18 }} /&gt;&#10;    &lt;Text style={{ fontSize: 34, fontWeight: 'bold', color: '#1C2B24' }}&gt;校企合作渊源 · 长期历史与双向动因&lt;/Text&gt;&#10;  &lt;/Box&gt;&#10;&#10;  &lt;Box style={{ position: 'absolute', top: 124, left: 60, right: 60, bottom: 64, flexDirection: 'row', gap: 24 }}&gt;&#10;    {/* 左：长期合作历史 60% */}&#10;    &lt;Box style={{ flex: 1.4, background: '#FFFFFF', borderRadius: 14, padding: '20px 24px', boxShadow: '0 4px 16px rgba(15,92,70,0.08)', flexDirection: 'column' }}&gt;&#10;      &lt;Text style={{ fontSize: 22, fontWeight: 'bold', color: '#0F5C46', marginBottom: 12 }}&gt;（一）长期合作历史&lt;/Text&gt;&#10;      {[&#10;        ['共建学院根基', '健康管理学院由双方董事长合力创办，李永国教授参与专业搭建、资源导入，退出经营后仍持续输送产业资源。'],&#10;        ['注册挂靠无专属场地', '叁竹仅工商地址落户校内，校方多年未划分独立实训/办公区，场地仅迎检，日常无固定场地支撑。'],&#10;        ['鉴定资质共建实绩', '湖外健康照护师校内鉴定资质申报材料、课程标准、考评流程均由叁竹团队落地，是资质获批核心支撑。'],&#10;        ['前期仅意向沟通', '未签署任何合作协议、无落地项目，本次为基于长期信任升级的全新深度绑定合作模式。'],&#10;      ].map((it, i) =&gt; (&#10;        &lt;Box key={i} style={{ flexDirection: 'row', gap: 12, marginBottom: 12 }}&gt;&#10;          &lt;Text style={{ color: '#2E9E78', fontSize: 18, fontWeight: 'bold', marginTop: 2 }}&gt;●&lt;/Text&gt;&#10;          &lt;Box&gt;&#10;            &lt;Text style={{ fontSize: 18, fontWeight: 'bold', color: '#1C2B24' }}&gt;{it[0]}&lt;/Text&gt;&#10;            &lt;Text style={{ fontSize: 16, color: '#3A463F', lineHeight: 1.5, marginTop: 2 }}&gt;{it[1]}&lt;/Text&gt;&#10;          &lt;/Box&gt;&#10;        &lt;/Box&gt;&#10;      ))}&#10;    &lt;/Box&gt;&#10;&#10;    {/* 右：双方动因 40% */}&#10;    &lt;Box style={{ flex: 1, flexDirection: 'column', gap: 18 }}&gt;&#10;      &lt;Box style={{ background: 'rgba(46,158,120,0.10)', border: '1px solid #D9E8E1', borderRadius: 14, padding: '18px 20px', flex: 1 }}&gt;&#10;        &lt;Text style={{ fontSize: 20, fontWeight: 'bold', color: '#0F5C46', marginBottom: 8 }}&gt;（二）湖外合作动因&lt;/Text&gt;&#10;        &lt;Text style={{ fontSize: 16, color: '#3A463F', lineHeight: 1.55 }}&gt;· 专业转型：外语赛道受 AI 冲击，养老照护为政策扶持朝阳产业，打造王牌特色专业。{'\n'}· 盘活闲置资产：实训场地、办公用房、UBIC 社区一次性转化为实体产业配套。{'\n'}· 补齐运营短板：依托叁竹产业体系快速搭建完整康养产业链。&lt;/Text&gt;&#10;      &lt;/Box&gt;&#10;      &lt;Box style={{ background: 'rgba(10,43,77,0.08)', border: '1px solid #D9E8E1', borderRadius: 14, padding: '18px 20px', flex: 1 }}&gt;&#10;        &lt;Text style={{ fontSize: 20, fontWeight: 'bold', color: '#0A2B4D', marginBottom: 8 }}&gt;（三）叁竹合作动因&lt;/Text&gt;&#10;        &lt;Text style={{ fontSize: 16, color: '#3A463F', lineHeight: 1.55 }}&gt;· 获得专属固定场地：标准化实训教室 + 独立办公区，满足省级鉴定验收标准。{'\n'}· 高校资源赋能：依托院校主体、生源、品牌提升资质申报通过率。{'\n'}· 实景实训壁垒：UBIC 养老社区作高阶实操场景，拉开与中小机构差距。&lt;/Text&gt;&#10;      &lt;/Box&gt;&#10;    &lt;/Box&gt;&#10;  &lt;/Box&gt;&#10;&#10;  &lt;Box style={{ position: 'absolute', bottom: 0, left: 0, right: 0, height: 58, paddingLeft: 60, paddingRight: 60, flexDirection: 'row', alignItems: 'center' }}&gt;&#10;    &lt;Box style={{ flex: 1 }} /&gt;&#10;    &lt;Text style={{ fontSize: 14, color: '#5C6B63', textAlign: 'center' }}&gt;叁竹 × 湖外 校企合作商业计划书&lt;/Text&gt;&#10;    &lt;Box style={{ flex: 1, alignItems: 'flex-end' }}&gt;&#10;      &lt;Text style={{ fontSize: 14, color: '#5C6B63' }}&gt;07 / 27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矩形 6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3" name="矩形: 圆角 622"/>
          <p:cNvSpPr/>
          <p:nvPr/>
        </p:nvSpPr>
        <p:spPr>
          <a:xfrm>
            <a:off x="571500" y="314325"/>
            <a:ext cx="57150" cy="419100"/>
          </a:xfrm>
          <a:prstGeom prst="roundRect">
            <a:avLst>
              <a:gd name="adj" fmla="val 50000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4" name="文本框 623" descr="{&quot;isTemplate&quot;:true,&quot;type&quot;:&quot;text&quot;}"/>
          <p:cNvSpPr txBox="1"/>
          <p:nvPr/>
        </p:nvSpPr>
        <p:spPr>
          <a:xfrm>
            <a:off x="800100" y="333375"/>
            <a:ext cx="52006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2B24"/>
                </a:solidFill>
                <a:latin typeface="Source Han Sans SC"/>
                <a:ea typeface="Source Han Sans SC"/>
              </a:rPr>
              <a:t>校企合作渊源</a:t>
            </a:r>
            <a:r>
              <a:rPr lang="en-US" sz="2550" b="1">
                <a:solidFill>
                  <a:srgbClr val="1C2B24"/>
                </a:solidFill>
                <a:latin typeface="Source Han Sans SC"/>
                <a:ea typeface="Source Han Sans SC"/>
              </a:rPr>
              <a:t> · </a:t>
            </a:r>
            <a:r>
              <a:rPr lang="zh-CN" sz="2550" b="1">
                <a:solidFill>
                  <a:srgbClr val="1C2B24"/>
                </a:solidFill>
                <a:latin typeface="Source Han Sans SC"/>
                <a:ea typeface="Source Han Sans SC"/>
              </a:rPr>
              <a:t>长期历史与双向动因</a:t>
            </a:r>
            <a:endParaRPr/>
          </a:p>
        </p:txBody>
      </p:sp>
      <p:sp>
        <p:nvSpPr>
          <p:cNvPr id="625" name="矩形: 圆角 624"/>
          <p:cNvSpPr/>
          <p:nvPr/>
        </p:nvSpPr>
        <p:spPr>
          <a:xfrm>
            <a:off x="571500" y="1181100"/>
            <a:ext cx="6315075" cy="50673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26" name="文本框 625" descr="{&quot;isTemplate&quot;:true,&quot;type&quot;:&quot;text&quot;}"/>
          <p:cNvSpPr txBox="1"/>
          <p:nvPr/>
        </p:nvSpPr>
        <p:spPr>
          <a:xfrm>
            <a:off x="800100" y="1371600"/>
            <a:ext cx="58578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5C46"/>
                </a:solidFill>
                <a:latin typeface="Source Han Sans SC"/>
                <a:ea typeface="Source Han Sans SC"/>
              </a:rPr>
              <a:t>（一）长期合作历史</a:t>
            </a:r>
            <a:endParaRPr/>
          </a:p>
        </p:txBody>
      </p:sp>
      <p:sp>
        <p:nvSpPr>
          <p:cNvPr id="627" name="文本框 626" descr="{&quot;isTemplate&quot;:true,&quot;type&quot;:&quot;text&quot;}"/>
          <p:cNvSpPr txBox="1"/>
          <p:nvPr/>
        </p:nvSpPr>
        <p:spPr>
          <a:xfrm>
            <a:off x="800100" y="1762125"/>
            <a:ext cx="114300" cy="762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2E9E78"/>
                </a:solidFill>
                <a:latin typeface="Source Han Sans SC"/>
                <a:ea typeface="Source Han Sans SC"/>
              </a:rPr>
              <a:t>●</a:t>
            </a:r>
            <a:endParaRPr/>
          </a:p>
        </p:txBody>
      </p:sp>
      <p:sp>
        <p:nvSpPr>
          <p:cNvPr id="628" name="文本框 627" descr="{&quot;isTemplate&quot;:true,&quot;type&quot;:&quot;text&quot;}"/>
          <p:cNvSpPr txBox="1"/>
          <p:nvPr/>
        </p:nvSpPr>
        <p:spPr>
          <a:xfrm>
            <a:off x="1028700" y="1743075"/>
            <a:ext cx="56292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C2B24"/>
                </a:solidFill>
                <a:latin typeface="Source Han Sans SC"/>
                <a:ea typeface="Source Han Sans SC"/>
              </a:rPr>
              <a:t>共建学院根基</a:t>
            </a:r>
            <a:endParaRPr/>
          </a:p>
        </p:txBody>
      </p:sp>
      <p:sp>
        <p:nvSpPr>
          <p:cNvPr id="629" name="文本框 628" descr="{&quot;isTemplate&quot;:true,&quot;type&quot;:&quot;text&quot;}"/>
          <p:cNvSpPr txBox="1"/>
          <p:nvPr/>
        </p:nvSpPr>
        <p:spPr>
          <a:xfrm>
            <a:off x="1028700" y="1971675"/>
            <a:ext cx="562927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健康管理学院由双方董事长合力创办，李永国教授参与专业搭建、资源导入，退出经营后仍持续输送产业资源。</a:t>
            </a:r>
            <a:endParaRPr/>
          </a:p>
        </p:txBody>
      </p:sp>
      <p:sp>
        <p:nvSpPr>
          <p:cNvPr id="630" name="文本框 629" descr="{&quot;isTemplate&quot;:true,&quot;type&quot;:&quot;text&quot;}"/>
          <p:cNvSpPr txBox="1"/>
          <p:nvPr/>
        </p:nvSpPr>
        <p:spPr>
          <a:xfrm>
            <a:off x="800100" y="2657475"/>
            <a:ext cx="114300" cy="762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2E9E78"/>
                </a:solidFill>
                <a:latin typeface="Source Han Sans SC"/>
                <a:ea typeface="Source Han Sans SC"/>
              </a:rPr>
              <a:t>●</a:t>
            </a:r>
            <a:endParaRPr/>
          </a:p>
        </p:txBody>
      </p:sp>
      <p:sp>
        <p:nvSpPr>
          <p:cNvPr id="631" name="文本框 630" descr="{&quot;isTemplate&quot;:true,&quot;type&quot;:&quot;text&quot;}"/>
          <p:cNvSpPr txBox="1"/>
          <p:nvPr/>
        </p:nvSpPr>
        <p:spPr>
          <a:xfrm>
            <a:off x="1028700" y="2638425"/>
            <a:ext cx="56292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C2B24"/>
                </a:solidFill>
                <a:latin typeface="Source Han Sans SC"/>
                <a:ea typeface="Source Han Sans SC"/>
              </a:rPr>
              <a:t>注册挂靠无专属场地</a:t>
            </a:r>
            <a:endParaRPr/>
          </a:p>
        </p:txBody>
      </p:sp>
      <p:sp>
        <p:nvSpPr>
          <p:cNvPr id="632" name="文本框 631" descr="{&quot;isTemplate&quot;:true,&quot;type&quot;:&quot;text&quot;}"/>
          <p:cNvSpPr txBox="1"/>
          <p:nvPr/>
        </p:nvSpPr>
        <p:spPr>
          <a:xfrm>
            <a:off x="1028700" y="2867025"/>
            <a:ext cx="562927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叁竹仅工商地址落户校内，校方多年未划分独立实训</a:t>
            </a:r>
            <a:r>
              <a:rPr lang="en-US" sz="1200">
                <a:solidFill>
                  <a:srgbClr val="3A463F"/>
                </a:solidFill>
                <a:latin typeface="Source Han Sans SC"/>
                <a:ea typeface="Source Han Sans SC"/>
              </a:rPr>
              <a:t>/</a:t>
            </a: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办公区，场地仅迎检，日常无固定场地支撑。</a:t>
            </a:r>
            <a:endParaRPr/>
          </a:p>
        </p:txBody>
      </p:sp>
      <p:sp>
        <p:nvSpPr>
          <p:cNvPr id="633" name="文本框 632" descr="{&quot;isTemplate&quot;:true,&quot;type&quot;:&quot;text&quot;}"/>
          <p:cNvSpPr txBox="1"/>
          <p:nvPr/>
        </p:nvSpPr>
        <p:spPr>
          <a:xfrm>
            <a:off x="800100" y="3552825"/>
            <a:ext cx="114300" cy="762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2E9E78"/>
                </a:solidFill>
                <a:latin typeface="Source Han Sans SC"/>
                <a:ea typeface="Source Han Sans SC"/>
              </a:rPr>
              <a:t>●</a:t>
            </a:r>
            <a:endParaRPr/>
          </a:p>
        </p:txBody>
      </p:sp>
      <p:sp>
        <p:nvSpPr>
          <p:cNvPr id="634" name="文本框 633" descr="{&quot;isTemplate&quot;:true,&quot;type&quot;:&quot;text&quot;}"/>
          <p:cNvSpPr txBox="1"/>
          <p:nvPr/>
        </p:nvSpPr>
        <p:spPr>
          <a:xfrm>
            <a:off x="1028700" y="3533775"/>
            <a:ext cx="56292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C2B24"/>
                </a:solidFill>
                <a:latin typeface="Source Han Sans SC"/>
                <a:ea typeface="Source Han Sans SC"/>
              </a:rPr>
              <a:t>鉴定资质共建实绩</a:t>
            </a:r>
            <a:endParaRPr/>
          </a:p>
        </p:txBody>
      </p:sp>
      <p:sp>
        <p:nvSpPr>
          <p:cNvPr id="635" name="文本框 634" descr="{&quot;isTemplate&quot;:true,&quot;type&quot;:&quot;text&quot;}"/>
          <p:cNvSpPr txBox="1"/>
          <p:nvPr/>
        </p:nvSpPr>
        <p:spPr>
          <a:xfrm>
            <a:off x="1028700" y="3762375"/>
            <a:ext cx="562927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湖外健康照护师校内鉴定资质申报材料、课程标准、考评流程均由叁竹团队落地，是资质获批核心支撑。</a:t>
            </a:r>
            <a:endParaRPr/>
          </a:p>
        </p:txBody>
      </p:sp>
      <p:sp>
        <p:nvSpPr>
          <p:cNvPr id="636" name="文本框 635" descr="{&quot;isTemplate&quot;:true,&quot;type&quot;:&quot;text&quot;}"/>
          <p:cNvSpPr txBox="1"/>
          <p:nvPr/>
        </p:nvSpPr>
        <p:spPr>
          <a:xfrm>
            <a:off x="800100" y="4448175"/>
            <a:ext cx="114300" cy="7620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350" b="1">
                <a:solidFill>
                  <a:srgbClr val="2E9E78"/>
                </a:solidFill>
                <a:latin typeface="Source Han Sans SC"/>
                <a:ea typeface="Source Han Sans SC"/>
              </a:rPr>
              <a:t>●</a:t>
            </a:r>
            <a:endParaRPr/>
          </a:p>
        </p:txBody>
      </p:sp>
      <p:sp>
        <p:nvSpPr>
          <p:cNvPr id="637" name="文本框 636" descr="{&quot;isTemplate&quot;:true,&quot;type&quot;:&quot;text&quot;}"/>
          <p:cNvSpPr txBox="1"/>
          <p:nvPr/>
        </p:nvSpPr>
        <p:spPr>
          <a:xfrm>
            <a:off x="1028700" y="4429125"/>
            <a:ext cx="562927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1C2B24"/>
                </a:solidFill>
                <a:latin typeface="Source Han Sans SC"/>
                <a:ea typeface="Source Han Sans SC"/>
              </a:rPr>
              <a:t>前期仅意向沟通</a:t>
            </a:r>
            <a:endParaRPr/>
          </a:p>
        </p:txBody>
      </p:sp>
      <p:sp>
        <p:nvSpPr>
          <p:cNvPr id="638" name="文本框 637" descr="{&quot;isTemplate&quot;:true,&quot;type&quot;:&quot;text&quot;}"/>
          <p:cNvSpPr txBox="1"/>
          <p:nvPr/>
        </p:nvSpPr>
        <p:spPr>
          <a:xfrm>
            <a:off x="1028700" y="4657725"/>
            <a:ext cx="5629275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未签署任何合作协议、无落地项目，本次为基于长期信任升级的全新深度绑定合作模式。</a:t>
            </a:r>
            <a:endParaRPr/>
          </a:p>
        </p:txBody>
      </p:sp>
      <p:sp>
        <p:nvSpPr>
          <p:cNvPr id="639" name="矩形: 圆角 638"/>
          <p:cNvSpPr/>
          <p:nvPr/>
        </p:nvSpPr>
        <p:spPr>
          <a:xfrm>
            <a:off x="7115175" y="1181100"/>
            <a:ext cx="4505325" cy="2447925"/>
          </a:xfrm>
          <a:prstGeom prst="roundRect">
            <a:avLst>
              <a:gd name="adj" fmla="val 5447"/>
            </a:avLst>
          </a:prstGeom>
          <a:solidFill>
            <a:srgbClr val="2E9E78">
              <a:alpha val="10000"/>
            </a:srgbClr>
          </a:solidFill>
          <a:ln w="12700">
            <a:solidFill>
              <a:srgbClr val="D9E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0" name="文本框 639" descr="{&quot;isTemplate&quot;:true,&quot;type&quot;:&quot;text&quot;}"/>
          <p:cNvSpPr txBox="1"/>
          <p:nvPr/>
        </p:nvSpPr>
        <p:spPr>
          <a:xfrm>
            <a:off x="7305675" y="1352550"/>
            <a:ext cx="41243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5C46"/>
                </a:solidFill>
                <a:latin typeface="Source Han Sans SC"/>
                <a:ea typeface="Source Han Sans SC"/>
              </a:rPr>
              <a:t>（二）湖外合作动因</a:t>
            </a:r>
            <a:endParaRPr/>
          </a:p>
        </p:txBody>
      </p:sp>
      <p:sp>
        <p:nvSpPr>
          <p:cNvPr id="641" name="文本框 640" descr="{&quot;isTemplate&quot;:true,&quot;type&quot;:&quot;text&quot;}"/>
          <p:cNvSpPr txBox="1"/>
          <p:nvPr/>
        </p:nvSpPr>
        <p:spPr>
          <a:xfrm>
            <a:off x="7305675" y="1657350"/>
            <a:ext cx="4124325" cy="1704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200">
                <a:solidFill>
                  <a:srgbClr val="3A463F"/>
                </a:solidFill>
                <a:latin typeface="Source Han Sans SC"/>
                <a:ea typeface="Source Han Sans SC"/>
              </a:rPr>
              <a:t>· </a:t>
            </a: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专业转型：外语赛道受</a:t>
            </a:r>
            <a:r>
              <a:rPr lang="en-US" sz="1200">
                <a:solidFill>
                  <a:srgbClr val="3A463F"/>
                </a:solidFill>
                <a:latin typeface="Source Han Sans SC"/>
                <a:ea typeface="Source Han Sans SC"/>
              </a:rPr>
              <a:t> AI </a:t>
            </a: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冲击，养老照护为政策扶持朝阳产业，打造王牌特色专业。</a:t>
            </a:r>
            <a:endParaRPr/>
          </a:p>
          <a:p>
            <a:pPr>
              <a:lnSpc>
                <a:spcPct val="155000"/>
              </a:lnSpc>
            </a:pPr>
            <a:r>
              <a:rPr lang="en-US" sz="1200">
                <a:solidFill>
                  <a:srgbClr val="3A463F"/>
                </a:solidFill>
                <a:latin typeface="Source Han Sans SC"/>
                <a:ea typeface="Source Han Sans SC"/>
              </a:rPr>
              <a:t>· </a:t>
            </a: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盘活闲置资产：实训场地、办公用房、</a:t>
            </a:r>
            <a:r>
              <a:rPr lang="en-US" sz="1200">
                <a:solidFill>
                  <a:srgbClr val="3A463F"/>
                </a:solidFill>
                <a:latin typeface="Source Han Sans SC"/>
                <a:ea typeface="Source Han Sans SC"/>
              </a:rPr>
              <a:t>UBIC </a:t>
            </a: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社区一次性转化为实体产业配套。</a:t>
            </a:r>
            <a:endParaRPr/>
          </a:p>
          <a:p>
            <a:pPr>
              <a:lnSpc>
                <a:spcPct val="155000"/>
              </a:lnSpc>
            </a:pPr>
            <a:r>
              <a:rPr lang="en-US" sz="1200">
                <a:solidFill>
                  <a:srgbClr val="3A463F"/>
                </a:solidFill>
                <a:latin typeface="Source Han Sans SC"/>
                <a:ea typeface="Source Han Sans SC"/>
              </a:rPr>
              <a:t>· </a:t>
            </a: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补齐运营短板：依托叁竹产业体系快速搭建完整康养产业链。</a:t>
            </a:r>
            <a:endParaRPr/>
          </a:p>
        </p:txBody>
      </p:sp>
      <p:sp>
        <p:nvSpPr>
          <p:cNvPr id="642" name="矩形: 圆角 641"/>
          <p:cNvSpPr/>
          <p:nvPr/>
        </p:nvSpPr>
        <p:spPr>
          <a:xfrm>
            <a:off x="7115175" y="3800475"/>
            <a:ext cx="4505325" cy="2447925"/>
          </a:xfrm>
          <a:prstGeom prst="roundRect">
            <a:avLst>
              <a:gd name="adj" fmla="val 5447"/>
            </a:avLst>
          </a:prstGeom>
          <a:solidFill>
            <a:srgbClr val="0A2B4D">
              <a:alpha val="8000"/>
            </a:srgbClr>
          </a:solidFill>
          <a:ln w="12700">
            <a:solidFill>
              <a:srgbClr val="D9E8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3" name="文本框 642" descr="{&quot;isTemplate&quot;:true,&quot;type&quot;:&quot;text&quot;}"/>
          <p:cNvSpPr txBox="1"/>
          <p:nvPr/>
        </p:nvSpPr>
        <p:spPr>
          <a:xfrm>
            <a:off x="7305675" y="3971925"/>
            <a:ext cx="41243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A2B4D"/>
                </a:solidFill>
                <a:latin typeface="Source Han Sans SC"/>
                <a:ea typeface="Source Han Sans SC"/>
              </a:rPr>
              <a:t>（三）叁竹合作动因</a:t>
            </a:r>
            <a:endParaRPr/>
          </a:p>
        </p:txBody>
      </p:sp>
      <p:sp>
        <p:nvSpPr>
          <p:cNvPr id="644" name="文本框 643" descr="{&quot;isTemplate&quot;:true,&quot;type&quot;:&quot;text&quot;}"/>
          <p:cNvSpPr txBox="1"/>
          <p:nvPr/>
        </p:nvSpPr>
        <p:spPr>
          <a:xfrm>
            <a:off x="7305675" y="4276725"/>
            <a:ext cx="4124325" cy="1704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200">
                <a:solidFill>
                  <a:srgbClr val="3A463F"/>
                </a:solidFill>
                <a:latin typeface="Source Han Sans SC"/>
                <a:ea typeface="Source Han Sans SC"/>
              </a:rPr>
              <a:t>· </a:t>
            </a: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获得专属固定场地：标准化实训教室</a:t>
            </a:r>
            <a:r>
              <a:rPr lang="en-US" sz="1200">
                <a:solidFill>
                  <a:srgbClr val="3A463F"/>
                </a:solidFill>
                <a:latin typeface="Source Han Sans SC"/>
                <a:ea typeface="Source Han Sans SC"/>
              </a:rPr>
              <a:t> + </a:t>
            </a: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独立办公区，满足省级鉴定验收标准。</a:t>
            </a:r>
            <a:endParaRPr/>
          </a:p>
          <a:p>
            <a:pPr>
              <a:lnSpc>
                <a:spcPct val="155000"/>
              </a:lnSpc>
            </a:pPr>
            <a:r>
              <a:rPr lang="en-US" sz="1200">
                <a:solidFill>
                  <a:srgbClr val="3A463F"/>
                </a:solidFill>
                <a:latin typeface="Source Han Sans SC"/>
                <a:ea typeface="Source Han Sans SC"/>
              </a:rPr>
              <a:t>· </a:t>
            </a: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高校资源赋能：依托院校主体、生源、品牌提升资质申报通过率。</a:t>
            </a:r>
            <a:endParaRPr/>
          </a:p>
          <a:p>
            <a:pPr>
              <a:lnSpc>
                <a:spcPct val="155000"/>
              </a:lnSpc>
            </a:pPr>
            <a:r>
              <a:rPr lang="en-US" sz="1200">
                <a:solidFill>
                  <a:srgbClr val="3A463F"/>
                </a:solidFill>
                <a:latin typeface="Source Han Sans SC"/>
                <a:ea typeface="Source Han Sans SC"/>
              </a:rPr>
              <a:t>· </a:t>
            </a: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实景实训壁垒：</a:t>
            </a:r>
            <a:r>
              <a:rPr lang="en-US" sz="1200">
                <a:solidFill>
                  <a:srgbClr val="3A463F"/>
                </a:solidFill>
                <a:latin typeface="Source Han Sans SC"/>
                <a:ea typeface="Source Han Sans SC"/>
              </a:rPr>
              <a:t>UBIC </a:t>
            </a:r>
            <a:r>
              <a:rPr lang="zh-CN" sz="1200">
                <a:solidFill>
                  <a:srgbClr val="3A463F"/>
                </a:solidFill>
                <a:latin typeface="Source Han Sans SC"/>
                <a:ea typeface="Source Han Sans SC"/>
              </a:rPr>
              <a:t>养老社区作高阶实操场景，拉开与中小机构差距。</a:t>
            </a:r>
            <a:endParaRPr/>
          </a:p>
        </p:txBody>
      </p:sp>
      <p:sp>
        <p:nvSpPr>
          <p:cNvPr id="645" name="文本框 644" descr="{&quot;isTemplate&quot;:true,&quot;type&quot;:&quot;text&quot;}"/>
          <p:cNvSpPr txBox="1"/>
          <p:nvPr/>
        </p:nvSpPr>
        <p:spPr>
          <a:xfrm>
            <a:off x="5124450" y="6505575"/>
            <a:ext cx="1952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叁竹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×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湖外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校企合作商业计划书</a:t>
            </a:r>
            <a:endParaRPr/>
          </a:p>
        </p:txBody>
      </p:sp>
      <p:sp>
        <p:nvSpPr>
          <p:cNvPr id="646" name="文本框 645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07 / 27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width: '1280px', height: '720px', fontFamily: &quot;'Source Han Sans SC', 'Microsoft YaHei', sans-serif&quot; }}&gt;&#10;  &lt;Image src=&quot;assets/hero_building.png&quot; style={{ position: 'absolute', top: 0, left: 0, width: '100%', height: '100%', objectFit: 'cover' }} /&gt;&#10;  &lt;Box style={{ position: 'absolute', top: 0, left: 0, right: 0, bottom: 0, background: 'linear-gradient(135deg, rgba(10,43,77,0.82) 0%, rgba(15,92,70,0.78) 100%)' }} /&gt;&#10;&#10;  &lt;Box style={{ position: 'absolute', left: 0, right: 0, bottom: 0, height: 240, overflow: 'hidden' }}&gt;&#10;    &lt;svg width='1280' height='240' viewBox='0 0 1280 240' style={{ position: 'absolute', bottom: 0 }}&gt;&#10;      &lt;path d='M0,90 C340,20 920,180 1280,70 L1280,240 L0,240 Z' fill='rgba(10,43,77,0.55)' /&gt;&#10;      &lt;path d='M0,150 C380,80 900,210 1280,120 L1280,240 L0,240 Z' fill='rgba(10,43,77,0.40)' /&gt;&#10;    &lt;/svg&gt;&#10;  &lt;/Box&gt;&#10;&#10;  &lt;Box style={{ position: 'absolute', top: 0, left: 0, right: 0, bottom: 0, justifyContent: 'center', alignItems: 'center' }}&gt;&#10;    &lt;Box style={{ width: 200, height: 200, borderRadius: 999, background: 'rgba(255,255,255,0.12)', border: '4px solid rgba(255,255,255,0.35)', justifyContent: 'center', alignItems: 'center', marginBottom: 36 }}&gt;&#10;      &lt;Text style={{ color: '#FFFFFF', fontSize: 96, fontWeight: 'bold', fontFamily: &quot;'DIN Alternate','Inter',sans-serif&quot; }}&gt;03&lt;/Text&gt;&#10;    &lt;/Box&gt;&#10;    &lt;Text style={{ color: '#FFFFFF', fontSize: 56, fontWeight: 'bold', textShadow: '0 4px 18px rgba(0,0,0,0.35)' }}&gt;三、行业市场与优势&lt;/Text&gt;&#10;    &lt;Text style={{ color: 'rgba(255,255,255,0.82)', fontSize: 22, marginTop: 18, letterSpacing: 2 }}&gt;政策红利 + 市场刚需 + 头部壁垒&lt;/Text&gt;&#10;  &lt;/Box&gt;&#10;&#10;  &lt;Text style={{ position: 'absolute', bottom: 48, left: 0, right: 0, textAlign: 'center', color: 'rgba(255,255,255,0.6)', fontSize: 15 }}&gt;&#10;    叁竹 × 湖外 校企合作商业计划书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8" name="图片 647"/>
          <p:cNvPicPr>
            <a:picLocks noChangeAspect="1"/>
          </p:cNvPicPr>
          <p:nvPr/>
        </p:nvPicPr>
        <p:blipFill>
          <a:blip r:embed="rId2"/>
          <a:srcRect t="8894" b="889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649" name="矩形 64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2B4D">
                  <a:alpha val="82000"/>
                </a:srgbClr>
              </a:gs>
              <a:gs pos="100000">
                <a:srgbClr val="0F5C46">
                  <a:alpha val="78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650" name="图形 64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572000"/>
            <a:ext cx="12192000" cy="2286000"/>
          </a:xfrm>
          <a:prstGeom prst="rect">
            <a:avLst/>
          </a:prstGeom>
          <a:ln/>
        </p:spPr>
      </p:pic>
      <p:sp>
        <p:nvSpPr>
          <p:cNvPr id="651" name="矩形: 圆角 650"/>
          <p:cNvSpPr/>
          <p:nvPr/>
        </p:nvSpPr>
        <p:spPr>
          <a:xfrm>
            <a:off x="5143500" y="1771650"/>
            <a:ext cx="1905000" cy="1905000"/>
          </a:xfrm>
          <a:prstGeom prst="roundRect">
            <a:avLst>
              <a:gd name="adj" fmla="val 499500"/>
            </a:avLst>
          </a:prstGeom>
          <a:solidFill>
            <a:srgbClr val="FFFFFF">
              <a:alpha val="12000"/>
            </a:srgbClr>
          </a:solidFill>
          <a:ln w="508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2" name="文本框 651" descr="{&quot;isTemplate&quot;:true,&quot;type&quot;:&quot;text&quot;}"/>
          <p:cNvSpPr txBox="1"/>
          <p:nvPr/>
        </p:nvSpPr>
        <p:spPr>
          <a:xfrm>
            <a:off x="5514975" y="2171700"/>
            <a:ext cx="1171575" cy="1104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DIN Alternate"/>
                <a:ea typeface="DIN Alternate"/>
              </a:rPr>
              <a:t>03</a:t>
            </a:r>
            <a:endParaRPr/>
          </a:p>
        </p:txBody>
      </p:sp>
      <p:sp>
        <p:nvSpPr>
          <p:cNvPr id="653" name="文本框 652" descr="{&quot;isTemplate&quot;:true,&quot;type&quot;:&quot;text&quot;}"/>
          <p:cNvSpPr txBox="1"/>
          <p:nvPr/>
        </p:nvSpPr>
        <p:spPr>
          <a:xfrm>
            <a:off x="3695700" y="4019550"/>
            <a:ext cx="4800600" cy="647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effectLst>
                  <a:outerShdw blurRad="171450" dist="38100" dir="5400000">
                    <a:srgbClr val="000000">
                      <a:alpha val="35000"/>
                    </a:srgbClr>
                  </a:outerShdw>
                </a:effectLst>
                <a:latin typeface="Source Han Sans SC"/>
                <a:ea typeface="Source Han Sans SC"/>
              </a:rPr>
              <a:t>三、行业市场与优势</a:t>
            </a:r>
            <a:endParaRPr/>
          </a:p>
        </p:txBody>
      </p:sp>
      <p:sp>
        <p:nvSpPr>
          <p:cNvPr id="654" name="文本框 653" descr="{&quot;isTemplate&quot;:true,&quot;type&quot;:&quot;text&quot;}"/>
          <p:cNvSpPr txBox="1"/>
          <p:nvPr/>
        </p:nvSpPr>
        <p:spPr>
          <a:xfrm>
            <a:off x="4391025" y="4838700"/>
            <a:ext cx="34194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政策红利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+ 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市场刚需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+ 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头部壁垒</a:t>
            </a:r>
            <a:endParaRPr/>
          </a:p>
        </p:txBody>
      </p:sp>
      <p:sp>
        <p:nvSpPr>
          <p:cNvPr id="655" name="文本框 654" descr="{&quot;isTemplate&quot;:true,&quot;type&quot;:&quot;text&quot;}"/>
          <p:cNvSpPr txBox="1"/>
          <p:nvPr/>
        </p:nvSpPr>
        <p:spPr>
          <a:xfrm>
            <a:off x="0" y="6229350"/>
            <a:ext cx="12192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叁竹</a:t>
            </a: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× </a:t>
            </a: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湖外</a:t>
            </a: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</a:t>
            </a: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校企合作商业计划书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background: '#F4F9F6', fontFamily: &quot;'Source Han Sans SC', 'Microsoft YaHei', sans-serif&quot; }}&gt;&#10;  &lt;Box style={{ position: 'absolute', top: 0, left: 0, right: 0, height: 110, paddingLeft: 60, paddingRight: 60, flexDirection: 'row', alignItems: 'center' }}&gt;&#10;    &lt;Box style={{ width: 6, height: 44, background: '#0F5C46', borderRadius: 3, marginRight: 18 }} /&gt;&#10;    &lt;Text style={{ fontSize: 34, fontWeight: 'bold', color: '#1C2B24' }}&gt;行业政策与市场刚需&lt;/Text&gt;&#10;  &lt;/Box&gt;&#10;&#10;  &lt;Box style={{ position: 'absolute', top: 124, left: 60, right: 60, bottom: 64, flexDirection: 'row', gap: 24 }}&gt;&#10;    {/* 左：政策红利 + 图表 */}&#10;    &lt;Box style={{ flex: 1.1, flexDirection: 'column', gap: 16 }}&gt;&#10;      &lt;Box style={{ background: '#FFFFFF', borderRadius: 14, padding: '16px 20px', boxShadow: '0 4px 16px rgba(15,92,70,0.08)' }}&gt;&#10;        &lt;Text style={{ fontSize: 20, fontWeight: 'bold', color: '#0F5C46', marginBottom: 8 }}&gt;政策红利&lt;/Text&gt;&#10;        &lt;Text style={{ fontSize: 17, color: '#3A463F', lineHeight: 1.6 }}&gt;· 长护险全国落地，多类照护工种强制持证上岗，考证可申领专项培训补贴。{'\n'}· 湖南省大力支持民办院校与培训机构开展混合所有制产教融合项目。&lt;/Text&gt;&#10;      &lt;/Box&gt;&#10;      &lt;Box style={{ background: '#FFFFFF', borderRadius: 14, padding: '14px 18px', boxShadow: '0 4px 16px rgba(15,92,70,0.08)', flex: 1 }}&gt;&#10;        &lt;Chart&#10;          chartType='barChart'&#10;          barDirection='bar'&#10;          grouping='clustered'&#10;          title='养老照护市场刚需（万人 / 亿）'&#10;          titleColor='#1C2B24'&#10;          showLegend={false}&#10;          showDataLabels={true}&#10;          dataLabelColor='#0F5C46'&#10;          legendColor='#5C6B63'&#10;          axisColor='#5C6B63'&#10;          colors={['#0F5C46']}&#10;          background='#FFFFFF'&#10;          style={{ width: '100%', height: '100%' }}&#10;          data={[&#10;            ['指标', '规模'],&#10;            ['60岁以上人口(亿)', 3.2],&#10;            ['失能半失能(万)', 4500],&#10;            ['持证人才缺口(万)', 900],&#10;          ]}&#10;        /&gt;&#10;      &lt;/Box&gt;&#10;    &lt;/Box&gt;&#10;&#10;    {/* 右：市场空间洞察 + 判断 */}&#10;    &lt;Box style={{ flex: 1, flexDirection: 'column', gap: 16 }}&gt;&#10;      &lt;Box style={{ background: 'linear-gradient(135deg,#0F5C46,#0A2B4D)', borderRadius: 14, padding: '20px 22px' }}&gt;&#10;        &lt;Text style={{ fontSize: 20, fontWeight: 'bold', color: '#FFFFFF' }}&gt;市场空间&lt;/Text&gt;&#10;        &lt;Text style={{ fontSize: 17, color: 'rgba(255,255,255,0.92)', lineHeight: 1.65, marginTop: 8 }}&gt;&#10;          全国 60 岁以上人口超 &lt;Text style={{ color: '#7FE3C0', fontWeight: 'bold' }}&gt;3.2 亿&lt;/Text&gt;，失能半失能老人 &lt;Text style={{ color: '#7FE3C0', fontWeight: 'bold' }}&gt;4500 万&lt;/Text&gt;，持证照护人才缺口超 &lt;Text style={{ color: '#7FE3C0', fontWeight: 'bold' }}&gt;900 万&lt;/Text&gt;。&#10;        &lt;/Text&gt;&#10;      &lt;/Box&gt;&#10;      &lt;Box style={{ background: '#FFFFFF', borderRadius: 14, padding: '20px 22px', boxShadow: '0 4px 16px rgba(15,92,70,0.08)', flex: 1, justifyContent: 'center' }}&gt;&#10;        &lt;Text style={{ fontSize: 18, fontWeight: 'bold', color: '#0F5C46', marginBottom: 8 }}&gt;数据判断&lt;/Text&gt;&#10;        &lt;Text style={{ fontSize: 17, color: '#3A463F', lineHeight: 1.65 }}&gt;&#10;          养老培训、省级技能鉴定、人才输送赛道持续高速增长；&lt;Text style={{ fontWeight: 'bold', color: '#0F5C46' }}&gt;省级鉴定机构审批名额稀缺&lt;/Text&gt;，行业现金流稳定，先发卡位者尽享政策与人口双重红利。&#10;        &lt;/Text&gt;&#10;      &lt;/Box&gt;&#10;    &lt;/Box&gt;&#10;  &lt;/Box&gt;&#10;&#10;  &lt;Box style={{ position: 'absolute', bottom: 0, left: 0, right: 0, height: 58, paddingLeft: 60, paddingRight: 60, flexDirection: 'row', alignItems: 'center' }}&gt;&#10;    &lt;Box style={{ flex: 1 }} /&gt;&#10;    &lt;Text style={{ fontSize: 14, color: '#5C6B63', textAlign: 'center' }}&gt;叁竹 × 湖外 校企合作商业计划书&lt;/Text&gt;&#10;    &lt;Box style={{ flex: 1, alignItems: 'flex-end' }}&gt;&#10;      &lt;Text style={{ fontSize: 14, color: '#5C6B63' }}&gt;09 / 27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矩形 65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8" name="矩形: 圆角 657"/>
          <p:cNvSpPr/>
          <p:nvPr/>
        </p:nvSpPr>
        <p:spPr>
          <a:xfrm>
            <a:off x="571500" y="314325"/>
            <a:ext cx="57150" cy="419100"/>
          </a:xfrm>
          <a:prstGeom prst="roundRect">
            <a:avLst>
              <a:gd name="adj" fmla="val 50000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59" name="文本框 658" descr="{&quot;isTemplate&quot;:true,&quot;type&quot;:&quot;text&quot;}"/>
          <p:cNvSpPr txBox="1"/>
          <p:nvPr/>
        </p:nvSpPr>
        <p:spPr>
          <a:xfrm>
            <a:off x="800100" y="333375"/>
            <a:ext cx="29146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2B24"/>
                </a:solidFill>
                <a:latin typeface="Source Han Sans SC"/>
                <a:ea typeface="Source Han Sans SC"/>
              </a:rPr>
              <a:t>行业政策与市场刚需</a:t>
            </a:r>
            <a:endParaRPr/>
          </a:p>
        </p:txBody>
      </p:sp>
      <p:sp>
        <p:nvSpPr>
          <p:cNvPr id="660" name="矩形: 圆角 659"/>
          <p:cNvSpPr/>
          <p:nvPr/>
        </p:nvSpPr>
        <p:spPr>
          <a:xfrm>
            <a:off x="571500" y="1181100"/>
            <a:ext cx="5667375" cy="1543050"/>
          </a:xfrm>
          <a:prstGeom prst="roundRect">
            <a:avLst>
              <a:gd name="adj" fmla="val 8642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61" name="文本框 660" descr="{&quot;isTemplate&quot;:true,&quot;type&quot;:&quot;text&quot;}"/>
          <p:cNvSpPr txBox="1"/>
          <p:nvPr/>
        </p:nvSpPr>
        <p:spPr>
          <a:xfrm>
            <a:off x="762000" y="1333500"/>
            <a:ext cx="528637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5C46"/>
                </a:solidFill>
                <a:latin typeface="Source Han Sans SC"/>
                <a:ea typeface="Source Han Sans SC"/>
              </a:rPr>
              <a:t>政策红利</a:t>
            </a:r>
            <a:endParaRPr/>
          </a:p>
        </p:txBody>
      </p:sp>
      <p:sp>
        <p:nvSpPr>
          <p:cNvPr id="662" name="文本框 661" descr="{&quot;isTemplate&quot;:true,&quot;type&quot;:&quot;text&quot;}"/>
          <p:cNvSpPr txBox="1"/>
          <p:nvPr/>
        </p:nvSpPr>
        <p:spPr>
          <a:xfrm>
            <a:off x="762000" y="1638300"/>
            <a:ext cx="5286375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1275">
                <a:solidFill>
                  <a:srgbClr val="3A463F"/>
                </a:solidFill>
                <a:latin typeface="Source Han Sans SC"/>
                <a:ea typeface="Source Han Sans SC"/>
              </a:rPr>
              <a:t>· </a:t>
            </a:r>
            <a:r>
              <a:rPr lang="zh-CN" sz="1275">
                <a:solidFill>
                  <a:srgbClr val="3A463F"/>
                </a:solidFill>
                <a:latin typeface="Source Han Sans SC"/>
                <a:ea typeface="Source Han Sans SC"/>
              </a:rPr>
              <a:t>长护险全国落地，多类照护工种强制持证上岗，考证可申领专项培训补贴。</a:t>
            </a:r>
            <a:endParaRPr/>
          </a:p>
          <a:p>
            <a:pPr>
              <a:lnSpc>
                <a:spcPct val="160000"/>
              </a:lnSpc>
            </a:pPr>
            <a:r>
              <a:rPr lang="en-US" sz="1275">
                <a:solidFill>
                  <a:srgbClr val="3A463F"/>
                </a:solidFill>
                <a:latin typeface="Source Han Sans SC"/>
                <a:ea typeface="Source Han Sans SC"/>
              </a:rPr>
              <a:t>· </a:t>
            </a:r>
            <a:r>
              <a:rPr lang="zh-CN" sz="1275">
                <a:solidFill>
                  <a:srgbClr val="3A463F"/>
                </a:solidFill>
                <a:latin typeface="Source Han Sans SC"/>
                <a:ea typeface="Source Han Sans SC"/>
              </a:rPr>
              <a:t>湖南省大力支持民办院校与培训机构开展混合所有制产教融合项目。</a:t>
            </a:r>
            <a:endParaRPr/>
          </a:p>
        </p:txBody>
      </p:sp>
      <p:sp>
        <p:nvSpPr>
          <p:cNvPr id="663" name="矩形: 圆角 662"/>
          <p:cNvSpPr/>
          <p:nvPr/>
        </p:nvSpPr>
        <p:spPr>
          <a:xfrm>
            <a:off x="571500" y="2876550"/>
            <a:ext cx="5667375" cy="3371850"/>
          </a:xfrm>
          <a:prstGeom prst="roundRect">
            <a:avLst>
              <a:gd name="adj" fmla="val 3955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graphicFrame>
        <p:nvGraphicFramePr>
          <p:cNvPr id="664" name="664"/>
          <p:cNvGraphicFramePr/>
          <p:nvPr/>
        </p:nvGraphicFramePr>
        <p:xfrm>
          <a:off x="742950" y="3009900"/>
          <a:ext cx="5324475" cy="3105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65" name="矩形: 圆角 664"/>
          <p:cNvSpPr/>
          <p:nvPr/>
        </p:nvSpPr>
        <p:spPr>
          <a:xfrm>
            <a:off x="6467475" y="1181100"/>
            <a:ext cx="5153025" cy="1333500"/>
          </a:xfrm>
          <a:prstGeom prst="roundRect">
            <a:avLst>
              <a:gd name="adj" fmla="val 10000"/>
            </a:avLst>
          </a:prstGeom>
          <a:gradFill>
            <a:gsLst>
              <a:gs pos="0">
                <a:srgbClr val="0F5C46"/>
              </a:gs>
              <a:gs pos="100000">
                <a:srgbClr val="0A2B4D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66" name="文本框 665" descr="{&quot;isTemplate&quot;:true,&quot;type&quot;:&quot;text&quot;}"/>
          <p:cNvSpPr txBox="1"/>
          <p:nvPr/>
        </p:nvSpPr>
        <p:spPr>
          <a:xfrm>
            <a:off x="6677025" y="1371600"/>
            <a:ext cx="47339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Source Han Sans SC"/>
                <a:ea typeface="Source Han Sans SC"/>
              </a:rPr>
              <a:t>市场空间</a:t>
            </a:r>
            <a:endParaRPr/>
          </a:p>
        </p:txBody>
      </p:sp>
      <p:sp>
        <p:nvSpPr>
          <p:cNvPr id="667" name="文本框 666" descr="{&quot;isTemplate&quot;:true,&quot;type&quot;:&quot;text&quot;}"/>
          <p:cNvSpPr txBox="1"/>
          <p:nvPr/>
        </p:nvSpPr>
        <p:spPr>
          <a:xfrm>
            <a:off x="6677025" y="1676400"/>
            <a:ext cx="4733925" cy="6477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275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全国</a:t>
            </a:r>
            <a:r>
              <a:rPr lang="en-US" sz="1275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 60 </a:t>
            </a:r>
            <a:r>
              <a:rPr lang="zh-CN" sz="1275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岁以上人口超</a:t>
            </a:r>
            <a:r>
              <a:rPr lang="en-US" sz="1275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 3.2 </a:t>
            </a:r>
            <a:r>
              <a:rPr lang="zh-CN" sz="1275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亿，失能半失能老人</a:t>
            </a:r>
            <a:r>
              <a:rPr lang="en-US" sz="1275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 4500 </a:t>
            </a:r>
            <a:r>
              <a:rPr lang="zh-CN" sz="1275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万，持证照护人才缺口超</a:t>
            </a:r>
            <a:r>
              <a:rPr lang="en-US" sz="1275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 900 </a:t>
            </a:r>
            <a:r>
              <a:rPr lang="zh-CN" sz="1275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万。</a:t>
            </a:r>
            <a:endParaRPr/>
          </a:p>
        </p:txBody>
      </p:sp>
      <p:sp>
        <p:nvSpPr>
          <p:cNvPr id="668" name="矩形: 圆角 667"/>
          <p:cNvSpPr/>
          <p:nvPr/>
        </p:nvSpPr>
        <p:spPr>
          <a:xfrm>
            <a:off x="6467475" y="2667000"/>
            <a:ext cx="5153025" cy="3581400"/>
          </a:xfrm>
          <a:prstGeom prst="roundRect">
            <a:avLst>
              <a:gd name="adj" fmla="val 372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69" name="文本框 668" descr="{&quot;isTemplate&quot;:true,&quot;type&quot;:&quot;text&quot;}"/>
          <p:cNvSpPr txBox="1"/>
          <p:nvPr/>
        </p:nvSpPr>
        <p:spPr>
          <a:xfrm>
            <a:off x="6677025" y="3838575"/>
            <a:ext cx="47339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5C46"/>
                </a:solidFill>
                <a:latin typeface="Source Han Sans SC"/>
                <a:ea typeface="Source Han Sans SC"/>
              </a:rPr>
              <a:t>数据判断</a:t>
            </a:r>
            <a:endParaRPr/>
          </a:p>
        </p:txBody>
      </p:sp>
      <p:sp>
        <p:nvSpPr>
          <p:cNvPr id="670" name="文本框 669" descr="{&quot;isTemplate&quot;:true,&quot;type&quot;:&quot;text&quot;}"/>
          <p:cNvSpPr txBox="1"/>
          <p:nvPr/>
        </p:nvSpPr>
        <p:spPr>
          <a:xfrm>
            <a:off x="6677025" y="4124325"/>
            <a:ext cx="4733925" cy="9620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5000"/>
              </a:lnSpc>
            </a:pPr>
            <a:r>
              <a:rPr lang="zh-CN" sz="1275">
                <a:solidFill>
                  <a:srgbClr val="3A463F"/>
                </a:solidFill>
                <a:latin typeface="Source Han Sans SC"/>
                <a:ea typeface="Source Han Sans SC"/>
              </a:rPr>
              <a:t>养老培训、省级技能鉴定、人才输送赛道持续高速增长；省级鉴定机构审批名额稀缺，行业现金流稳定，先发卡位者尽享政策与人口双重红利。</a:t>
            </a:r>
            <a:endParaRPr/>
          </a:p>
        </p:txBody>
      </p:sp>
      <p:sp>
        <p:nvSpPr>
          <p:cNvPr id="671" name="文本框 670" descr="{&quot;isTemplate&quot;:true,&quot;type&quot;:&quot;text&quot;}"/>
          <p:cNvSpPr txBox="1"/>
          <p:nvPr/>
        </p:nvSpPr>
        <p:spPr>
          <a:xfrm>
            <a:off x="5124450" y="6505575"/>
            <a:ext cx="1952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叁竹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×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湖外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校企合作商业计划书</a:t>
            </a:r>
            <a:endParaRPr/>
          </a:p>
        </p:txBody>
      </p:sp>
      <p:sp>
        <p:nvSpPr>
          <p:cNvPr id="672" name="文本框 671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09 / 27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background: '#F4F9F6', fontFamily: &quot;'Source Han Sans SC', 'Microsoft YaHei', sans-serif&quot; }}&gt;&#10;  &lt;Box style={{ position: 'absolute', top: 0, left: 0, right: 0, height: 110, paddingLeft: 60, paddingRight: 60, flexDirection: 'row', alignItems: 'center' }}&gt;&#10;    &lt;Box style={{ width: 6, height: 44, background: '#0F5C46', borderRadius: 3, marginRight: 18 }} /&gt;&#10;    &lt;Text style={{ fontSize: 34, fontWeight: 'bold', color: '#1C2B24' }}&gt;叁竹行业核心突出优势&lt;/Text&gt;&#10;  &lt;/Box&gt;&#10;&#10;  &lt;Box style={{ position: 'absolute', top: 124, left: 60, right: 60, bottom: 64, flexDirection: 'column', gap: 14 }}&gt;&#10;    {/* 第一行 3 卡 */}&#10;    &lt;Box style={{ flexDirection: 'row', gap: 18, height: 196 }}&gt;&#10;      {[&#10;        ['省内头部行业地位', '养老照护培训规模、口碑稳居湖南省内行业前三，在民政、人社、各大康养机构具备高度认可度，品牌壁垒显著。'],&#10;        ['完整自研标准化体系', '长期照护师、养老护理员等九大工种全套课程、教材、实训考评标准全部自主搭建，拥有独家课程无形资产。'],&#10;        ['成熟全国线上平台', '全国线上培训、咨询数字化平台已落地运营，突破地域限制，具备面向全国复制扩张的线上运营能力。'],&#10;      ].map((c, i) =&gt; (&#10;        &lt;Box key={i} style={{ flex: 1, background: '#FFFFFF', borderRadius: 14, padding: '18px 20px', boxShadow: '0 4px 16px rgba(15,92,70,0.08)', flexDirection: 'column' }}&gt;&#10;          &lt;FAIcon name='check-circle' style={{ fill: '#2E9E78', width: 30, height: 30 }} /&gt;&#10;          &lt;Text style={{ fontSize: 19, fontWeight: 'bold', color: '#0F5C46', marginTop: 10 }}&gt;{c[0]}&lt;/Text&gt;&#10;          &lt;Text style={{ fontSize: 15.5, color: '#3A463F', lineHeight: 1.5, marginTop: 6 }}&gt;{c[1]}&lt;/Text&gt;&#10;        &lt;/Box&gt;&#10;      ))}&#10;    &lt;/Box&gt;&#10;    {/* 第二行 2 卡 */}&#10;    &lt;Box style={{ flexDirection: 'row', gap: 18, height: 150 }}&gt;&#10;      {[&#10;        ['稳定规模化交付能力', '2025 全年累计培训突破 6000 人次，交付体系成熟，可承接院校定向班、社会散客、全国机构批量内训。'],&#10;        ['稀缺鉴定申报经验', '熟悉人社申报流程、场地标准、考评体系，具备协助民办院校申报技能等级鉴定资质完整落地经验。'],&#10;      ].map((c, i) =&gt; (&#10;        &lt;Box key={i} style={{ flex: 1, background: '#FFFFFF', borderRadius: 14, padding: '18px 20px', boxShadow: '0 4px 16px rgba(15,92,70,0.08)', flexDirection: 'column' }}&gt;&#10;          &lt;FAIcon name='star' style={{ fill: '#2E9E78', width: 28, height: 28 }} /&gt;&#10;          &lt;Text style={{ fontSize: 19, fontWeight: 'bold', color: '#0F5C46', marginTop: 8 }}&gt;{c[0]}&lt;/Text&gt;&#10;          &lt;Text style={{ fontSize: 15.5, color: '#3A463F', lineHeight: 1.5, marginTop: 6 }}&gt;{c[1]}&lt;/Text&gt;&#10;        &lt;/Box&gt;&#10;      ))}&#10;    &lt;/Box&gt;&#10;    {/* 行业短板对比条 */}&#10;    &lt;Box style={{ background: 'linear-gradient(135deg,#0A2B4D,#0F5C46)', borderRadius: 14, padding: '14px 22px', flexDirection: 'row', alignItems: 'center', gap: 14 }}&gt;&#10;      &lt;Text style={{ color: '#7FE3C0', fontSize: 17, fontWeight: 'bold', whiteSpace: 'nowrap' }}&gt;行业普遍短板 → 叁竹补齐&lt;/Text&gt;&#10;      &lt;Text style={{ color: 'rgba(255,255,255,0.92)', fontSize: 16, lineHeight: 1.5 }}&gt;中小机构无课程 / 无场地 / 无全国渠道 / 无鉴定经验 / 无实体场景；叁竹合作后同时具备头部品牌、全套课程、线上平台、鉴定能力、医养配套，壁垒难以复制。&lt;/Text&gt;&#10;    &lt;/Box&gt;&#10;  &lt;/Box&gt;&#10;&#10;  &lt;Box style={{ position: 'absolute', bottom: 0, left: 0, right: 0, height: 58, paddingLeft: 60, paddingRight: 60, flexDirection: 'row', alignItems: 'center' }}&gt;&#10;    &lt;Box style={{ flex: 1 }} /&gt;&#10;    &lt;Text style={{ fontSize: 14, color: '#5C6B63', textAlign: 'center' }}&gt;叁竹 × 湖外 校企合作商业计划书&lt;/Text&gt;&#10;    &lt;Box style={{ flex: 1, alignItems: 'flex-end' }}&gt;&#10;      &lt;Text style={{ fontSize: 14, color: '#5C6B63' }}&gt;10 / 27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矩形: 圆角 22"/>
          <p:cNvSpPr/>
          <p:nvPr/>
        </p:nvSpPr>
        <p:spPr>
          <a:xfrm>
            <a:off x="571500" y="314325"/>
            <a:ext cx="57150" cy="419100"/>
          </a:xfrm>
          <a:prstGeom prst="roundRect">
            <a:avLst>
              <a:gd name="adj" fmla="val 50000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文本框 23" descr="{&quot;isTemplate&quot;:true,&quot;type&quot;:&quot;text&quot;}"/>
          <p:cNvSpPr txBox="1"/>
          <p:nvPr/>
        </p:nvSpPr>
        <p:spPr>
          <a:xfrm>
            <a:off x="800100" y="333375"/>
            <a:ext cx="32385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2B24"/>
                </a:solidFill>
                <a:latin typeface="Source Han Sans SC"/>
                <a:ea typeface="Source Han Sans SC"/>
              </a:rPr>
              <a:t>叁竹行业核心突出优势</a:t>
            </a:r>
            <a:endParaRPr/>
          </a:p>
        </p:txBody>
      </p:sp>
      <p:sp>
        <p:nvSpPr>
          <p:cNvPr id="25" name="矩形: 圆角 24"/>
          <p:cNvSpPr/>
          <p:nvPr/>
        </p:nvSpPr>
        <p:spPr>
          <a:xfrm>
            <a:off x="571500" y="1181100"/>
            <a:ext cx="3571875" cy="18669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6" name="图形 2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1352550"/>
            <a:ext cx="285750" cy="285750"/>
          </a:xfrm>
          <a:prstGeom prst="rect">
            <a:avLst/>
          </a:prstGeom>
          <a:ln/>
        </p:spPr>
      </p:pic>
      <p:sp>
        <p:nvSpPr>
          <p:cNvPr id="27" name="文本框 26" descr="{&quot;isTemplate&quot;:true,&quot;type&quot;:&quot;text&quot;}"/>
          <p:cNvSpPr txBox="1"/>
          <p:nvPr/>
        </p:nvSpPr>
        <p:spPr>
          <a:xfrm>
            <a:off x="762000" y="1733550"/>
            <a:ext cx="31908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5C46"/>
                </a:solidFill>
                <a:latin typeface="Source Han Sans SC"/>
                <a:ea typeface="Source Han Sans SC"/>
              </a:rPr>
              <a:t>省内头部行业地位</a:t>
            </a:r>
            <a:endParaRPr/>
          </a:p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762000" y="2009775"/>
            <a:ext cx="3190875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养老照护培训规模、口碑稳居湖南省内行业前三，在民政、人社、各大康养机构具备高度认可度，品牌壁垒显著。</a:t>
            </a:r>
            <a:endParaRPr/>
          </a:p>
        </p:txBody>
      </p:sp>
      <p:sp>
        <p:nvSpPr>
          <p:cNvPr id="29" name="矩形: 圆角 28"/>
          <p:cNvSpPr/>
          <p:nvPr/>
        </p:nvSpPr>
        <p:spPr>
          <a:xfrm>
            <a:off x="4314825" y="1181100"/>
            <a:ext cx="3562350" cy="18669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0" name="图形 2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5325" y="1352550"/>
            <a:ext cx="285750" cy="285750"/>
          </a:xfrm>
          <a:prstGeom prst="rect">
            <a:avLst/>
          </a:prstGeom>
          <a:ln/>
        </p:spPr>
      </p:pic>
      <p:sp>
        <p:nvSpPr>
          <p:cNvPr id="31" name="文本框 30" descr="{&quot;isTemplate&quot;:true,&quot;type&quot;:&quot;text&quot;}"/>
          <p:cNvSpPr txBox="1"/>
          <p:nvPr/>
        </p:nvSpPr>
        <p:spPr>
          <a:xfrm>
            <a:off x="4505325" y="1733550"/>
            <a:ext cx="31813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5C46"/>
                </a:solidFill>
                <a:latin typeface="Source Han Sans SC"/>
                <a:ea typeface="Source Han Sans SC"/>
              </a:rPr>
              <a:t>完整自研标准化体系</a:t>
            </a:r>
            <a:endParaRPr/>
          </a:p>
        </p:txBody>
      </p:sp>
      <p:sp>
        <p:nvSpPr>
          <p:cNvPr id="32" name="文本框 31" descr="{&quot;isTemplate&quot;:true,&quot;type&quot;:&quot;text&quot;}"/>
          <p:cNvSpPr txBox="1"/>
          <p:nvPr/>
        </p:nvSpPr>
        <p:spPr>
          <a:xfrm>
            <a:off x="4505325" y="2009775"/>
            <a:ext cx="3181350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长期照护师、养老护理员等九大工种全套课程、教材、实训考评标准全部自主搭建，拥有独家课程无形资产。</a:t>
            </a:r>
            <a:endParaRPr/>
          </a:p>
        </p:txBody>
      </p:sp>
      <p:sp>
        <p:nvSpPr>
          <p:cNvPr id="33" name="矩形: 圆角 32"/>
          <p:cNvSpPr/>
          <p:nvPr/>
        </p:nvSpPr>
        <p:spPr>
          <a:xfrm>
            <a:off x="8048625" y="1181100"/>
            <a:ext cx="3571875" cy="18669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4" name="图形 3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39125" y="1352550"/>
            <a:ext cx="285750" cy="285750"/>
          </a:xfrm>
          <a:prstGeom prst="rect">
            <a:avLst/>
          </a:prstGeom>
          <a:ln/>
        </p:spPr>
      </p:pic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8239125" y="1733550"/>
            <a:ext cx="31908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5C46"/>
                </a:solidFill>
                <a:latin typeface="Source Han Sans SC"/>
                <a:ea typeface="Source Han Sans SC"/>
              </a:rPr>
              <a:t>成熟全国线上平台</a:t>
            </a:r>
            <a:endParaRPr/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8239125" y="2009775"/>
            <a:ext cx="3190875" cy="800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全国线上培训、咨询数字化平台已落地运营，突破地域限制，具备面向全国复制扩张的线上运营能力。</a:t>
            </a:r>
            <a:endParaRPr/>
          </a:p>
        </p:txBody>
      </p:sp>
      <p:sp>
        <p:nvSpPr>
          <p:cNvPr id="37" name="矩形: 圆角 36"/>
          <p:cNvSpPr/>
          <p:nvPr/>
        </p:nvSpPr>
        <p:spPr>
          <a:xfrm>
            <a:off x="571500" y="3181350"/>
            <a:ext cx="5438775" cy="1495425"/>
          </a:xfrm>
          <a:prstGeom prst="roundRect">
            <a:avLst>
              <a:gd name="adj" fmla="val 891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8" name="图形 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3352800"/>
            <a:ext cx="266700" cy="266700"/>
          </a:xfrm>
          <a:prstGeom prst="rect">
            <a:avLst/>
          </a:prstGeom>
          <a:ln/>
        </p:spPr>
      </p:pic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762000" y="3695700"/>
            <a:ext cx="50577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5C46"/>
                </a:solidFill>
                <a:latin typeface="Source Han Sans SC"/>
                <a:ea typeface="Source Han Sans SC"/>
              </a:rPr>
              <a:t>稳定规模化交付能力</a:t>
            </a:r>
            <a:endParaRPr/>
          </a:p>
        </p:txBody>
      </p:sp>
      <p:sp>
        <p:nvSpPr>
          <p:cNvPr id="40" name="文本框 39" descr="{&quot;isTemplate&quot;:true,&quot;type&quot;:&quot;text&quot;}"/>
          <p:cNvSpPr txBox="1"/>
          <p:nvPr/>
        </p:nvSpPr>
        <p:spPr>
          <a:xfrm>
            <a:off x="762000" y="3971925"/>
            <a:ext cx="5057775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63">
                <a:solidFill>
                  <a:srgbClr val="3A463F"/>
                </a:solidFill>
                <a:latin typeface="Source Han Sans SC"/>
                <a:ea typeface="Source Han Sans SC"/>
              </a:rPr>
              <a:t>2025 </a:t>
            </a: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全年累计培训突破</a:t>
            </a:r>
            <a:r>
              <a:rPr lang="en-US" sz="1163">
                <a:solidFill>
                  <a:srgbClr val="3A463F"/>
                </a:solidFill>
                <a:latin typeface="Source Han Sans SC"/>
                <a:ea typeface="Source Han Sans SC"/>
              </a:rPr>
              <a:t> 6000 </a:t>
            </a: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人次，交付体系成熟，可承接院校定向班、社会散客、全国机构批量内训。</a:t>
            </a:r>
            <a:endParaRPr/>
          </a:p>
        </p:txBody>
      </p:sp>
      <p:sp>
        <p:nvSpPr>
          <p:cNvPr id="41" name="矩形: 圆角 40"/>
          <p:cNvSpPr/>
          <p:nvPr/>
        </p:nvSpPr>
        <p:spPr>
          <a:xfrm>
            <a:off x="6181725" y="3181350"/>
            <a:ext cx="5438775" cy="1495425"/>
          </a:xfrm>
          <a:prstGeom prst="roundRect">
            <a:avLst>
              <a:gd name="adj" fmla="val 891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2" name="图形 4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2225" y="3352800"/>
            <a:ext cx="266700" cy="266700"/>
          </a:xfrm>
          <a:prstGeom prst="rect">
            <a:avLst/>
          </a:prstGeom>
          <a:ln/>
        </p:spPr>
      </p:pic>
      <p:sp>
        <p:nvSpPr>
          <p:cNvPr id="43" name="文本框 42" descr="{&quot;isTemplate&quot;:true,&quot;type&quot;:&quot;text&quot;}"/>
          <p:cNvSpPr txBox="1"/>
          <p:nvPr/>
        </p:nvSpPr>
        <p:spPr>
          <a:xfrm>
            <a:off x="6372225" y="3695700"/>
            <a:ext cx="50577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5C46"/>
                </a:solidFill>
                <a:latin typeface="Source Han Sans SC"/>
                <a:ea typeface="Source Han Sans SC"/>
              </a:rPr>
              <a:t>稀缺鉴定申报经验</a:t>
            </a:r>
            <a:endParaRPr/>
          </a:p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6372225" y="3971925"/>
            <a:ext cx="5057775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熟悉人社申报流程、场地标准、考评体系，具备协助民办院校申报技能等级鉴定资质完整落地经验。</a:t>
            </a:r>
            <a:endParaRPr/>
          </a:p>
        </p:txBody>
      </p:sp>
      <p:sp>
        <p:nvSpPr>
          <p:cNvPr id="45" name="矩形: 圆角 44"/>
          <p:cNvSpPr/>
          <p:nvPr/>
        </p:nvSpPr>
        <p:spPr>
          <a:xfrm>
            <a:off x="571500" y="4743450"/>
            <a:ext cx="11049000" cy="819150"/>
          </a:xfrm>
          <a:prstGeom prst="roundRect">
            <a:avLst>
              <a:gd name="adj" fmla="val 16279"/>
            </a:avLst>
          </a:prstGeom>
          <a:gradFill>
            <a:gsLst>
              <a:gs pos="0">
                <a:srgbClr val="0A2B4D"/>
              </a:gs>
              <a:gs pos="100000">
                <a:srgbClr val="0F5C46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6" name="文本框 45" descr="{&quot;isTemplate&quot;:true,&quot;type&quot;:&quot;text&quot;}"/>
          <p:cNvSpPr txBox="1"/>
          <p:nvPr/>
        </p:nvSpPr>
        <p:spPr>
          <a:xfrm>
            <a:off x="781050" y="5057775"/>
            <a:ext cx="15811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7FE3C0"/>
                </a:solidFill>
                <a:latin typeface="Source Han Sans SC"/>
                <a:ea typeface="Source Han Sans SC"/>
              </a:rPr>
              <a:t>行业普遍短板</a:t>
            </a:r>
            <a:r>
              <a:rPr lang="en-US" sz="1275" b="1">
                <a:solidFill>
                  <a:srgbClr val="7FE3C0"/>
                </a:solidFill>
                <a:latin typeface="Source Han Sans SC"/>
                <a:ea typeface="Source Han Sans SC"/>
              </a:rPr>
              <a:t> → </a:t>
            </a:r>
            <a:r>
              <a:rPr lang="zh-CN" sz="1275" b="1">
                <a:solidFill>
                  <a:srgbClr val="7FE3C0"/>
                </a:solidFill>
                <a:latin typeface="Source Han Sans SC"/>
                <a:ea typeface="Source Han Sans SC"/>
              </a:rPr>
              <a:t>叁竹补齐</a:t>
            </a:r>
            <a:endParaRPr/>
          </a:p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2804160" y="4876800"/>
            <a:ext cx="8499566" cy="552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200" dirty="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中小机构无课程</a:t>
            </a:r>
            <a:r>
              <a:rPr lang="en-US" sz="1200" dirty="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 / </a:t>
            </a:r>
            <a:r>
              <a:rPr lang="zh-CN" sz="1200" dirty="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无场地</a:t>
            </a:r>
            <a:r>
              <a:rPr lang="en-US" sz="1200" dirty="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 / </a:t>
            </a:r>
            <a:r>
              <a:rPr lang="zh-CN" sz="1200" dirty="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无全国渠道</a:t>
            </a:r>
            <a:r>
              <a:rPr lang="en-US" sz="1200" dirty="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 / </a:t>
            </a:r>
            <a:r>
              <a:rPr lang="zh-CN" sz="1200" dirty="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无鉴定经验</a:t>
            </a:r>
            <a:r>
              <a:rPr lang="en-US" sz="1200" dirty="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 / </a:t>
            </a:r>
            <a:r>
              <a:rPr lang="zh-CN" sz="1200" dirty="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无实体场景；叁竹合作后同时具备头部品牌、全套课程、线上平台、鉴定能力、医养配套，壁垒难以复制。</a:t>
            </a:r>
            <a:endParaRPr dirty="0"/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5124450" y="6505575"/>
            <a:ext cx="1952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叁竹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×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湖外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校企合作商业计划书</a:t>
            </a:r>
            <a:endParaRPr/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10 / 27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width: '1280px', height: '720px', fontFamily: &quot;'Source Han Sans SC', 'Microsoft YaHei', sans-serif&quot; }}&gt;&#10;  &lt;Image src=&quot;assets/hero_building.png&quot; style={{ position: 'absolute', top: 0, left: 0, width: '100%', height: '100%', objectFit: 'cover' }} /&gt;&#10;  &lt;Box style={{ position: 'absolute', top: 0, left: 0, right: 0, bottom: 0, background: 'linear-gradient(135deg, rgba(10,43,77,0.82) 0%, rgba(15,92,70,0.78) 100%)' }} /&gt;&#10;&#10;  &lt;Box style={{ position: 'absolute', left: 0, right: 0, bottom: 0, height: 240, overflow: 'hidden' }}&gt;&#10;    &lt;svg width='1280' height='240' viewBox='0 0 1280 240' style={{ position: 'absolute', bottom: 0 }}&gt;&#10;      &lt;path d='M0,90 C340,20 920,180 1280,70 L1280,240 L0,240 Z' fill='rgba(10,43,77,0.55)' /&gt;&#10;      &lt;path d='M0,150 C380,80 900,210 1280,120 L1280,240 L0,240 Z' fill='rgba(10,43,77,0.40)' /&gt;&#10;    &lt;/svg&gt;&#10;  &lt;/Box&gt;&#10;&#10;  &lt;Box style={{ position: 'absolute', top: 0, left: 0, right: 0, bottom: 0, justifyContent: 'center', alignItems: 'center' }}&gt;&#10;    &lt;Box style={{ width: 200, height: 200, borderRadius: 999, background: 'rgba(255,255,255,0.12)', border: '4px solid rgba(255,255,255,0.35)', justifyContent: 'center', alignItems: 'center', marginBottom: 36 }}&gt;&#10;      &lt;Text style={{ color: '#FFFFFF', fontSize: 96, fontWeight: 'bold', fontFamily: &quot;'DIN Alternate','Inter',sans-serif&quot; }}&gt;04&lt;/Text&gt;&#10;    &lt;/Box&gt;&#10;    &lt;Text style={{ color: '#FFFFFF', fontSize: 56, fontWeight: 'bold', textShadow: '0 4px 18px rgba(0,0,0,0.35)' }}&gt;四、公司经营现状&lt;/Text&gt;&#10;    &lt;Text style={{ color: 'rgba(255,255,255,0.82)', fontSize: 22, marginTop: 18, letterSpacing: 2 }}&gt;股权结构 · 业务板块 · 核心资产&lt;/Text&gt;&#10;  &lt;/Box&gt;&#10;&#10;  &lt;Text style={{ position: 'absolute', bottom: 48, left: 0, right: 0, textAlign: 'center', color: 'rgba(255,255,255,0.6)', fontSize: 15 }}&gt;&#10;    叁竹 × 湖外 校企合作商业计划书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rcRect t="8894" b="889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52" name="矩形 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2B4D">
                  <a:alpha val="82000"/>
                </a:srgbClr>
              </a:gs>
              <a:gs pos="100000">
                <a:srgbClr val="0F5C46">
                  <a:alpha val="78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53" name="图形 5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572000"/>
            <a:ext cx="12192000" cy="2286000"/>
          </a:xfrm>
          <a:prstGeom prst="rect">
            <a:avLst/>
          </a:prstGeom>
          <a:ln/>
        </p:spPr>
      </p:pic>
      <p:sp>
        <p:nvSpPr>
          <p:cNvPr id="54" name="矩形: 圆角 53"/>
          <p:cNvSpPr/>
          <p:nvPr/>
        </p:nvSpPr>
        <p:spPr>
          <a:xfrm>
            <a:off x="5143500" y="1771650"/>
            <a:ext cx="1905000" cy="1905000"/>
          </a:xfrm>
          <a:prstGeom prst="roundRect">
            <a:avLst>
              <a:gd name="adj" fmla="val 499500"/>
            </a:avLst>
          </a:prstGeom>
          <a:solidFill>
            <a:srgbClr val="FFFFFF">
              <a:alpha val="12000"/>
            </a:srgbClr>
          </a:solidFill>
          <a:ln w="508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文本框 54" descr="{&quot;isTemplate&quot;:true,&quot;type&quot;:&quot;text&quot;}"/>
          <p:cNvSpPr txBox="1"/>
          <p:nvPr/>
        </p:nvSpPr>
        <p:spPr>
          <a:xfrm>
            <a:off x="5514975" y="2171700"/>
            <a:ext cx="1171575" cy="1104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DIN Alternate"/>
                <a:ea typeface="DIN Alternate"/>
              </a:rPr>
              <a:t>04</a:t>
            </a:r>
            <a:endParaRPr/>
          </a:p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3962400" y="4019550"/>
            <a:ext cx="4267200" cy="647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effectLst>
                  <a:outerShdw blurRad="171450" dist="38100" dir="5400000">
                    <a:srgbClr val="000000">
                      <a:alpha val="35000"/>
                    </a:srgbClr>
                  </a:outerShdw>
                </a:effectLst>
                <a:latin typeface="Source Han Sans SC"/>
                <a:ea typeface="Source Han Sans SC"/>
              </a:rPr>
              <a:t>四、公司经营现状</a:t>
            </a:r>
            <a:endParaRPr/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4495800" y="4838700"/>
            <a:ext cx="32099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股权结构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业务板块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核心资产</a:t>
            </a:r>
            <a:endParaRPr/>
          </a:p>
        </p:txBody>
      </p:sp>
      <p:sp>
        <p:nvSpPr>
          <p:cNvPr id="58" name="文本框 57" descr="{&quot;isTemplate&quot;:true,&quot;type&quot;:&quot;text&quot;}"/>
          <p:cNvSpPr txBox="1"/>
          <p:nvPr/>
        </p:nvSpPr>
        <p:spPr>
          <a:xfrm>
            <a:off x="-1" y="6229350"/>
            <a:ext cx="12191999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叁竹</a:t>
            </a: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× </a:t>
            </a: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湖外</a:t>
            </a: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</a:t>
            </a: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校企合作商业计划书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background: '#F4F9F6', fontFamily: &quot;'Source Han Sans SC', 'Microsoft YaHei', sans-serif&quot; }}&gt;&#10;  &lt;Box style={{ position: 'absolute', top: 0, left: 0, right: 0, height: 110, paddingLeft: 60, paddingRight: 60, flexDirection: 'row', alignItems: 'center' }}&gt;&#10;    &lt;Box style={{ width: 6, height: 44, background: '#0F5C46', borderRadius: 3, marginRight: 18 }} /&gt;&#10;    &lt;Text style={{ fontSize: 34, fontWeight: 'bold', color: '#1C2B24' }}&gt;公司经营现状 · 股权与核心业务板块&lt;/Text&gt;&#10;  &lt;/Box&gt;&#10;&#10;  &lt;Box style={{ position: 'absolute', top: 124, left: 60, right: 60, bottom: 64, flexDirection: 'column', gap: 16 }}&gt;&#10;    {/* 顶部数字条 */}&#10;    &lt;Box style={{ flexDirection: 'row', gap: 16, height: 96 }}&gt;&#10;      &lt;Box style={{ flex: 1, background: 'linear-gradient(135deg,#0F5C46,#0A2B4D)', borderRadius: 14, padding: 14, flexDirection: 'row', alignItems: 'center', gap: 12 }}&gt;&#10;        &lt;Text style={{ color: '#FFFFFF', fontSize: 48, fontWeight: 'bold', fontFamily: &quot;'DIN Alternate','Inter',sans-serif&quot; }}&gt;60%&lt;/Text&gt;&#10;        &lt;Text style={{ color: 'rgba(255,255,255,0.9)', fontSize: 17 }}&gt;原自然人股东{'\n'}持股并全权运营&lt;/Text&gt;&#10;      &lt;/Box&gt;&#10;      &lt;Box style={{ flex: 1, background: 'linear-gradient(135deg,#0F5C46,#0A2B4D)', borderRadius: 14, padding: 14, flexDirection: 'row', alignItems: 'center', gap: 12 }}&gt;&#10;        &lt;Text style={{ color: '#FFFFFF', fontSize: 48, fontWeight: 'bold', fontFamily: &quot;'DIN Alternate','Inter',sans-serif&quot; }}&gt;40%&lt;/Text&gt;&#10;        &lt;Text style={{ color: 'rgba(255,255,255,0.9)', fontSize: 17 }}&gt;湖外现金入股{'\n'}对应出资 1200 万&lt;/Text&gt;&#10;      &lt;/Box&gt;&#10;      &lt;Box style={{ flex: 1, background: 'linear-gradient(135deg,#0F5C46,#0A2B4D)', borderRadius: 14, padding: 14, flexDirection: 'row', alignItems: 'center', gap: 12 }}&gt;&#10;        &lt;Text style={{ color: '#FFFFFF', fontSize: 48, fontWeight: 'bold', fontFamily: &quot;'DIN Alternate','Inter',sans-serif&quot; }}&gt;6000+&lt;/Text&gt;&#10;        &lt;Text style={{ color: 'rgba(255,255,255,0.9)', fontSize: 17 }}&gt;2025 全年{'\n'}培训人次&lt;/Text&gt;&#10;      &lt;/Box&gt;&#10;    &lt;/Box&gt;&#10;&#10;    {/* 下排：左表 + 右图 */}&#10;    &lt;Box style={{ flex: 1, flexDirection: 'row', gap: 20 }}&gt;&#10;      {/* 左侧：业务板块表 */}&#10;      &lt;Box style={{ flex: 1.2, background: '#FFFFFF', borderRadius: 14, padding: '16px 18px', boxShadow: '0 4px 16px rgba(15,92,70,0.08)', flexDirection: 'column' }}&gt;&#10;        &lt;Text style={{ fontSize: 19, fontWeight: 'bold', color: '#0F5C46', marginBottom: 10 }}&gt;核心业务板块（五大方向）&lt;/Text&gt;&#10;        &lt;Table&#10;          style={{ width: '100%', height: '100%' }}&#10;          defaultTextStyle={{ fontSize: 15, textAlign: 'left', color: '#1C2B24' }}&#10;          defaultCellStyle={{ border: { left: { width: 1, color: '#E2EFE9' }, right: { width: 1, color: '#E2EFE9' }, top: { width: 1, color: '#E2EFE9' }, bottom: { width: 1, color: '#E2EFE9' } } }}&#10;          cells={[&#10;            [&#10;              { text: '序号', textStyle: { bold: true, color: '#fff' }, cellStyle: { background: { color: '#0F5C46' } } },&#10;              { text: '业务板块', textStyle: { bold: true, color: '#fff' }, cellStyle: { background: { color: '#0F5C46' } } },&#10;            ],&#10;            ['①', '线下标准化养老照护技能培训（省内前三，2025 年 6000+ 人次）'],&#10;            [{ text: '②', cellStyle: { background: { color: '#F4F9F6' } } }, { text: '九大工种全套自研课程体系输出', cellStyle: { background: { color: '#F4F9F6' } } }],&#10;            ['③', '全国线上招生、咨询数字化平台运营，全国拓客成熟'],&#10;            [{ text: '④', cellStyle: { background: { color: '#F4F9F6' } } }, { text: '协助院校申报技能鉴定资质，联合申报省级认定', cellStyle: { background: { color: '#F4F9F6' } } }],&#10;            ['⑤', '养老持证人才定向输送至养老院、长护险服务商'],&#10;          ]}&#10;        /&gt;&#10;      &lt;/Box&gt;&#10;&#10;      {/* 右侧：经营指标柱状图 */}&#10;      &lt;Box style={{ flex: 0.85, background: '#FFFFFF', borderRadius: 14, padding: '16px 18px', boxShadow: '0 4px 16px rgba(15,92,70,0.08)', flexDirection: 'column' }}&gt;&#10;        &lt;Text style={{ fontSize: 19, fontWeight: 'bold', color: '#0F5C46', marginBottom: 14 }}&gt;2025 核心经营指标&lt;/Text&gt;&#10;        &lt;Box style={{ flex: 1, flexDirection: 'column', justifyContent: 'center', gap: 22 }}&gt;&#10;          {[&#10;            ['年培训人次', 6000, '#0F5C46', '6000+'],&#10;            ['自研工种体系', 9, '#2E9E78', '9 大'],&#10;            ['业务板块', 5, '#4AAD8C', '5 个'],&#10;            ['覆盖范围', 1, '#0A2B4D', '全国'],&#10;          ].map((row, i) =&gt; (&#10;            &lt;Box key={i} style={{ flexDirection: 'row', alignItems: 'center', gap: 10 }}&gt;&#10;              &lt;Text style={{ width: 90, fontSize: 14, color: '#3A463F', textAlign: 'right' }}&gt;{row[0]}&lt;/Text&gt;&#10;              &lt;Box style={{ flex: 1, height: 22, background: '#EDF4F0', borderRadius: 11, overflow: 'hidden' }}&gt;&#10;                &lt;Box style={{ width: `${(row[1] / 6000) * 100}%`, minWidth: row[1] === 1 ? 40 : undefined, height: '100%', background: row[2], borderRadius: 11, justifyContent: 'center', paddingLeft: 10 }}&gt;&#10;                  &lt;Text style={{ color: '#FFFFFF', fontSize: 13, fontWeight: 'bold' }}&gt;{row[3]}&lt;/Text&gt;&#10;                &lt;/Box&gt;&#10;              &lt;/Box&gt;&#10;            &lt;/Box&gt;&#10;          ))}&#10;        &lt;/Box&gt;&#10;      &lt;/Box&gt;&#10;    &lt;/Box&gt;&#10;  &lt;/Box&gt;&#10;&#10;  &lt;Box style={{ position: 'absolute', bottom: 0, left: 0, right: 0, height: 58, paddingLeft: 60, paddingRight: 60, flexDirection: 'row', alignItems: 'center' }}&gt;&#10;    &lt;Box style={{ flex: 1 }} /&gt;&#10;    &lt;Text style={{ fontSize: 14, color: '#5C6B63', textAlign: 'center' }}&gt;叁竹 × 湖外 校企合作商业计划书&lt;/Text&gt;&#10;    &lt;Box style={{ flex: 1, alignItems: 'flex-end' }}&gt;&#10;      &lt;Text style={{ fontSize: 14, color: '#5C6B63' }}&gt;12 / 27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 5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1" name="矩形: 圆角 60"/>
          <p:cNvSpPr/>
          <p:nvPr/>
        </p:nvSpPr>
        <p:spPr>
          <a:xfrm>
            <a:off x="571500" y="314325"/>
            <a:ext cx="57150" cy="419100"/>
          </a:xfrm>
          <a:prstGeom prst="roundRect">
            <a:avLst>
              <a:gd name="adj" fmla="val 50000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2" name="文本框 61" descr="{&quot;isTemplate&quot;:true,&quot;type&quot;:&quot;text&quot;}"/>
          <p:cNvSpPr txBox="1"/>
          <p:nvPr/>
        </p:nvSpPr>
        <p:spPr>
          <a:xfrm>
            <a:off x="800100" y="333375"/>
            <a:ext cx="52006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2B24"/>
                </a:solidFill>
                <a:latin typeface="Source Han Sans SC"/>
                <a:ea typeface="Source Han Sans SC"/>
              </a:rPr>
              <a:t>公司经营现状</a:t>
            </a:r>
            <a:r>
              <a:rPr lang="en-US" sz="2550" b="1">
                <a:solidFill>
                  <a:srgbClr val="1C2B24"/>
                </a:solidFill>
                <a:latin typeface="Source Han Sans SC"/>
                <a:ea typeface="Source Han Sans SC"/>
              </a:rPr>
              <a:t> · </a:t>
            </a:r>
            <a:r>
              <a:rPr lang="zh-CN" sz="2550" b="1">
                <a:solidFill>
                  <a:srgbClr val="1C2B24"/>
                </a:solidFill>
                <a:latin typeface="Source Han Sans SC"/>
                <a:ea typeface="Source Han Sans SC"/>
              </a:rPr>
              <a:t>股权与核心业务板块</a:t>
            </a:r>
            <a:endParaRPr/>
          </a:p>
        </p:txBody>
      </p:sp>
      <p:sp>
        <p:nvSpPr>
          <p:cNvPr id="63" name="矩形: 圆角 62"/>
          <p:cNvSpPr/>
          <p:nvPr/>
        </p:nvSpPr>
        <p:spPr>
          <a:xfrm>
            <a:off x="571500" y="1181100"/>
            <a:ext cx="3581400" cy="914400"/>
          </a:xfrm>
          <a:prstGeom prst="roundRect">
            <a:avLst>
              <a:gd name="adj" fmla="val 14583"/>
            </a:avLst>
          </a:prstGeom>
          <a:gradFill>
            <a:gsLst>
              <a:gs pos="0">
                <a:srgbClr val="0F5C46"/>
              </a:gs>
              <a:gs pos="100000">
                <a:srgbClr val="0A2B4D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704850" y="1362075"/>
            <a:ext cx="1133475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FFFF"/>
                </a:solidFill>
                <a:latin typeface="DIN Alternate"/>
                <a:ea typeface="DIN Alternate"/>
              </a:rPr>
              <a:t>60%</a:t>
            </a:r>
            <a:endParaRPr/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1952625" y="1447800"/>
            <a:ext cx="11334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90000"/>
                  </a:srgbClr>
                </a:solidFill>
                <a:latin typeface="Source Han Sans SC"/>
                <a:ea typeface="Source Han Sans SC"/>
              </a:rPr>
              <a:t>原自然人股东</a:t>
            </a:r>
            <a:endParaRPr/>
          </a:p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90000"/>
                  </a:srgbClr>
                </a:solidFill>
                <a:latin typeface="Source Han Sans SC"/>
                <a:ea typeface="Source Han Sans SC"/>
              </a:rPr>
              <a:t>持股并全权运营</a:t>
            </a:r>
            <a:endParaRPr/>
          </a:p>
        </p:txBody>
      </p:sp>
      <p:sp>
        <p:nvSpPr>
          <p:cNvPr id="66" name="矩形: 圆角 65"/>
          <p:cNvSpPr/>
          <p:nvPr/>
        </p:nvSpPr>
        <p:spPr>
          <a:xfrm>
            <a:off x="4305300" y="1181100"/>
            <a:ext cx="3581400" cy="914400"/>
          </a:xfrm>
          <a:prstGeom prst="roundRect">
            <a:avLst>
              <a:gd name="adj" fmla="val 14583"/>
            </a:avLst>
          </a:prstGeom>
          <a:gradFill>
            <a:gsLst>
              <a:gs pos="0">
                <a:srgbClr val="0F5C46"/>
              </a:gs>
              <a:gs pos="100000">
                <a:srgbClr val="0A2B4D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4438650" y="1362075"/>
            <a:ext cx="1133475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FFFF"/>
                </a:solidFill>
                <a:latin typeface="DIN Alternate"/>
                <a:ea typeface="DIN Alternate"/>
              </a:rPr>
              <a:t>40%</a:t>
            </a:r>
            <a:endParaRPr/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5686425" y="1447800"/>
            <a:ext cx="12858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90000"/>
                  </a:srgbClr>
                </a:solidFill>
                <a:latin typeface="Source Han Sans SC"/>
                <a:ea typeface="Source Han Sans SC"/>
              </a:rPr>
              <a:t>湖外现金入股</a:t>
            </a:r>
            <a:endParaRPr/>
          </a:p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90000"/>
                  </a:srgbClr>
                </a:solidFill>
                <a:latin typeface="Source Han Sans SC"/>
                <a:ea typeface="Source Han Sans SC"/>
              </a:rPr>
              <a:t>对应出资</a:t>
            </a:r>
            <a:r>
              <a:rPr lang="en-US" sz="1275">
                <a:solidFill>
                  <a:srgbClr val="FFFFFF">
                    <a:alpha val="90000"/>
                  </a:srgbClr>
                </a:solidFill>
                <a:latin typeface="Source Han Sans SC"/>
                <a:ea typeface="Source Han Sans SC"/>
              </a:rPr>
              <a:t> 1200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Source Han Sans SC"/>
                <a:ea typeface="Source Han Sans SC"/>
              </a:rPr>
              <a:t>万</a:t>
            </a:r>
            <a:endParaRPr/>
          </a:p>
        </p:txBody>
      </p:sp>
      <p:sp>
        <p:nvSpPr>
          <p:cNvPr id="69" name="矩形: 圆角 68"/>
          <p:cNvSpPr/>
          <p:nvPr/>
        </p:nvSpPr>
        <p:spPr>
          <a:xfrm>
            <a:off x="8039100" y="1181100"/>
            <a:ext cx="3581400" cy="914400"/>
          </a:xfrm>
          <a:prstGeom prst="roundRect">
            <a:avLst>
              <a:gd name="adj" fmla="val 14583"/>
            </a:avLst>
          </a:prstGeom>
          <a:gradFill>
            <a:gsLst>
              <a:gs pos="0">
                <a:srgbClr val="0F5C46"/>
              </a:gs>
              <a:gs pos="100000">
                <a:srgbClr val="0A2B4D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8172450" y="1362075"/>
            <a:ext cx="1543050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FFFFFF"/>
                </a:solidFill>
                <a:latin typeface="DIN Alternate"/>
                <a:ea typeface="DIN Alternate"/>
              </a:rPr>
              <a:t>6000+</a:t>
            </a:r>
            <a:endParaRPr/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9829800" y="1447800"/>
            <a:ext cx="752475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75">
                <a:solidFill>
                  <a:srgbClr val="FFFFFF">
                    <a:alpha val="90000"/>
                  </a:srgbClr>
                </a:solidFill>
                <a:latin typeface="Source Han Sans SC"/>
                <a:ea typeface="Source Han Sans SC"/>
              </a:rPr>
              <a:t>2025 </a:t>
            </a:r>
            <a:r>
              <a:rPr lang="zh-CN" sz="1275">
                <a:solidFill>
                  <a:srgbClr val="FFFFFF">
                    <a:alpha val="90000"/>
                  </a:srgbClr>
                </a:solidFill>
                <a:latin typeface="Source Han Sans SC"/>
                <a:ea typeface="Source Han Sans SC"/>
              </a:rPr>
              <a:t>全年</a:t>
            </a:r>
            <a:endParaRPr/>
          </a:p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90000"/>
                  </a:srgbClr>
                </a:solidFill>
                <a:latin typeface="Source Han Sans SC"/>
                <a:ea typeface="Source Han Sans SC"/>
              </a:rPr>
              <a:t>培训人次</a:t>
            </a:r>
            <a:endParaRPr/>
          </a:p>
        </p:txBody>
      </p:sp>
      <p:sp>
        <p:nvSpPr>
          <p:cNvPr id="72" name="矩形: 圆角 71"/>
          <p:cNvSpPr/>
          <p:nvPr/>
        </p:nvSpPr>
        <p:spPr>
          <a:xfrm>
            <a:off x="571500" y="2247900"/>
            <a:ext cx="6353175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742950" y="2400300"/>
            <a:ext cx="60102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5C46"/>
                </a:solidFill>
                <a:latin typeface="Source Han Sans SC"/>
                <a:ea typeface="Source Han Sans SC"/>
              </a:rPr>
              <a:t>核心业务板块（五大方向）</a:t>
            </a:r>
            <a:endParaRPr/>
          </a:p>
        </p:txBody>
      </p:sp>
      <p:graphicFrame>
        <p:nvGraphicFramePr>
          <p:cNvPr id="74" name="表格 73"/>
          <p:cNvGraphicFramePr/>
          <p:nvPr/>
        </p:nvGraphicFramePr>
        <p:xfrm>
          <a:off x="742950" y="2714625"/>
          <a:ext cx="6010275" cy="3381378"/>
        </p:xfrm>
        <a:graphic>
          <a:graphicData uri="http://schemas.openxmlformats.org/drawingml/2006/table">
            <a:tbl>
              <a:tblPr/>
              <a:tblGrid>
                <a:gridCol w="486523">
                  <a:extLst>
                    <a:ext uri="{9D8B030D-6E8A-4147-A177-3AD203B41FA5}">
                      <a16:colId xmlns:a16="http://schemas.microsoft.com/office/drawing/2014/main" val="1"/>
                    </a:ext>
                  </a:extLst>
                </a:gridCol>
                <a:gridCol w="5523752">
                  <a:extLst>
                    <a:ext uri="{9D8B030D-6E8A-4147-A177-3AD203B41FA5}">
                      <a16:colId xmlns:a16="http://schemas.microsoft.com/office/drawing/2014/main" val="2"/>
                    </a:ext>
                  </a:extLst>
                </a:gridCol>
              </a:tblGrid>
              <a:tr h="56356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序号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5C46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业务板块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5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C2B24"/>
                          </a:solidFill>
                          <a:latin typeface="Microsoft YaHei"/>
                          <a:ea typeface="Microsoft YaHei"/>
                        </a:rPr>
                        <a:t>①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C2B24"/>
                          </a:solidFill>
                          <a:latin typeface="Microsoft YaHei"/>
                          <a:ea typeface="Microsoft YaHei"/>
                        </a:rPr>
                        <a:t>线下标准化养老照护技能培训（省内前三，2025 年 6000+ 人次）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C2B24"/>
                          </a:solidFill>
                          <a:latin typeface="Microsoft YaHei"/>
                          <a:ea typeface="Microsoft YaHei"/>
                        </a:rPr>
                        <a:t>②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C2B24"/>
                          </a:solidFill>
                          <a:latin typeface="Microsoft YaHei"/>
                          <a:ea typeface="Microsoft YaHei"/>
                        </a:rPr>
                        <a:t>九大工种全套自研课程体系输出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C2B24"/>
                          </a:solidFill>
                          <a:latin typeface="Microsoft YaHei"/>
                          <a:ea typeface="Microsoft YaHei"/>
                        </a:rPr>
                        <a:t>③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C2B24"/>
                          </a:solidFill>
                          <a:latin typeface="Microsoft YaHei"/>
                          <a:ea typeface="Microsoft YaHei"/>
                        </a:rPr>
                        <a:t>全国线上招生、咨询数字化平台运营，全国拓客成熟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C2B24"/>
                          </a:solidFill>
                          <a:latin typeface="Microsoft YaHei"/>
                          <a:ea typeface="Microsoft YaHei"/>
                        </a:rPr>
                        <a:t>④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9F6"/>
                    </a:solidFill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C2B24"/>
                          </a:solidFill>
                          <a:latin typeface="Microsoft YaHei"/>
                          <a:ea typeface="Microsoft YaHei"/>
                        </a:rPr>
                        <a:t>协助院校申报技能鉴定资质，联合申报省级认定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4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"/>
                  </a:ext>
                </a:extLst>
              </a:tr>
              <a:tr h="563563"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C2B24"/>
                          </a:solidFill>
                          <a:latin typeface="Microsoft YaHei"/>
                          <a:ea typeface="Microsoft YaHei"/>
                        </a:rPr>
                        <a:t>⑤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C2B24"/>
                          </a:solidFill>
                          <a:latin typeface="Microsoft YaHei"/>
                          <a:ea typeface="Microsoft YaHei"/>
                        </a:rPr>
                        <a:t>养老持证人才定向输送至养老院、长护险服务商</a:t>
                      </a:r>
                      <a:endParaRPr/>
                    </a:p>
                  </a:txBody>
                  <a:tcPr marL="45720" marR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"/>
                  </a:ext>
                </a:extLst>
              </a:tr>
            </a:tbl>
          </a:graphicData>
        </a:graphic>
      </p:graphicFrame>
      <p:sp>
        <p:nvSpPr>
          <p:cNvPr id="75" name="矩形: 圆角 74"/>
          <p:cNvSpPr/>
          <p:nvPr/>
        </p:nvSpPr>
        <p:spPr>
          <a:xfrm>
            <a:off x="7115175" y="2247900"/>
            <a:ext cx="4505325" cy="40005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6" name="文本框 75" descr="{&quot;isTemplate&quot;:true,&quot;type&quot;:&quot;text&quot;}"/>
          <p:cNvSpPr txBox="1"/>
          <p:nvPr/>
        </p:nvSpPr>
        <p:spPr>
          <a:xfrm>
            <a:off x="7286625" y="2400300"/>
            <a:ext cx="41624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F5C46"/>
                </a:solidFill>
                <a:latin typeface="Source Han Sans SC"/>
                <a:ea typeface="Source Han Sans SC"/>
              </a:rPr>
              <a:t>2025 </a:t>
            </a:r>
            <a:r>
              <a:rPr lang="zh-CN" sz="1425" b="1">
                <a:solidFill>
                  <a:srgbClr val="0F5C46"/>
                </a:solidFill>
                <a:latin typeface="Source Han Sans SC"/>
                <a:ea typeface="Source Han Sans SC"/>
              </a:rPr>
              <a:t>核心经营指标</a:t>
            </a:r>
            <a:endParaRPr/>
          </a:p>
        </p:txBody>
      </p:sp>
      <p:sp>
        <p:nvSpPr>
          <p:cNvPr id="77" name="文本框 76" descr="{&quot;isTemplate&quot;:true,&quot;type&quot;:&quot;text&quot;}"/>
          <p:cNvSpPr txBox="1"/>
          <p:nvPr/>
        </p:nvSpPr>
        <p:spPr>
          <a:xfrm>
            <a:off x="7286625" y="3724275"/>
            <a:ext cx="857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>
              <a:lnSpc>
                <a:spcPct val="100000"/>
              </a:lnSpc>
            </a:pPr>
            <a:r>
              <a:rPr lang="zh-CN" sz="1050">
                <a:solidFill>
                  <a:srgbClr val="3A463F"/>
                </a:solidFill>
                <a:latin typeface="Source Han Sans SC"/>
                <a:ea typeface="Source Han Sans SC"/>
              </a:rPr>
              <a:t>年培训人次</a:t>
            </a:r>
            <a:endParaRPr/>
          </a:p>
        </p:txBody>
      </p:sp>
      <p:sp>
        <p:nvSpPr>
          <p:cNvPr id="78" name="矩形: 圆角 77"/>
          <p:cNvSpPr/>
          <p:nvPr/>
        </p:nvSpPr>
        <p:spPr>
          <a:xfrm>
            <a:off x="8239125" y="3695700"/>
            <a:ext cx="3209925" cy="209550"/>
          </a:xfrm>
          <a:prstGeom prst="roundRect">
            <a:avLst>
              <a:gd name="adj" fmla="val 50000"/>
            </a:avLst>
          </a:prstGeom>
          <a:solidFill>
            <a:srgbClr val="EDF4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9" name="矩形: 圆角 78"/>
          <p:cNvSpPr/>
          <p:nvPr/>
        </p:nvSpPr>
        <p:spPr>
          <a:xfrm>
            <a:off x="8239125" y="3695700"/>
            <a:ext cx="3209925" cy="209550"/>
          </a:xfrm>
          <a:prstGeom prst="roundRect">
            <a:avLst>
              <a:gd name="adj" fmla="val 50000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0" name="文本框 79" descr="{&quot;isTemplate&quot;:true,&quot;type&quot;:&quot;text&quot;}"/>
          <p:cNvSpPr txBox="1"/>
          <p:nvPr/>
        </p:nvSpPr>
        <p:spPr>
          <a:xfrm>
            <a:off x="8334375" y="3724275"/>
            <a:ext cx="31146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Source Han Sans SC"/>
                <a:ea typeface="Source Han Sans SC"/>
              </a:rPr>
              <a:t>6000+</a:t>
            </a:r>
            <a:endParaRPr/>
          </a:p>
        </p:txBody>
      </p:sp>
      <p:sp>
        <p:nvSpPr>
          <p:cNvPr id="81" name="文本框 80" descr="{&quot;isTemplate&quot;:true,&quot;type&quot;:&quot;text&quot;}"/>
          <p:cNvSpPr txBox="1"/>
          <p:nvPr/>
        </p:nvSpPr>
        <p:spPr>
          <a:xfrm>
            <a:off x="7286625" y="4143375"/>
            <a:ext cx="857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>
              <a:lnSpc>
                <a:spcPct val="100000"/>
              </a:lnSpc>
            </a:pPr>
            <a:r>
              <a:rPr lang="zh-CN" sz="1050">
                <a:solidFill>
                  <a:srgbClr val="3A463F"/>
                </a:solidFill>
                <a:latin typeface="Source Han Sans SC"/>
                <a:ea typeface="Source Han Sans SC"/>
              </a:rPr>
              <a:t>自研工种体系</a:t>
            </a:r>
            <a:endParaRPr/>
          </a:p>
        </p:txBody>
      </p:sp>
      <p:sp>
        <p:nvSpPr>
          <p:cNvPr id="82" name="矩形: 圆角 81"/>
          <p:cNvSpPr/>
          <p:nvPr/>
        </p:nvSpPr>
        <p:spPr>
          <a:xfrm>
            <a:off x="8239125" y="4114800"/>
            <a:ext cx="3209925" cy="209550"/>
          </a:xfrm>
          <a:prstGeom prst="roundRect">
            <a:avLst>
              <a:gd name="adj" fmla="val 50000"/>
            </a:avLst>
          </a:prstGeom>
          <a:solidFill>
            <a:srgbClr val="EDF4F0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83" name="任意多边形: 形状 82"/>
          <p:cNvSpPr/>
          <p:nvPr/>
        </p:nvSpPr>
        <p:spPr>
          <a:xfrm>
            <a:off x="8239125" y="4114800"/>
            <a:ext cx="9525" cy="209550"/>
          </a:xfrm>
          <a:custGeom>
            <a:avLst/>
            <a:gdLst/>
            <a:ahLst/>
            <a:cxnLst/>
            <a:rect l="0" t="0" r="0" b="0"/>
            <a:pathLst>
              <a:path w="1" h="22">
                <a:moveTo>
                  <a:pt x="1" y="16"/>
                </a:moveTo>
                <a:cubicBezTo>
                  <a:pt x="0" y="13"/>
                  <a:pt x="0" y="9"/>
                  <a:pt x="1" y="6"/>
                </a:cubicBezTo>
                <a:close/>
              </a:path>
            </a:pathLst>
          </a:cu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4" name="文本框 83" descr="{&quot;isTemplate&quot;:true,&quot;type&quot;:&quot;text&quot;}"/>
          <p:cNvSpPr txBox="1"/>
          <p:nvPr/>
        </p:nvSpPr>
        <p:spPr>
          <a:xfrm>
            <a:off x="8334375" y="4143375"/>
            <a:ext cx="2381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dirty="0">
                <a:solidFill>
                  <a:srgbClr val="FFFFFF"/>
                </a:solidFill>
                <a:latin typeface="Source Han Sans SC"/>
                <a:ea typeface="Source Han Sans SC"/>
              </a:rPr>
              <a:t>9 </a:t>
            </a:r>
            <a:r>
              <a:rPr lang="zh-CN" sz="975" b="1" dirty="0">
                <a:solidFill>
                  <a:srgbClr val="FFFFFF"/>
                </a:solidFill>
                <a:latin typeface="Source Han Sans SC"/>
                <a:ea typeface="Source Han Sans SC"/>
              </a:rPr>
              <a:t>大</a:t>
            </a:r>
            <a:endParaRPr dirty="0"/>
          </a:p>
        </p:txBody>
      </p:sp>
      <p:sp>
        <p:nvSpPr>
          <p:cNvPr id="85" name="文本框 84" descr="{&quot;isTemplate&quot;:true,&quot;type&quot;:&quot;text&quot;}"/>
          <p:cNvSpPr txBox="1"/>
          <p:nvPr/>
        </p:nvSpPr>
        <p:spPr>
          <a:xfrm>
            <a:off x="7286625" y="4562475"/>
            <a:ext cx="857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>
              <a:lnSpc>
                <a:spcPct val="100000"/>
              </a:lnSpc>
            </a:pPr>
            <a:r>
              <a:rPr lang="zh-CN" sz="1050">
                <a:solidFill>
                  <a:srgbClr val="3A463F"/>
                </a:solidFill>
                <a:latin typeface="Source Han Sans SC"/>
                <a:ea typeface="Source Han Sans SC"/>
              </a:rPr>
              <a:t>业务板块</a:t>
            </a:r>
            <a:endParaRPr/>
          </a:p>
        </p:txBody>
      </p:sp>
      <p:sp>
        <p:nvSpPr>
          <p:cNvPr id="86" name="矩形: 圆角 85"/>
          <p:cNvSpPr/>
          <p:nvPr/>
        </p:nvSpPr>
        <p:spPr>
          <a:xfrm>
            <a:off x="8239125" y="4533900"/>
            <a:ext cx="3209925" cy="209550"/>
          </a:xfrm>
          <a:prstGeom prst="roundRect">
            <a:avLst>
              <a:gd name="adj" fmla="val 50000"/>
            </a:avLst>
          </a:prstGeom>
          <a:solidFill>
            <a:srgbClr val="EDF4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7" name="矩形: 圆角 86"/>
          <p:cNvSpPr/>
          <p:nvPr/>
        </p:nvSpPr>
        <p:spPr>
          <a:xfrm>
            <a:off x="8239125" y="4533900"/>
            <a:ext cx="1365613" cy="209550"/>
          </a:xfrm>
          <a:prstGeom prst="roundRect">
            <a:avLst>
              <a:gd name="adj" fmla="val 50000"/>
            </a:avLst>
          </a:prstGeom>
          <a:solidFill>
            <a:srgbClr val="4AAD8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8" name="文本框 87" descr="{&quot;isTemplate&quot;:true,&quot;type&quot;:&quot;text&quot;}"/>
          <p:cNvSpPr txBox="1"/>
          <p:nvPr/>
        </p:nvSpPr>
        <p:spPr>
          <a:xfrm>
            <a:off x="8334375" y="4562475"/>
            <a:ext cx="2381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975" b="1" dirty="0">
                <a:solidFill>
                  <a:srgbClr val="FFFFFF"/>
                </a:solidFill>
                <a:latin typeface="Source Han Sans SC"/>
                <a:ea typeface="Source Han Sans SC"/>
              </a:rPr>
              <a:t>5 </a:t>
            </a:r>
            <a:r>
              <a:rPr lang="zh-CN" sz="975" b="1" dirty="0">
                <a:solidFill>
                  <a:srgbClr val="FFFFFF"/>
                </a:solidFill>
                <a:latin typeface="Source Han Sans SC"/>
                <a:ea typeface="Source Han Sans SC"/>
              </a:rPr>
              <a:t>个</a:t>
            </a:r>
            <a:endParaRPr dirty="0"/>
          </a:p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7286625" y="4981575"/>
            <a:ext cx="8572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r">
              <a:lnSpc>
                <a:spcPct val="100000"/>
              </a:lnSpc>
            </a:pPr>
            <a:r>
              <a:rPr lang="zh-CN" sz="1050">
                <a:solidFill>
                  <a:srgbClr val="3A463F"/>
                </a:solidFill>
                <a:latin typeface="Source Han Sans SC"/>
                <a:ea typeface="Source Han Sans SC"/>
              </a:rPr>
              <a:t>覆盖范围</a:t>
            </a:r>
            <a:endParaRPr/>
          </a:p>
        </p:txBody>
      </p:sp>
      <p:sp>
        <p:nvSpPr>
          <p:cNvPr id="90" name="矩形: 圆角 89"/>
          <p:cNvSpPr/>
          <p:nvPr/>
        </p:nvSpPr>
        <p:spPr>
          <a:xfrm>
            <a:off x="8239125" y="4953000"/>
            <a:ext cx="3209925" cy="209550"/>
          </a:xfrm>
          <a:prstGeom prst="roundRect">
            <a:avLst>
              <a:gd name="adj" fmla="val 50000"/>
            </a:avLst>
          </a:prstGeom>
          <a:solidFill>
            <a:srgbClr val="EDF4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1" name="矩形: 圆角 90"/>
          <p:cNvSpPr/>
          <p:nvPr/>
        </p:nvSpPr>
        <p:spPr>
          <a:xfrm>
            <a:off x="8239124" y="4953000"/>
            <a:ext cx="3200399" cy="209550"/>
          </a:xfrm>
          <a:prstGeom prst="roundRect">
            <a:avLst>
              <a:gd name="adj" fmla="val 50000"/>
            </a:avLst>
          </a:prstGeom>
          <a:solidFill>
            <a:srgbClr val="0A2B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8287021" y="4981574"/>
            <a:ext cx="456385" cy="209549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975" b="1" dirty="0">
                <a:solidFill>
                  <a:srgbClr val="FFFFFF"/>
                </a:solidFill>
                <a:latin typeface="Source Han Sans SC"/>
                <a:ea typeface="Source Han Sans SC"/>
              </a:rPr>
              <a:t>全国</a:t>
            </a:r>
            <a:endParaRPr dirty="0"/>
          </a:p>
        </p:txBody>
      </p:sp>
      <p:sp>
        <p:nvSpPr>
          <p:cNvPr id="93" name="文本框 92" descr="{&quot;isTemplate&quot;:true,&quot;type&quot;:&quot;text&quot;}"/>
          <p:cNvSpPr txBox="1"/>
          <p:nvPr/>
        </p:nvSpPr>
        <p:spPr>
          <a:xfrm>
            <a:off x="5124450" y="6505575"/>
            <a:ext cx="1952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叁竹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×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湖外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校企合作商业计划书</a:t>
            </a:r>
            <a:endParaRPr/>
          </a:p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12 / 27</a:t>
            </a:r>
            <a:endParaRPr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AA836133-7A33-A1E9-CEC1-A09263D3F28E}"/>
              </a:ext>
            </a:extLst>
          </p:cNvPr>
          <p:cNvSpPr/>
          <p:nvPr/>
        </p:nvSpPr>
        <p:spPr>
          <a:xfrm>
            <a:off x="8287021" y="4137654"/>
            <a:ext cx="1770563" cy="209550"/>
          </a:xfrm>
          <a:prstGeom prst="roundRect">
            <a:avLst>
              <a:gd name="adj" fmla="val 50000"/>
            </a:avLst>
          </a:prstGeom>
          <a:solidFill>
            <a:srgbClr val="4AAD8C"/>
          </a:solidFill>
          <a:ln/>
        </p:spPr>
        <p:txBody>
          <a:bodyPr/>
          <a:lstStyle/>
          <a:p>
            <a:endParaRPr dirty="0">
              <a:highlight>
                <a:srgbClr val="008000"/>
              </a:highlight>
            </a:endParaRPr>
          </a:p>
        </p:txBody>
      </p:sp>
      <p:sp>
        <p:nvSpPr>
          <p:cNvPr id="5" name="文本框 4" descr="{&quot;isTemplate&quot;:true,&quot;type&quot;:&quot;text&quot;}">
            <a:extLst>
              <a:ext uri="{FF2B5EF4-FFF2-40B4-BE49-F238E27FC236}">
                <a16:creationId xmlns:a16="http://schemas.microsoft.com/office/drawing/2014/main" id="{90E7D2DB-8E28-888A-1C07-68E84108FE90}"/>
              </a:ext>
            </a:extLst>
          </p:cNvPr>
          <p:cNvSpPr txBox="1"/>
          <p:nvPr/>
        </p:nvSpPr>
        <p:spPr>
          <a:xfrm>
            <a:off x="8382271" y="4166229"/>
            <a:ext cx="2381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975" b="1" dirty="0">
                <a:solidFill>
                  <a:srgbClr val="FFFFFF"/>
                </a:solidFill>
                <a:latin typeface="Source Han Sans SC"/>
                <a:ea typeface="Source Han Sans SC"/>
              </a:rPr>
              <a:t>9 </a:t>
            </a:r>
            <a:r>
              <a:rPr lang="zh-CN" sz="975" b="1" dirty="0">
                <a:solidFill>
                  <a:srgbClr val="FFFFFF"/>
                </a:solidFill>
                <a:latin typeface="Source Han Sans SC"/>
                <a:ea typeface="Source Han Sans SC"/>
              </a:rPr>
              <a:t>个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background: '#F4F9F6', fontFamily: &quot;'Source Han Sans SC', 'Microsoft YaHei', sans-serif&quot; }}&gt;&#10;  &lt;Box style={{ position: 'absolute', top: 0, left: 0, right: 0, height: 110, paddingLeft: 60, paddingRight: 60, flexDirection: 'row', alignItems: 'center' }}&gt;&#10;    &lt;Box style={{ width: 6, height: 44, background: '#0F5C46', borderRadius: 3, marginRight: 18 }} /&gt;&#10;    &lt;Text style={{ fontSize: 34, fontWeight: 'bold', color: '#1C2B24' }}&gt;资产结构与估值协商基础&lt;/Text&gt;&#10;  &lt;/Box&gt;&#10;&#10;  &lt;Box style={{ position: 'absolute', top: 124, left: 60, right: 60, bottom: 64, flexDirection: 'row', gap: 22 }}&gt;&#10;    {/* 左：无形资产清单 + 条形图 */}&#10;    &lt;Box style={{ flex: 1.1, background: '#FFFFFF', borderRadius: 14, padding: '18px 22px', boxShadow: '0 4px 16px rgba(15,92,70,0.08)', flexDirection: 'column' }}&gt;&#10;      &lt;Text style={{ fontSize: 20, fontWeight: 'bold', color: '#0F5C46', marginBottom: 14 }}&gt;核心高价值资产（均为无形资产）&lt;/Text&gt;&#10;      &lt;Box style={{ flex: 1, flexDirection: 'column', justifyContent: 'center', gap: 16 }}&gt;&#10;        {[&#10;          ['九大工种课程著作权', 0.95],&#10;          ['成熟技能鉴定申报运营体系', 0.88],&#10;          ['省内头部品牌口碑与公信力', 0.82],&#10;          ['全国线上招生咨询平台', 0.75],&#10;          ['全国康养机构渠道网络', 0.70],&#10;          ['稳定专业运营团队', 0.68],&#10;        ].map((t, i) =&gt; (&#10;          &lt;Box key={i} style={{ flexDirection: 'column', gap: 5 }}&gt;&#10;            &lt;Box style={{ flexDirection: 'row', justifyContent: 'space-between', alignItems: 'center' }}&gt;&#10;              &lt;Box style={{ flexDirection: 'row', alignItems: 'center', gap: 10 }}&gt;&#10;                &lt;FAIcon name='diamond' style={{ fill: '#2E9E78', width: 18, height: 18 }} /&gt;&#10;                &lt;Text style={{ fontSize: 16, color: '#1C2B24' }}&gt;{t[0]}&lt;/Text&gt;&#10;              &lt;/Box&gt;&#10;            &lt;/Box&gt;&#10;            &lt;Box style={{ height: 10, background: '#EDF4F0', borderRadius: 5, overflow: 'hidden', marginLeft: 28 }}&gt;&#10;              &lt;Box style={{ width: `${t[1] * 100}%`, height: '100%', background: i % 2 === 0 ? '#0F5C46' : '#2E9E78', borderRadius: 5 }} /&gt;&#10;            &lt;/Box&gt;&#10;          &lt;/Box&gt;&#10;        ))}&#10;      &lt;/Box&gt;&#10;    &lt;/Box&gt;&#10;&#10;    {/* 右：估值逻辑 + 大数字 */}&#10;    &lt;Box style={{ flex: 1, flexDirection: 'column', gap: 16 }}&gt;&#10;      &lt;Box style={{ background: '#FFFFFF', borderRadius: 14, padding: '18px 22px', boxShadow: '0 4px 16px rgba(15,92,70,0.08)', flex: 1, justifyContent: 'center' }}&gt;&#10;        &lt;Text style={{ fontSize: 19, fontWeight: 'bold', color: '#0F5C46', marginBottom: 8 }}&gt;估值协商逻辑&lt;/Text&gt;&#10;        &lt;Text style={{ fontSize: 16.5, color: '#3A463F', lineHeight: 1.62 }}&gt;&#10;          本次投前 &lt;Text style={{ fontWeight: 'bold', color: '#0F5C46' }}&gt;3000 万元估值不引入第三方资产评估&lt;/Text&gt;，系双方基于多年合作信任、康养行业前景、湖外打造 UBIC 养老社区完整产业链的战略规划，结合叁竹现有业务规模与无形资产价值共同协商议定。合作后零场地租金，大幅优化盈利空间。&#10;        &lt;/Text&gt;&#10;      &lt;/Box&gt;&#10;      &lt;Box style={{ background: 'linear-gradient(135deg,#0A2B4D,#0F5C46)', borderRadius: 14, padding: '18px 24px', flexDirection: 'row', alignItems: 'center', gap: 18, height: 120 }}&gt;&#10;        &lt;Box style={{ flexDirection: 'row', alignItems: 'flex-end' }}&gt;&#10;          &lt;Text style={{ color: '#7FE3C0', fontSize: 56, fontWeight: 'bold', fontFamily: &quot;'DIN Alternate','Inter',sans-serif&quot;, lineHeight: 1 }}&gt;3000&lt;/Text&gt;&#10;          &lt;Text style={{ color: '#FFFFFF', fontSize: 22, fontWeight: 'bold', marginBottom: 8, marginLeft: 6 }}&gt;万元&lt;/Text&gt;&#10;        &lt;/Box&gt;&#10;        &lt;Box style={{ width: 1, height: 60, background: 'rgba(255,255,255,0.25)' }} /&gt;&#10;        &lt;Text style={{ color: '#FFFFFF', fontSize: 16, lineHeight: 1.5 }}&gt;投前公允估值{'\n'}&lt;Text style={{ fontSize: 14, color: 'rgba(255,255,255,0.75)' }}&gt;（划拨场地仅台账备案，不纳入作价）&lt;/Text&gt;&lt;/Text&gt;&#10;      &lt;/Box&gt;&#10;    &lt;/Box&gt;&#10;  &lt;/Box&gt;&#10;&#10;  &lt;Box style={{ position: 'absolute', bottom: 0, left: 0, right: 0, height: 58, paddingLeft: 60, paddingRight: 60, flexDirection: 'row', alignItems: 'center' }}&gt;&#10;    &lt;Box style={{ flex: 1 }} /&gt;&#10;    &lt;Text style={{ fontSize: 14, color: '#5C6B63', textAlign: 'center' }}&gt;叁竹 × 湖外 校企合作商业计划书&lt;/Text&gt;&#10;    &lt;Box style={{ flex: 1, alignItems: 'flex-end' }}&gt;&#10;      &lt;Text style={{ fontSize: 14, color: '#5C6B63' }}&gt;13 / 27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矩形 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7" name="矩形: 圆角 96"/>
          <p:cNvSpPr/>
          <p:nvPr/>
        </p:nvSpPr>
        <p:spPr>
          <a:xfrm>
            <a:off x="571500" y="314325"/>
            <a:ext cx="57150" cy="419100"/>
          </a:xfrm>
          <a:prstGeom prst="roundRect">
            <a:avLst>
              <a:gd name="adj" fmla="val 50000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800100" y="333375"/>
            <a:ext cx="3562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2B24"/>
                </a:solidFill>
                <a:latin typeface="Source Han Sans SC"/>
                <a:ea typeface="Source Han Sans SC"/>
              </a:rPr>
              <a:t>资产结构与估值协商基础</a:t>
            </a:r>
            <a:endParaRPr/>
          </a:p>
        </p:txBody>
      </p:sp>
      <p:sp>
        <p:nvSpPr>
          <p:cNvPr id="99" name="矩形: 圆角 98"/>
          <p:cNvSpPr/>
          <p:nvPr/>
        </p:nvSpPr>
        <p:spPr>
          <a:xfrm>
            <a:off x="571500" y="1181100"/>
            <a:ext cx="5676900" cy="50673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781050" y="1352550"/>
            <a:ext cx="52578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5C46"/>
                </a:solidFill>
                <a:latin typeface="Source Han Sans SC"/>
                <a:ea typeface="Source Han Sans SC"/>
              </a:rPr>
              <a:t>核心高价值资产（均为无形资产）</a:t>
            </a:r>
            <a:endParaRPr/>
          </a:p>
        </p:txBody>
      </p:sp>
      <p:pic>
        <p:nvPicPr>
          <p:cNvPr id="101" name="图形 10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050" y="2524125"/>
            <a:ext cx="171450" cy="171450"/>
          </a:xfrm>
          <a:prstGeom prst="rect">
            <a:avLst/>
          </a:prstGeom>
          <a:ln/>
        </p:spPr>
      </p:pic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1047750" y="2514600"/>
            <a:ext cx="13716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1C2B24"/>
                </a:solidFill>
                <a:latin typeface="Source Han Sans SC"/>
                <a:ea typeface="Source Han Sans SC"/>
              </a:rPr>
              <a:t>九大工种课程著作权</a:t>
            </a:r>
            <a:endParaRPr/>
          </a:p>
        </p:txBody>
      </p:sp>
      <p:sp>
        <p:nvSpPr>
          <p:cNvPr id="103" name="矩形: 圆角 102"/>
          <p:cNvSpPr/>
          <p:nvPr/>
        </p:nvSpPr>
        <p:spPr>
          <a:xfrm>
            <a:off x="1047750" y="2752725"/>
            <a:ext cx="4991100" cy="95250"/>
          </a:xfrm>
          <a:prstGeom prst="roundRect">
            <a:avLst>
              <a:gd name="adj" fmla="val 50000"/>
            </a:avLst>
          </a:prstGeom>
          <a:solidFill>
            <a:srgbClr val="EDF4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4" name="矩形: 圆角 103"/>
          <p:cNvSpPr/>
          <p:nvPr/>
        </p:nvSpPr>
        <p:spPr>
          <a:xfrm>
            <a:off x="1047750" y="2752725"/>
            <a:ext cx="4743450" cy="95250"/>
          </a:xfrm>
          <a:prstGeom prst="roundRect">
            <a:avLst>
              <a:gd name="adj" fmla="val 50000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5" name="图形 10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050" y="3009900"/>
            <a:ext cx="171450" cy="171450"/>
          </a:xfrm>
          <a:prstGeom prst="rect">
            <a:avLst/>
          </a:prstGeom>
          <a:ln/>
        </p:spPr>
      </p:pic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1047750" y="3000375"/>
            <a:ext cx="1828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1C2B24"/>
                </a:solidFill>
                <a:latin typeface="Source Han Sans SC"/>
                <a:ea typeface="Source Han Sans SC"/>
              </a:rPr>
              <a:t>成熟技能鉴定申报运营体系</a:t>
            </a:r>
            <a:endParaRPr/>
          </a:p>
        </p:txBody>
      </p:sp>
      <p:sp>
        <p:nvSpPr>
          <p:cNvPr id="107" name="矩形: 圆角 106"/>
          <p:cNvSpPr/>
          <p:nvPr/>
        </p:nvSpPr>
        <p:spPr>
          <a:xfrm>
            <a:off x="1047750" y="3238500"/>
            <a:ext cx="4991100" cy="95250"/>
          </a:xfrm>
          <a:prstGeom prst="roundRect">
            <a:avLst>
              <a:gd name="adj" fmla="val 50000"/>
            </a:avLst>
          </a:prstGeom>
          <a:solidFill>
            <a:srgbClr val="EDF4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8" name="矩形: 圆角 107"/>
          <p:cNvSpPr/>
          <p:nvPr/>
        </p:nvSpPr>
        <p:spPr>
          <a:xfrm>
            <a:off x="1047750" y="3238500"/>
            <a:ext cx="4391025" cy="95250"/>
          </a:xfrm>
          <a:prstGeom prst="roundRect">
            <a:avLst>
              <a:gd name="adj" fmla="val 50000"/>
            </a:avLst>
          </a:pr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09" name="图形 10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050" y="3495675"/>
            <a:ext cx="171450" cy="171450"/>
          </a:xfrm>
          <a:prstGeom prst="rect">
            <a:avLst/>
          </a:prstGeom>
          <a:ln/>
        </p:spPr>
      </p:pic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1047750" y="3486150"/>
            <a:ext cx="18288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1C2B24"/>
                </a:solidFill>
                <a:latin typeface="Source Han Sans SC"/>
                <a:ea typeface="Source Han Sans SC"/>
              </a:rPr>
              <a:t>省内头部品牌口碑与公信力</a:t>
            </a:r>
            <a:endParaRPr/>
          </a:p>
        </p:txBody>
      </p:sp>
      <p:sp>
        <p:nvSpPr>
          <p:cNvPr id="111" name="矩形: 圆角 110"/>
          <p:cNvSpPr/>
          <p:nvPr/>
        </p:nvSpPr>
        <p:spPr>
          <a:xfrm>
            <a:off x="1047750" y="3724275"/>
            <a:ext cx="4991100" cy="95250"/>
          </a:xfrm>
          <a:prstGeom prst="roundRect">
            <a:avLst>
              <a:gd name="adj" fmla="val 50000"/>
            </a:avLst>
          </a:prstGeom>
          <a:solidFill>
            <a:srgbClr val="EDF4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2" name="矩形: 圆角 111"/>
          <p:cNvSpPr/>
          <p:nvPr/>
        </p:nvSpPr>
        <p:spPr>
          <a:xfrm>
            <a:off x="1047750" y="3724275"/>
            <a:ext cx="4095750" cy="95250"/>
          </a:xfrm>
          <a:prstGeom prst="roundRect">
            <a:avLst>
              <a:gd name="adj" fmla="val 50000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3" name="图形 11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050" y="3981450"/>
            <a:ext cx="171450" cy="171450"/>
          </a:xfrm>
          <a:prstGeom prst="rect">
            <a:avLst/>
          </a:prstGeom>
          <a:ln/>
        </p:spPr>
      </p:pic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1047750" y="3971925"/>
            <a:ext cx="1524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1C2B24"/>
                </a:solidFill>
                <a:latin typeface="Source Han Sans SC"/>
                <a:ea typeface="Source Han Sans SC"/>
              </a:rPr>
              <a:t>全国线上招生咨询平台</a:t>
            </a:r>
            <a:endParaRPr/>
          </a:p>
        </p:txBody>
      </p:sp>
      <p:sp>
        <p:nvSpPr>
          <p:cNvPr id="115" name="矩形: 圆角 114"/>
          <p:cNvSpPr/>
          <p:nvPr/>
        </p:nvSpPr>
        <p:spPr>
          <a:xfrm>
            <a:off x="1047750" y="4210050"/>
            <a:ext cx="4991100" cy="95250"/>
          </a:xfrm>
          <a:prstGeom prst="roundRect">
            <a:avLst>
              <a:gd name="adj" fmla="val 50000"/>
            </a:avLst>
          </a:prstGeom>
          <a:solidFill>
            <a:srgbClr val="EDF4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6" name="矩形: 圆角 115"/>
          <p:cNvSpPr/>
          <p:nvPr/>
        </p:nvSpPr>
        <p:spPr>
          <a:xfrm>
            <a:off x="1047750" y="4210050"/>
            <a:ext cx="3743325" cy="95250"/>
          </a:xfrm>
          <a:prstGeom prst="roundRect">
            <a:avLst>
              <a:gd name="adj" fmla="val 50000"/>
            </a:avLst>
          </a:pr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17" name="图形 11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050" y="4467225"/>
            <a:ext cx="171450" cy="171450"/>
          </a:xfrm>
          <a:prstGeom prst="rect">
            <a:avLst/>
          </a:prstGeom>
          <a:ln/>
        </p:spPr>
      </p:pic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1047750" y="4457700"/>
            <a:ext cx="1524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1C2B24"/>
                </a:solidFill>
                <a:latin typeface="Source Han Sans SC"/>
                <a:ea typeface="Source Han Sans SC"/>
              </a:rPr>
              <a:t>全国康养机构渠道网络</a:t>
            </a:r>
            <a:endParaRPr/>
          </a:p>
        </p:txBody>
      </p:sp>
      <p:sp>
        <p:nvSpPr>
          <p:cNvPr id="119" name="矩形: 圆角 118"/>
          <p:cNvSpPr/>
          <p:nvPr/>
        </p:nvSpPr>
        <p:spPr>
          <a:xfrm>
            <a:off x="1047750" y="4695825"/>
            <a:ext cx="4991100" cy="95250"/>
          </a:xfrm>
          <a:prstGeom prst="roundRect">
            <a:avLst>
              <a:gd name="adj" fmla="val 50000"/>
            </a:avLst>
          </a:prstGeom>
          <a:solidFill>
            <a:srgbClr val="EDF4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0" name="矩形: 圆角 119"/>
          <p:cNvSpPr/>
          <p:nvPr/>
        </p:nvSpPr>
        <p:spPr>
          <a:xfrm>
            <a:off x="1047750" y="4695825"/>
            <a:ext cx="3495675" cy="95250"/>
          </a:xfrm>
          <a:prstGeom prst="roundRect">
            <a:avLst>
              <a:gd name="adj" fmla="val 50000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21" name="图形 1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050" y="4953000"/>
            <a:ext cx="171450" cy="171450"/>
          </a:xfrm>
          <a:prstGeom prst="rect">
            <a:avLst/>
          </a:prstGeom>
          <a:ln/>
        </p:spPr>
      </p:pic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1047750" y="4943475"/>
            <a:ext cx="1219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>
                <a:solidFill>
                  <a:srgbClr val="1C2B24"/>
                </a:solidFill>
                <a:latin typeface="Source Han Sans SC"/>
                <a:ea typeface="Source Han Sans SC"/>
              </a:rPr>
              <a:t>稳定专业运营团队</a:t>
            </a:r>
            <a:endParaRPr/>
          </a:p>
        </p:txBody>
      </p:sp>
      <p:sp>
        <p:nvSpPr>
          <p:cNvPr id="123" name="矩形: 圆角 122"/>
          <p:cNvSpPr/>
          <p:nvPr/>
        </p:nvSpPr>
        <p:spPr>
          <a:xfrm>
            <a:off x="1047750" y="5181600"/>
            <a:ext cx="4991100" cy="95250"/>
          </a:xfrm>
          <a:prstGeom prst="roundRect">
            <a:avLst>
              <a:gd name="adj" fmla="val 50000"/>
            </a:avLst>
          </a:prstGeom>
          <a:solidFill>
            <a:srgbClr val="EDF4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4" name="矩形: 圆角 123"/>
          <p:cNvSpPr/>
          <p:nvPr/>
        </p:nvSpPr>
        <p:spPr>
          <a:xfrm>
            <a:off x="1047750" y="5181600"/>
            <a:ext cx="3390900" cy="95250"/>
          </a:xfrm>
          <a:prstGeom prst="roundRect">
            <a:avLst>
              <a:gd name="adj" fmla="val 50000"/>
            </a:avLst>
          </a:pr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5" name="矩形: 圆角 124"/>
          <p:cNvSpPr/>
          <p:nvPr/>
        </p:nvSpPr>
        <p:spPr>
          <a:xfrm>
            <a:off x="6457950" y="1181100"/>
            <a:ext cx="5162550" cy="3771900"/>
          </a:xfrm>
          <a:prstGeom prst="roundRect">
            <a:avLst>
              <a:gd name="adj" fmla="val 3535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6" name="文本框 125" descr="{&quot;isTemplate&quot;:true,&quot;type&quot;:&quot;text&quot;}"/>
          <p:cNvSpPr txBox="1"/>
          <p:nvPr/>
        </p:nvSpPr>
        <p:spPr>
          <a:xfrm>
            <a:off x="6667500" y="2305050"/>
            <a:ext cx="47434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5C46"/>
                </a:solidFill>
                <a:latin typeface="Source Han Sans SC"/>
                <a:ea typeface="Source Han Sans SC"/>
              </a:rPr>
              <a:t>估值协商逻辑</a:t>
            </a:r>
            <a:endParaRPr/>
          </a:p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6667500" y="2600325"/>
            <a:ext cx="4743450" cy="1228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2000"/>
              </a:lnSpc>
            </a:pPr>
            <a:r>
              <a:rPr lang="zh-CN" sz="1238">
                <a:solidFill>
                  <a:srgbClr val="3A463F"/>
                </a:solidFill>
                <a:latin typeface="Source Han Sans SC"/>
                <a:ea typeface="Source Han Sans SC"/>
              </a:rPr>
              <a:t>本次投前</a:t>
            </a:r>
            <a:r>
              <a:rPr lang="en-US" sz="1238">
                <a:solidFill>
                  <a:srgbClr val="3A463F"/>
                </a:solidFill>
                <a:latin typeface="Source Han Sans SC"/>
                <a:ea typeface="Source Han Sans SC"/>
              </a:rPr>
              <a:t> 3000 </a:t>
            </a:r>
            <a:r>
              <a:rPr lang="zh-CN" sz="1238">
                <a:solidFill>
                  <a:srgbClr val="3A463F"/>
                </a:solidFill>
                <a:latin typeface="Source Han Sans SC"/>
                <a:ea typeface="Source Han Sans SC"/>
              </a:rPr>
              <a:t>万元估值不引入第三方资产评估，系双方基于多年合作信任、康养行业前景、湖外打造</a:t>
            </a:r>
            <a:r>
              <a:rPr lang="en-US" sz="1238">
                <a:solidFill>
                  <a:srgbClr val="3A463F"/>
                </a:solidFill>
                <a:latin typeface="Source Han Sans SC"/>
                <a:ea typeface="Source Han Sans SC"/>
              </a:rPr>
              <a:t> UBIC </a:t>
            </a:r>
            <a:r>
              <a:rPr lang="zh-CN" sz="1238">
                <a:solidFill>
                  <a:srgbClr val="3A463F"/>
                </a:solidFill>
                <a:latin typeface="Source Han Sans SC"/>
                <a:ea typeface="Source Han Sans SC"/>
              </a:rPr>
              <a:t>养老社区完整产业链的战略规划，结合叁竹现有业务规模与无形资产价值共同协商议定。合作后零场地租金，大幅优化盈利空间。</a:t>
            </a:r>
            <a:endParaRPr/>
          </a:p>
        </p:txBody>
      </p:sp>
      <p:sp>
        <p:nvSpPr>
          <p:cNvPr id="128" name="矩形: 圆角 127"/>
          <p:cNvSpPr/>
          <p:nvPr/>
        </p:nvSpPr>
        <p:spPr>
          <a:xfrm>
            <a:off x="6457950" y="5105400"/>
            <a:ext cx="5162550" cy="1143000"/>
          </a:xfrm>
          <a:prstGeom prst="roundRect">
            <a:avLst>
              <a:gd name="adj" fmla="val 11667"/>
            </a:avLst>
          </a:prstGeom>
          <a:gradFill>
            <a:gsLst>
              <a:gs pos="0">
                <a:srgbClr val="0A2B4D"/>
              </a:gs>
              <a:gs pos="100000">
                <a:srgbClr val="0F5C46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6686550" y="5353050"/>
            <a:ext cx="1343025" cy="647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7FE3C0"/>
                </a:solidFill>
                <a:latin typeface="DIN Alternate"/>
                <a:ea typeface="DIN Alternate"/>
              </a:rPr>
              <a:t>3000</a:t>
            </a:r>
            <a:endParaRPr/>
          </a:p>
        </p:txBody>
      </p:sp>
      <p:sp>
        <p:nvSpPr>
          <p:cNvPr id="130" name="文本框 129" descr="{&quot;isTemplate&quot;:true,&quot;type&quot;:&quot;text&quot;}"/>
          <p:cNvSpPr txBox="1"/>
          <p:nvPr/>
        </p:nvSpPr>
        <p:spPr>
          <a:xfrm>
            <a:off x="8086725" y="5667375"/>
            <a:ext cx="4095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Source Han Sans SC"/>
                <a:ea typeface="Source Han Sans SC"/>
              </a:rPr>
              <a:t>万元</a:t>
            </a:r>
            <a:endParaRPr/>
          </a:p>
        </p:txBody>
      </p:sp>
      <p:sp>
        <p:nvSpPr>
          <p:cNvPr id="131" name="矩形 130"/>
          <p:cNvSpPr/>
          <p:nvPr/>
        </p:nvSpPr>
        <p:spPr>
          <a:xfrm>
            <a:off x="8667750" y="5391150"/>
            <a:ext cx="9525" cy="5715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2" name="文本框 131" descr="{&quot;isTemplate&quot;:true,&quot;type&quot;:&quot;text&quot;}"/>
          <p:cNvSpPr txBox="1"/>
          <p:nvPr/>
        </p:nvSpPr>
        <p:spPr>
          <a:xfrm>
            <a:off x="8848725" y="5400675"/>
            <a:ext cx="2543175" cy="552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/>
                </a:solidFill>
                <a:latin typeface="Source Han Sans SC"/>
                <a:ea typeface="Source Han Sans SC"/>
              </a:rPr>
              <a:t>投前公允估值</a:t>
            </a:r>
            <a:endParaRPr/>
          </a:p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/>
                </a:solidFill>
                <a:latin typeface="Source Han Sans SC"/>
                <a:ea typeface="Source Han Sans SC"/>
              </a:rPr>
              <a:t>（划拨场地仅台账备案，不纳入作价）</a:t>
            </a:r>
            <a:endParaRPr/>
          </a:p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5124450" y="6505575"/>
            <a:ext cx="1952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叁竹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×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湖外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校企合作商业计划书</a:t>
            </a:r>
            <a:endParaRPr/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13 / 27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width: '1280px', height: '720px', fontFamily: &quot;'Source Han Sans SC', 'Microsoft YaHei', sans-serif&quot; }}&gt;&#10;  &lt;Image src=&quot;assets/hero_garden.png&quot; style={{ position: 'absolute', top: 0, left: 0, width: '100%', height: '100%', objectFit: 'cover' }} /&gt;&#10;  &lt;Box style={{ position: 'absolute', top: 0, left: 0, right: 0, bottom: 0, background: 'linear-gradient(135deg, rgba(10,43,77,0.82) 0%, rgba(15,92,70,0.78) 100%)' }} /&gt;&#10;&#10;  &lt;Box style={{ position: 'absolute', left: 0, right: 0, bottom: 0, height: 240, overflow: 'hidden' }}&gt;&#10;    &lt;svg width='1280' height='240' viewBox='0 0 1280 240' style={{ position: 'absolute', bottom: 0 }}&gt;&#10;      &lt;path d='M0,90 C340,20 920,180 1280,70 L1280,240 L0,240 Z' fill='rgba(10,43,77,0.55)' /&gt;&#10;      &lt;path d='M0,150 C380,80 900,210 1280,120 L1280,240 L0,240 Z' fill='rgba(10,43,77,0.40)' /&gt;&#10;    &lt;/svg&gt;&#10;  &lt;/Box&gt;&#10;&#10;  &lt;Box style={{ position: 'absolute', top: 0, left: 0, right: 0, bottom: 0, justifyContent: 'center', alignItems: 'center' }}&gt;&#10;    &lt;Box style={{ width: 200, height: 200, borderRadius: 999, background: 'rgba(255,255,255,0.12)', border: '4px solid rgba(255,255,255,0.35)', justifyContent: 'center', alignItems: 'center', marginBottom: 36 }}&gt;&#10;      &lt;Text style={{ color: '#FFFFFF', fontSize: 96, fontWeight: 'bold', fontFamily: &quot;'DIN Alternate','Inter',sans-serif&quot; }}&gt;05&lt;/Text&gt;&#10;    &lt;/Box&gt;&#10;    &lt;Text style={{ color: '#FFFFFF', fontSize: 56, fontWeight: 'bold', textShadow: '0 4px 18px rgba(0,0,0,0.35)' }}&gt;五、湖外配套资源&lt;/Text&gt;&#10;    &lt;Text style={{ color: 'rgba(255,255,255,0.82)', fontSize: 22, marginTop: 18, letterSpacing: 2 }}&gt;场地 · UBIC 养老社区 · 软性赋能&lt;/Text&gt;&#10;  &lt;/Box&gt;&#10;&#10;  &lt;Text style={{ position: 'absolute', bottom: 48, left: 0, right: 0, textAlign: 'center', color: 'rgba(255,255,255,0.6)', fontSize: 15 }}&gt;&#10;    叁竹 × 湖外 校企合作商业计划书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图片 135"/>
          <p:cNvPicPr>
            <a:picLocks noChangeAspect="1"/>
          </p:cNvPicPr>
          <p:nvPr/>
        </p:nvPicPr>
        <p:blipFill>
          <a:blip r:embed="rId2"/>
          <a:srcRect t="8894" b="889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37" name="矩形 1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2B4D">
                  <a:alpha val="82000"/>
                </a:srgbClr>
              </a:gs>
              <a:gs pos="100000">
                <a:srgbClr val="0F5C46">
                  <a:alpha val="78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138" name="图形 13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572000"/>
            <a:ext cx="12192000" cy="2286000"/>
          </a:xfrm>
          <a:prstGeom prst="rect">
            <a:avLst/>
          </a:prstGeom>
          <a:ln/>
        </p:spPr>
      </p:pic>
      <p:sp>
        <p:nvSpPr>
          <p:cNvPr id="139" name="矩形: 圆角 138"/>
          <p:cNvSpPr/>
          <p:nvPr/>
        </p:nvSpPr>
        <p:spPr>
          <a:xfrm>
            <a:off x="5143500" y="1771650"/>
            <a:ext cx="1905000" cy="1905000"/>
          </a:xfrm>
          <a:prstGeom prst="roundRect">
            <a:avLst>
              <a:gd name="adj" fmla="val 499500"/>
            </a:avLst>
          </a:prstGeom>
          <a:solidFill>
            <a:srgbClr val="FFFFFF">
              <a:alpha val="12000"/>
            </a:srgbClr>
          </a:solidFill>
          <a:ln w="508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5514975" y="2171700"/>
            <a:ext cx="1171575" cy="1104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DIN Alternate"/>
                <a:ea typeface="DIN Alternate"/>
              </a:rPr>
              <a:t>05</a:t>
            </a:r>
            <a:endParaRPr/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3962400" y="4019550"/>
            <a:ext cx="4267200" cy="647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effectLst>
                  <a:outerShdw blurRad="171450" dist="38100" dir="5400000">
                    <a:srgbClr val="000000">
                      <a:alpha val="35000"/>
                    </a:srgbClr>
                  </a:outerShdw>
                </a:effectLst>
                <a:latin typeface="Source Han Sans SC"/>
                <a:ea typeface="Source Han Sans SC"/>
              </a:rPr>
              <a:t>五、湖外配套资源</a:t>
            </a:r>
            <a:endParaRPr/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4400550" y="4838700"/>
            <a:ext cx="34004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场地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· UBIC 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养老社区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软性赋能</a:t>
            </a:r>
            <a:endParaRPr/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0" y="6229350"/>
            <a:ext cx="12192000" cy="257174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叁竹</a:t>
            </a: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× </a:t>
            </a: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湖外</a:t>
            </a: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</a:t>
            </a: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校企合作商业计划书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background: '#F4F9F6', fontFamily: &quot;'Source Han Sans SC', 'Microsoft YaHei', sans-serif&quot; }}&gt;&#10;  &lt;Box style={{ position: 'absolute', top: 0, left: 0, right: 0, height: 110, paddingLeft: 60, paddingRight: 60, flexDirection: 'row', alignItems: 'center' }}&gt;&#10;    &lt;Box style={{ width: 6, height: 44, background: '#0F5C46', borderRadius: 3, marginRight: 18 }} /&gt;&#10;    &lt;Text style={{ fontSize: 34, fontWeight: 'bold', color: '#1C2B24' }}&gt;湖外配套资源与合作价值&lt;/Text&gt;&#10;  &lt;/Box&gt;&#10;&#10;  &lt;Box style={{ position: 'absolute', top: 124, left: 60, right: 60, bottom: 64, flexDirection: 'row', gap: 20 }}&gt;&#10;    {[&#10;      ['assets/training_room.png', 'building', '（一）专属实训 + 办公场地', '新增明确约定，不纳入股权作价', '股权变更、签补充协议后，湖外一次性划定专属区域永久无偿交付：①标准化实训教学区（全套养老护理/评估/育婴实训室 + 人社鉴定标准设备）；②独立配套办公区（行政/招生/财务/考评团队）；场地仅校内台账备案、不抵充出资，合作全程免租金、免管理费，仅承担水电与耗材。'],&#10;      ['assets/ubic_community.png', 'home', '（二）独有产业：UBIC 养老社区', '真实场景 + 定向就业 + 政策扶持', '宁平董事长重点规划板块，提供真实老年照护实景实训；结业学员优先入职，解决社区人力缺口；可申报省级嵌入式养老、产教融合专项扶持资金，完善康养产业闭环。'],&#10;      ['assets/students_training.png', 'graduation-cap', '（三）软性赋能（无资金投入）', '生源 · 师资 · 资质 · 品牌', '稳定生源（医护专业在校生）、专业师资、申报主体资质（提升省级鉴定通过率）、院校品牌背书——便于对接民政、人社、医保官方项目。']&#10;    ].map((c, i) =&gt; (&#10;      &lt;Box key={i} style={{ flex: 1, background: '#FFFFFF', borderRadius: 14, overflow: 'hidden', boxShadow: '0 4px 16px rgba(15,92,70,0.08)', flexDirection: 'column' }}&gt;&#10;        &lt;Box style={{ height: 170, overflow: 'hidden' }}&gt;&#10;          &lt;Image src={c[0]} style={{ width: '100%', height: '100%', objectFit: 'cover' }} /&gt;&#10;        &lt;/Box&gt;&#10;        &lt;Box style={{ padding: '16px 18px 18px 18px', flex: 1, flexDirection: 'column' }}&gt;&#10;          &lt;Box style={{ flexDirection: 'row', alignItems: 'center', gap: 10, marginBottom: 8 }}&gt;&#10;            &lt;FAIcon name={c[1]} style={{ fill: '#0F5C46', width: 26, height: 26 }} /&gt;&#10;            &lt;Text style={{ fontSize: 19, fontWeight: 'bold', color: '#0F5C46' }}&gt;{c[2]}&lt;/Text&gt;&#10;          &lt;/Box&gt;&#10;          &lt;Box style={{ background: 'rgba(46,158,120,0.12)', borderRadius: 999, paddingVertical: 4, paddingHorizontal: 10, alignSelf: 'flex-start', marginBottom: 10 }}&gt;&#10;            &lt;Text style={{ fontSize: 13, color: '#0F5C46', fontWeight: 'bold' }}&gt;{c[3]}&lt;/Text&gt;&#10;          &lt;/Box&gt;&#10;          &lt;Text style={{ fontSize: 15.5, color: '#3A463F', lineHeight: 1.6 }}&gt;{c[4]}&lt;/Text&gt;&#10;        &lt;/Box&gt;&#10;      &lt;/Box&gt;&#10;    ))}&#10;  &lt;/Box&gt;&#10;&#10;  &lt;Box style={{ position: 'absolute', bottom: 0, left: 0, right: 0, height: 58, paddingLeft: 60, paddingRight: 60, flexDirection: 'row', alignItems: 'center' }}&gt;&#10;    &lt;Box style={{ flex: 1 }} /&gt;&#10;    &lt;Text style={{ fontSize: 14, color: '#5C6B63', textAlign: 'center' }}&gt;叁竹 × 湖外 校企合作商业计划书&lt;/Text&gt;&#10;    &lt;Box style={{ flex: 1, alignItems: 'flex-end' }}&gt;&#10;      &lt;Text style={{ fontSize: 14, color: '#5C6B63' }}&gt;15 / 27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矩形 14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6" name="矩形: 圆角 145"/>
          <p:cNvSpPr/>
          <p:nvPr/>
        </p:nvSpPr>
        <p:spPr>
          <a:xfrm>
            <a:off x="571500" y="314325"/>
            <a:ext cx="57150" cy="419100"/>
          </a:xfrm>
          <a:prstGeom prst="roundRect">
            <a:avLst>
              <a:gd name="adj" fmla="val 50000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800100" y="333375"/>
            <a:ext cx="3562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2B24"/>
                </a:solidFill>
                <a:latin typeface="Source Han Sans SC"/>
                <a:ea typeface="Source Han Sans SC"/>
              </a:rPr>
              <a:t>湖外配套资源与合作价值</a:t>
            </a:r>
            <a:endParaRPr/>
          </a:p>
        </p:txBody>
      </p:sp>
      <p:sp>
        <p:nvSpPr>
          <p:cNvPr id="148" name="矩形: 圆角 147"/>
          <p:cNvSpPr/>
          <p:nvPr/>
        </p:nvSpPr>
        <p:spPr>
          <a:xfrm>
            <a:off x="571500" y="1181100"/>
            <a:ext cx="3552825" cy="5067300"/>
          </a:xfrm>
          <a:prstGeom prst="roundRect">
            <a:avLst>
              <a:gd name="adj" fmla="val 375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49" name="图片 148"/>
          <p:cNvPicPr>
            <a:picLocks noChangeAspect="1"/>
          </p:cNvPicPr>
          <p:nvPr/>
        </p:nvPicPr>
        <p:blipFill>
          <a:blip r:embed="rId2"/>
          <a:srcRect t="19615" b="19615"/>
          <a:stretch>
            <a:fillRect/>
          </a:stretch>
        </p:blipFill>
        <p:spPr>
          <a:xfrm>
            <a:off x="571500" y="1181100"/>
            <a:ext cx="3552825" cy="1619250"/>
          </a:xfrm>
          <a:custGeom>
            <a:avLst/>
            <a:gdLst/>
            <a:ahLst/>
            <a:cxnLst/>
            <a:rect l="0" t="0" r="0" b="0"/>
            <a:pathLst>
              <a:path w="373" h="170">
                <a:moveTo>
                  <a:pt x="359" y="0"/>
                </a:moveTo>
                <a:cubicBezTo>
                  <a:pt x="367" y="0"/>
                  <a:pt x="373" y="6"/>
                  <a:pt x="373" y="14"/>
                </a:cubicBezTo>
                <a:lnTo>
                  <a:pt x="373" y="170"/>
                </a:lnTo>
                <a:lnTo>
                  <a:pt x="0" y="170"/>
                </a:ln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359" y="0"/>
                </a:lnTo>
                <a:close/>
              </a:path>
            </a:pathLst>
          </a:custGeom>
          <a:ln/>
        </p:spPr>
      </p:pic>
      <p:pic>
        <p:nvPicPr>
          <p:cNvPr id="150" name="图形 14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2950" y="2952750"/>
            <a:ext cx="247650" cy="247650"/>
          </a:xfrm>
          <a:prstGeom prst="rect">
            <a:avLst/>
          </a:prstGeom>
          <a:ln/>
        </p:spPr>
      </p:pic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1085850" y="2971800"/>
            <a:ext cx="223837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5C46"/>
                </a:solidFill>
                <a:latin typeface="Source Han Sans SC"/>
                <a:ea typeface="Source Han Sans SC"/>
              </a:rPr>
              <a:t>（一）专属实训</a:t>
            </a:r>
            <a:r>
              <a:rPr lang="en-US" sz="1425" b="1">
                <a:solidFill>
                  <a:srgbClr val="0F5C46"/>
                </a:solidFill>
                <a:latin typeface="Source Han Sans SC"/>
                <a:ea typeface="Source Han Sans SC"/>
              </a:rPr>
              <a:t> + </a:t>
            </a:r>
            <a:r>
              <a:rPr lang="zh-CN" sz="1425" b="1">
                <a:solidFill>
                  <a:srgbClr val="0F5C46"/>
                </a:solidFill>
                <a:latin typeface="Source Han Sans SC"/>
                <a:ea typeface="Source Han Sans SC"/>
              </a:rPr>
              <a:t>办公场地</a:t>
            </a:r>
            <a:endParaRPr/>
          </a:p>
        </p:txBody>
      </p:sp>
      <p:sp>
        <p:nvSpPr>
          <p:cNvPr id="152" name="矩形: 圆角 151"/>
          <p:cNvSpPr/>
          <p:nvPr/>
        </p:nvSpPr>
        <p:spPr>
          <a:xfrm>
            <a:off x="742950" y="3276600"/>
            <a:ext cx="1733550" cy="152400"/>
          </a:xfrm>
          <a:prstGeom prst="roundRect">
            <a:avLst>
              <a:gd name="adj" fmla="val 6243750"/>
            </a:avLst>
          </a:prstGeom>
          <a:solidFill>
            <a:srgbClr val="2E9E78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3" name="文本框 152" descr="{&quot;isTemplate&quot;:true,&quot;type&quot;:&quot;text&quot;}"/>
          <p:cNvSpPr txBox="1"/>
          <p:nvPr/>
        </p:nvSpPr>
        <p:spPr>
          <a:xfrm>
            <a:off x="742950" y="3276600"/>
            <a:ext cx="173355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5C46"/>
                </a:solidFill>
                <a:latin typeface="Source Han Sans SC"/>
                <a:ea typeface="Source Han Sans SC"/>
              </a:rPr>
              <a:t>新增明确约定，不纳入股权作价</a:t>
            </a:r>
            <a:endParaRPr/>
          </a:p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742950" y="3524250"/>
            <a:ext cx="3209925" cy="17049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股权变更、签补充协议后，湖外一次性划定专属区域永久无偿交付：①标准化实训教学区（全套养老护理</a:t>
            </a:r>
            <a:r>
              <a:rPr lang="en-US" sz="1163">
                <a:solidFill>
                  <a:srgbClr val="3A463F"/>
                </a:solidFill>
                <a:latin typeface="Source Han Sans SC"/>
                <a:ea typeface="Source Han Sans SC"/>
              </a:rPr>
              <a:t>/</a:t>
            </a: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评估</a:t>
            </a:r>
            <a:r>
              <a:rPr lang="en-US" sz="1163">
                <a:solidFill>
                  <a:srgbClr val="3A463F"/>
                </a:solidFill>
                <a:latin typeface="Source Han Sans SC"/>
                <a:ea typeface="Source Han Sans SC"/>
              </a:rPr>
              <a:t>/</a:t>
            </a: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育婴实训室</a:t>
            </a:r>
            <a:r>
              <a:rPr lang="en-US" sz="1163">
                <a:solidFill>
                  <a:srgbClr val="3A463F"/>
                </a:solidFill>
                <a:latin typeface="Source Han Sans SC"/>
                <a:ea typeface="Source Han Sans SC"/>
              </a:rPr>
              <a:t> + </a:t>
            </a: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人社鉴定标准设备）；②独立配套办公区（行政</a:t>
            </a:r>
            <a:r>
              <a:rPr lang="en-US" sz="1163">
                <a:solidFill>
                  <a:srgbClr val="3A463F"/>
                </a:solidFill>
                <a:latin typeface="Source Han Sans SC"/>
                <a:ea typeface="Source Han Sans SC"/>
              </a:rPr>
              <a:t>/</a:t>
            </a: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招生</a:t>
            </a:r>
            <a:r>
              <a:rPr lang="en-US" sz="1163">
                <a:solidFill>
                  <a:srgbClr val="3A463F"/>
                </a:solidFill>
                <a:latin typeface="Source Han Sans SC"/>
                <a:ea typeface="Source Han Sans SC"/>
              </a:rPr>
              <a:t>/</a:t>
            </a: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财务</a:t>
            </a:r>
            <a:r>
              <a:rPr lang="en-US" sz="1163">
                <a:solidFill>
                  <a:srgbClr val="3A463F"/>
                </a:solidFill>
                <a:latin typeface="Source Han Sans SC"/>
                <a:ea typeface="Source Han Sans SC"/>
              </a:rPr>
              <a:t>/</a:t>
            </a: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考评团队）；场地仅校内台账备案、不抵充出资，合作全程免租金、免管理费，仅承担水电与耗材。</a:t>
            </a:r>
            <a:endParaRPr/>
          </a:p>
        </p:txBody>
      </p:sp>
      <p:sp>
        <p:nvSpPr>
          <p:cNvPr id="155" name="矩形: 圆角 154"/>
          <p:cNvSpPr/>
          <p:nvPr/>
        </p:nvSpPr>
        <p:spPr>
          <a:xfrm>
            <a:off x="4314825" y="1181100"/>
            <a:ext cx="3562350" cy="5067300"/>
          </a:xfrm>
          <a:prstGeom prst="roundRect">
            <a:avLst>
              <a:gd name="adj" fmla="val 374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6" name="图片 155"/>
          <p:cNvPicPr>
            <a:picLocks noChangeAspect="1"/>
          </p:cNvPicPr>
          <p:nvPr/>
        </p:nvPicPr>
        <p:blipFill>
          <a:blip r:embed="rId4"/>
          <a:srcRect t="19696" b="19696"/>
          <a:stretch>
            <a:fillRect/>
          </a:stretch>
        </p:blipFill>
        <p:spPr>
          <a:xfrm>
            <a:off x="4314825" y="1181100"/>
            <a:ext cx="3562350" cy="1619250"/>
          </a:xfrm>
          <a:custGeom>
            <a:avLst/>
            <a:gdLst/>
            <a:ahLst/>
            <a:cxnLst/>
            <a:rect l="0" t="0" r="0" b="0"/>
            <a:pathLst>
              <a:path w="374" h="170">
                <a:moveTo>
                  <a:pt x="360" y="0"/>
                </a:moveTo>
                <a:cubicBezTo>
                  <a:pt x="368" y="0"/>
                  <a:pt x="374" y="6"/>
                  <a:pt x="374" y="14"/>
                </a:cubicBezTo>
                <a:lnTo>
                  <a:pt x="374" y="170"/>
                </a:lnTo>
                <a:lnTo>
                  <a:pt x="0" y="170"/>
                </a:ln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360" y="0"/>
                </a:lnTo>
                <a:close/>
              </a:path>
            </a:pathLst>
          </a:custGeom>
          <a:ln/>
        </p:spPr>
      </p:pic>
      <p:pic>
        <p:nvPicPr>
          <p:cNvPr id="157" name="图形 15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6275" y="2952750"/>
            <a:ext cx="247650" cy="247650"/>
          </a:xfrm>
          <a:prstGeom prst="rect">
            <a:avLst/>
          </a:prstGeom>
          <a:ln/>
        </p:spPr>
      </p:pic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4829175" y="2971800"/>
            <a:ext cx="2676525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5C46"/>
                </a:solidFill>
                <a:latin typeface="Source Han Sans SC"/>
                <a:ea typeface="Source Han Sans SC"/>
              </a:rPr>
              <a:t>（二）独有产业：</a:t>
            </a:r>
            <a:r>
              <a:rPr lang="en-US" sz="1425" b="1">
                <a:solidFill>
                  <a:srgbClr val="0F5C46"/>
                </a:solidFill>
                <a:latin typeface="Source Han Sans SC"/>
                <a:ea typeface="Source Han Sans SC"/>
              </a:rPr>
              <a:t>UBIC </a:t>
            </a:r>
            <a:r>
              <a:rPr lang="zh-CN" sz="1425" b="1">
                <a:solidFill>
                  <a:srgbClr val="0F5C46"/>
                </a:solidFill>
                <a:latin typeface="Source Han Sans SC"/>
                <a:ea typeface="Source Han Sans SC"/>
              </a:rPr>
              <a:t>养老社区</a:t>
            </a:r>
            <a:endParaRPr/>
          </a:p>
        </p:txBody>
      </p:sp>
      <p:sp>
        <p:nvSpPr>
          <p:cNvPr id="159" name="矩形: 圆角 158"/>
          <p:cNvSpPr/>
          <p:nvPr/>
        </p:nvSpPr>
        <p:spPr>
          <a:xfrm>
            <a:off x="4486275" y="3276600"/>
            <a:ext cx="1828800" cy="152400"/>
          </a:xfrm>
          <a:prstGeom prst="roundRect">
            <a:avLst>
              <a:gd name="adj" fmla="val 6243750"/>
            </a:avLst>
          </a:prstGeom>
          <a:solidFill>
            <a:srgbClr val="2E9E78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4486275" y="3276600"/>
            <a:ext cx="1828800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5C46"/>
                </a:solidFill>
                <a:latin typeface="Source Han Sans SC"/>
                <a:ea typeface="Source Han Sans SC"/>
              </a:rPr>
              <a:t>真实场景</a:t>
            </a:r>
            <a:r>
              <a:rPr lang="en-US" sz="975" b="1">
                <a:solidFill>
                  <a:srgbClr val="0F5C46"/>
                </a:solidFill>
                <a:latin typeface="Source Han Sans SC"/>
                <a:ea typeface="Source Han Sans SC"/>
              </a:rPr>
              <a:t> + </a:t>
            </a:r>
            <a:r>
              <a:rPr lang="zh-CN" sz="975" b="1">
                <a:solidFill>
                  <a:srgbClr val="0F5C46"/>
                </a:solidFill>
                <a:latin typeface="Source Han Sans SC"/>
                <a:ea typeface="Source Han Sans SC"/>
              </a:rPr>
              <a:t>定向就业</a:t>
            </a:r>
            <a:r>
              <a:rPr lang="en-US" sz="975" b="1">
                <a:solidFill>
                  <a:srgbClr val="0F5C46"/>
                </a:solidFill>
                <a:latin typeface="Source Han Sans SC"/>
                <a:ea typeface="Source Han Sans SC"/>
              </a:rPr>
              <a:t> + </a:t>
            </a:r>
            <a:r>
              <a:rPr lang="zh-CN" sz="975" b="1">
                <a:solidFill>
                  <a:srgbClr val="0F5C46"/>
                </a:solidFill>
                <a:latin typeface="Source Han Sans SC"/>
                <a:ea typeface="Source Han Sans SC"/>
              </a:rPr>
              <a:t>政策扶持</a:t>
            </a:r>
            <a:endParaRPr/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4486275" y="3524250"/>
            <a:ext cx="3219450" cy="11430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宁平董事长重点规划板块，提供真实老年照护实景实训；结业学员优先入职，解决社区人力缺口；可申报省级嵌入式养老、产教融合专项扶持资金，完善康养产业闭环。</a:t>
            </a:r>
            <a:endParaRPr/>
          </a:p>
        </p:txBody>
      </p:sp>
      <p:sp>
        <p:nvSpPr>
          <p:cNvPr id="162" name="矩形: 圆角 161"/>
          <p:cNvSpPr/>
          <p:nvPr/>
        </p:nvSpPr>
        <p:spPr>
          <a:xfrm>
            <a:off x="8067675" y="1181100"/>
            <a:ext cx="3552825" cy="5067300"/>
          </a:xfrm>
          <a:prstGeom prst="roundRect">
            <a:avLst>
              <a:gd name="adj" fmla="val 375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3" name="图片 162"/>
          <p:cNvPicPr>
            <a:picLocks noChangeAspect="1"/>
          </p:cNvPicPr>
          <p:nvPr/>
        </p:nvPicPr>
        <p:blipFill>
          <a:blip r:embed="rId6"/>
          <a:srcRect t="19615" b="19615"/>
          <a:stretch>
            <a:fillRect/>
          </a:stretch>
        </p:blipFill>
        <p:spPr>
          <a:xfrm>
            <a:off x="8067675" y="1181100"/>
            <a:ext cx="3552825" cy="1619250"/>
          </a:xfrm>
          <a:custGeom>
            <a:avLst/>
            <a:gdLst/>
            <a:ahLst/>
            <a:cxnLst/>
            <a:rect l="0" t="0" r="0" b="0"/>
            <a:pathLst>
              <a:path w="373" h="170">
                <a:moveTo>
                  <a:pt x="359" y="0"/>
                </a:moveTo>
                <a:cubicBezTo>
                  <a:pt x="367" y="0"/>
                  <a:pt x="373" y="6"/>
                  <a:pt x="373" y="14"/>
                </a:cubicBezTo>
                <a:lnTo>
                  <a:pt x="373" y="170"/>
                </a:lnTo>
                <a:lnTo>
                  <a:pt x="0" y="170"/>
                </a:lnTo>
                <a:lnTo>
                  <a:pt x="0" y="14"/>
                </a:lnTo>
                <a:cubicBezTo>
                  <a:pt x="0" y="6"/>
                  <a:pt x="6" y="0"/>
                  <a:pt x="14" y="0"/>
                </a:cubicBezTo>
                <a:lnTo>
                  <a:pt x="359" y="0"/>
                </a:lnTo>
                <a:close/>
              </a:path>
            </a:pathLst>
          </a:custGeom>
          <a:ln/>
        </p:spPr>
      </p:pic>
      <p:pic>
        <p:nvPicPr>
          <p:cNvPr id="164" name="图形 16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39125" y="2952750"/>
            <a:ext cx="247650" cy="247650"/>
          </a:xfrm>
          <a:prstGeom prst="rect">
            <a:avLst/>
          </a:prstGeom>
          <a:ln/>
        </p:spPr>
      </p:pic>
      <p:sp>
        <p:nvSpPr>
          <p:cNvPr id="165" name="文本框 164" descr="{&quot;isTemplate&quot;:true,&quot;type&quot;:&quot;text&quot;}"/>
          <p:cNvSpPr txBox="1"/>
          <p:nvPr/>
        </p:nvSpPr>
        <p:spPr>
          <a:xfrm>
            <a:off x="8582025" y="2971800"/>
            <a:ext cx="253365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5C46"/>
                </a:solidFill>
                <a:latin typeface="Source Han Sans SC"/>
                <a:ea typeface="Source Han Sans SC"/>
              </a:rPr>
              <a:t>（三）软性赋能（无资金投入）</a:t>
            </a:r>
            <a:endParaRPr/>
          </a:p>
        </p:txBody>
      </p:sp>
      <p:sp>
        <p:nvSpPr>
          <p:cNvPr id="166" name="矩形: 圆角 165"/>
          <p:cNvSpPr/>
          <p:nvPr/>
        </p:nvSpPr>
        <p:spPr>
          <a:xfrm>
            <a:off x="8239125" y="3276600"/>
            <a:ext cx="1381125" cy="152400"/>
          </a:xfrm>
          <a:prstGeom prst="roundRect">
            <a:avLst>
              <a:gd name="adj" fmla="val 6243750"/>
            </a:avLst>
          </a:prstGeom>
          <a:solidFill>
            <a:srgbClr val="2E9E78">
              <a:alpha val="12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8239125" y="3276600"/>
            <a:ext cx="138112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 b="1">
                <a:solidFill>
                  <a:srgbClr val="0F5C46"/>
                </a:solidFill>
                <a:latin typeface="Source Han Sans SC"/>
                <a:ea typeface="Source Han Sans SC"/>
              </a:rPr>
              <a:t>生源</a:t>
            </a:r>
            <a:r>
              <a:rPr lang="en-US" sz="975" b="1">
                <a:solidFill>
                  <a:srgbClr val="0F5C46"/>
                </a:solidFill>
                <a:latin typeface="Source Han Sans SC"/>
                <a:ea typeface="Source Han Sans SC"/>
              </a:rPr>
              <a:t> · </a:t>
            </a:r>
            <a:r>
              <a:rPr lang="zh-CN" sz="975" b="1">
                <a:solidFill>
                  <a:srgbClr val="0F5C46"/>
                </a:solidFill>
                <a:latin typeface="Source Han Sans SC"/>
                <a:ea typeface="Source Han Sans SC"/>
              </a:rPr>
              <a:t>师资</a:t>
            </a:r>
            <a:r>
              <a:rPr lang="en-US" sz="975" b="1">
                <a:solidFill>
                  <a:srgbClr val="0F5C46"/>
                </a:solidFill>
                <a:latin typeface="Source Han Sans SC"/>
                <a:ea typeface="Source Han Sans SC"/>
              </a:rPr>
              <a:t> · </a:t>
            </a:r>
            <a:r>
              <a:rPr lang="zh-CN" sz="975" b="1">
                <a:solidFill>
                  <a:srgbClr val="0F5C46"/>
                </a:solidFill>
                <a:latin typeface="Source Han Sans SC"/>
                <a:ea typeface="Source Han Sans SC"/>
              </a:rPr>
              <a:t>资质</a:t>
            </a:r>
            <a:r>
              <a:rPr lang="en-US" sz="975" b="1">
                <a:solidFill>
                  <a:srgbClr val="0F5C46"/>
                </a:solidFill>
                <a:latin typeface="Source Han Sans SC"/>
                <a:ea typeface="Source Han Sans SC"/>
              </a:rPr>
              <a:t> · </a:t>
            </a:r>
            <a:r>
              <a:rPr lang="zh-CN" sz="975" b="1">
                <a:solidFill>
                  <a:srgbClr val="0F5C46"/>
                </a:solidFill>
                <a:latin typeface="Source Han Sans SC"/>
                <a:ea typeface="Source Han Sans SC"/>
              </a:rPr>
              <a:t>品牌</a:t>
            </a:r>
            <a:endParaRPr/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8239125" y="3524250"/>
            <a:ext cx="3209925" cy="8572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稳定生源（医护专业在校生）、专业师资、申报主体资质（提升省级鉴定通过率）、院校品牌背书——便于对接民政、人社、医保官方项目。</a:t>
            </a:r>
            <a:endParaRPr/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5124450" y="6505575"/>
            <a:ext cx="1952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叁竹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×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湖外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校企合作商业计划书</a:t>
            </a:r>
            <a:endParaRPr/>
          </a:p>
        </p:txBody>
      </p:sp>
      <p:sp>
        <p:nvSpPr>
          <p:cNvPr id="170" name="文本框 169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15 / 27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width: '1280px', height: '720px', fontFamily: &quot;'Source Han Sans SC', 'Microsoft YaHei', sans-serif&quot; }}&gt;&#10;  &lt;Image src=&quot;assets/hero_gate.png&quot; style={{ position: 'absolute', top: 0, left: 0, width: '100%', height: '100%', objectFit: 'cover' }} /&gt;&#10;  &lt;Box style={{ position: 'absolute', top: 0, left: 0, right: 0, bottom: 0, background: 'linear-gradient(135deg, rgba(10,43,77,0.82) 0%, rgba(15,92,70,0.78) 100%)' }} /&gt;&#10;&#10;  &lt;Box style={{ position: 'absolute', left: 0, right: 0, bottom: 0, height: 240, overflow: 'hidden' }}&gt;&#10;    &lt;svg width='1280' height='240' viewBox='0 0 1280 240' style={{ position: 'absolute', bottom: 0 }}&gt;&#10;      &lt;path d='M0,90 C340,20 920,180 1280,70 L1280,240 L0,240 Z' fill='rgba(10,43,77,0.55)' /&gt;&#10;      &lt;path d='M0,150 C380,80 900,210 1280,120 L1280,240 L0,240 Z' fill='rgba(10,43,77,0.40)' /&gt;&#10;    &lt;/svg&gt;&#10;  &lt;/Box&gt;&#10;&#10;  &lt;Box style={{ position: 'absolute', top: 0, left: 0, right: 0, bottom: 0, justifyContent: 'center', alignItems: 'center' }}&gt;&#10;    &lt;Box style={{ width: 200, height: 200, borderRadius: 999, background: 'rgba(255,255,255,0.12)', border: '4px solid rgba(255,255,255,0.35)', justifyContent: 'center', alignItems: 'center', marginBottom: 36 }}&gt;&#10;      &lt;Text style={{ color: '#FFFFFF', fontSize: 96, fontWeight: 'bold', fontFamily: &quot;'DIN Alternate','Inter',sans-serif&quot; }}&gt;06&lt;/Text&gt;&#10;    &lt;/Box&gt;&#10;    &lt;Text style={{ color: '#FFFFFF', fontSize: 56, fontWeight: 'bold', textShadow: '0 4px 18px rgba(0,0,0,0.35)' }}&gt;六、股权估值与入股方案&lt;/Text&gt;&#10;    &lt;Text style={{ color: 'rgba(255,255,255,0.82)', fontSize: 22, marginTop: 18, letterSpacing: 2 }}&gt;3000万估值 · 1200万现金 · 40%股权&lt;/Text&gt;&#10;  &lt;/Box&gt;&#10;&#10;  &lt;Text style={{ position: 'absolute', bottom: 48, left: 0, right: 0, textAlign: 'center', color: 'rgba(255,255,255,0.6)', fontSize: 15 }}&gt;&#10;    叁竹 × 湖外 校企合作商业计划书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图片 171"/>
          <p:cNvPicPr>
            <a:picLocks noChangeAspect="1"/>
          </p:cNvPicPr>
          <p:nvPr/>
        </p:nvPicPr>
        <p:blipFill>
          <a:blip r:embed="rId2"/>
          <a:srcRect t="8894" b="889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73" name="矩形 1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2B4D">
                  <a:alpha val="82000"/>
                </a:srgbClr>
              </a:gs>
              <a:gs pos="100000">
                <a:srgbClr val="0F5C46">
                  <a:alpha val="78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174" name="图形 17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572000"/>
            <a:ext cx="12192000" cy="2286000"/>
          </a:xfrm>
          <a:prstGeom prst="rect">
            <a:avLst/>
          </a:prstGeom>
          <a:ln/>
        </p:spPr>
      </p:pic>
      <p:sp>
        <p:nvSpPr>
          <p:cNvPr id="175" name="矩形: 圆角 174"/>
          <p:cNvSpPr/>
          <p:nvPr/>
        </p:nvSpPr>
        <p:spPr>
          <a:xfrm>
            <a:off x="5143500" y="1771650"/>
            <a:ext cx="1905000" cy="1905000"/>
          </a:xfrm>
          <a:prstGeom prst="roundRect">
            <a:avLst>
              <a:gd name="adj" fmla="val 499500"/>
            </a:avLst>
          </a:prstGeom>
          <a:solidFill>
            <a:srgbClr val="FFFFFF">
              <a:alpha val="12000"/>
            </a:srgbClr>
          </a:solidFill>
          <a:ln w="508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5514975" y="2171700"/>
            <a:ext cx="1171575" cy="1104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DIN Alternate"/>
                <a:ea typeface="DIN Alternate"/>
              </a:rPr>
              <a:t>06</a:t>
            </a:r>
            <a:endParaRPr/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3162300" y="4019550"/>
            <a:ext cx="5867400" cy="647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effectLst>
                  <a:outerShdw blurRad="171450" dist="38100" dir="5400000">
                    <a:srgbClr val="000000">
                      <a:alpha val="35000"/>
                    </a:srgbClr>
                  </a:outerShdw>
                </a:effectLst>
                <a:latin typeface="Source Han Sans SC"/>
                <a:ea typeface="Source Han Sans SC"/>
              </a:rPr>
              <a:t>六、股权估值与入股方案</a:t>
            </a:r>
            <a:endParaRPr/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4133850" y="4838700"/>
            <a:ext cx="392430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3000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万估值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· 1200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万现金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· 40%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股权</a:t>
            </a:r>
            <a:endParaRPr/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0" y="6229350"/>
            <a:ext cx="12192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叁竹</a:t>
            </a: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× </a:t>
            </a: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湖外</a:t>
            </a: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</a:t>
            </a: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校企合作商业计划书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background: '#F4F9F6', fontFamily: &quot;'Source Han Sans SC', 'Microsoft YaHei', sans-serif&quot; }}&gt;&#10;  &lt;Box style={{ position: 'absolute', top: 0, left: 0, right: 0, height: 110, paddingLeft: 60, paddingRight: 60, flexDirection: 'row', alignItems: 'center' }}&gt;&#10;    &lt;Box style={{ width: 6, height: 44, background: '#0F5C46', borderRadius: 3, marginRight: 18 }} /&gt;&#10;    &lt;Text style={{ fontSize: 34, fontWeight: 'bold', color: '#1C2B24' }}&gt;工商变更后股权架构&lt;/Text&gt;&#10;  &lt;/Box&gt;&#10;&#10;  &lt;Box style={{ position: 'absolute', top: 124, left: 60, right: 60, bottom: 64, flexDirection: 'row', gap: 24, alignItems: 'center' }}&gt;&#10;    {/* 左：环图 */}&#10;    &lt;Box style={{ flex: 1, background: '#FFFFFF', borderRadius: 14, padding: '16px 18px', boxShadow: '0 4px 16px rgba(15,92,70,0.08)', height: '100%', justifyContent: 'center' }}&gt;&#10;      &lt;Chart&#10;        chartType='doughnutChart'&#10;        title='股权结构'&#10;        titleColor='#1C2B24'&#10;        showLegend={true}&#10;        showDataLabels={true}&#10;        legendColor='#5C6B63'&#10;        dataLabelColor='#FFFFFF'&#10;        colors={['#0F5C46', '#2E9E78']}&#10;        background='#FFFFFF'&#10;        style={{ width: '100%', height: '100%' }}&#10;        data={[&#10;          ['股东', '占比'],&#10;          ['原自然人股东', 60],&#10;          ['湖南外国语职业学院', 40],&#10;        ]}&#10;      /&gt;&#10;    &lt;/Box&gt;&#10;&#10;    {/* 右：架构说明 + 估值逻辑 */}&#10;    &lt;Box style={{ flex: 1.2, flexDirection: 'column', gap: 14 }}&gt;&#10;      &lt;Box style={{ background: '#FFFFFF', borderRadius: 14, padding: '16px 20px', boxShadow: '0 4px 16px rgba(15,92,70,0.08)' }}&gt;&#10;        &lt;Text style={{ fontSize: 19, fontWeight: 'bold', color: '#0F5C46', marginBottom: 6 }}&gt;股东权责&lt;/Text&gt;&#10;        &lt;Text style={{ fontSize: 16.5, color: '#3A463F', lineHeight: 1.6 }}&gt;· &lt;Text style={{ fontWeight: 'bold' }}&gt;原自然人股东 60%&lt;/Text&gt;：控股，统筹运营、市场、全国线上平台扩张与产业落地。{'\n'}· &lt;Text style={{ fontWeight: 'bold' }}&gt;湖南外国语职业学院 40%&lt;/Text&gt;：全额现金出资，享分红权、重大经营事项监督权、场地联合使用权。&lt;/Text&gt;&#10;      &lt;/Box&gt;&#10;      &lt;Box style={{ background: 'linear-gradient(135deg,#0A2B4D,#0F5C46)', borderRadius: 14, padding: '16px 20px', flex: 1, justifyContent: 'center' }}&gt;&#10;        &lt;Text style={{ fontSize: 19, fontWeight: 'bold', color: '#FFFFFF', marginBottom: 6 }}&gt;估值协商逻辑&lt;/Text&gt;&#10;        &lt;Text style={{ fontSize: 16, color: 'rgba(255,255,255,0.92)', lineHeight: 1.62 }}&gt;&#10;          不聘第三方评估，依托长期合作基础、高层赛道研判、UBIC 全产业链战略，结合①省内前三品牌 + 6000+ 稳定现金流 ②九大工种自研课程（不可复制）③全国可复制线上平台 ④稀缺鉴定申报能力，综合协商&lt;Text style={{ color:'#7FE3C0',fontWeight:'bold' }}&gt;投前 3000 万元&lt;/Text&gt;。划拨场地仅台账备案、不纳入作价。&#10;        &lt;/Text&gt;&#10;      &lt;/Box&gt;&#10;    &lt;/Box&gt;&#10;  &lt;/Box&gt;&#10;&#10;  &lt;Box style={{ position: 'absolute', bottom: 0, left: 0, right: 0, height: 58, paddingLeft: 60, paddingRight: 60, flexDirection: 'row', alignItems: 'center' }}&gt;&#10;    &lt;Box style={{ flex: 1 }} /&gt;&#10;    &lt;Text style={{ fontSize: 14, color: '#5C6B63', textAlign: 'center' }}&gt;叁竹 × 湖外 校企合作商业计划书&lt;/Text&gt;&#10;    &lt;Box style={{ flex: 1, alignItems: 'flex-end' }}&gt;&#10;      &lt;Text style={{ fontSize: 14, color: '#5C6B63' }}&gt;17 / 27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 1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2" name="矩形: 圆角 181"/>
          <p:cNvSpPr/>
          <p:nvPr/>
        </p:nvSpPr>
        <p:spPr>
          <a:xfrm>
            <a:off x="571500" y="314325"/>
            <a:ext cx="57150" cy="419100"/>
          </a:xfrm>
          <a:prstGeom prst="roundRect">
            <a:avLst>
              <a:gd name="adj" fmla="val 50000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800100" y="333375"/>
            <a:ext cx="29146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2B24"/>
                </a:solidFill>
                <a:latin typeface="Source Han Sans SC"/>
                <a:ea typeface="Source Han Sans SC"/>
              </a:rPr>
              <a:t>工商变更后股权架构</a:t>
            </a:r>
            <a:endParaRPr/>
          </a:p>
        </p:txBody>
      </p:sp>
      <p:sp>
        <p:nvSpPr>
          <p:cNvPr id="184" name="矩形: 圆角 183"/>
          <p:cNvSpPr/>
          <p:nvPr/>
        </p:nvSpPr>
        <p:spPr>
          <a:xfrm>
            <a:off x="571500" y="1181100"/>
            <a:ext cx="4914900" cy="5067300"/>
          </a:xfrm>
          <a:prstGeom prst="roundRect">
            <a:avLst>
              <a:gd name="adj" fmla="val 271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graphicFrame>
        <p:nvGraphicFramePr>
          <p:cNvPr id="185" name="185"/>
          <p:cNvGraphicFramePr/>
          <p:nvPr/>
        </p:nvGraphicFramePr>
        <p:xfrm>
          <a:off x="742950" y="1333500"/>
          <a:ext cx="4572000" cy="476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6" name="矩形: 圆角 185"/>
          <p:cNvSpPr/>
          <p:nvPr/>
        </p:nvSpPr>
        <p:spPr>
          <a:xfrm>
            <a:off x="5715000" y="2019300"/>
            <a:ext cx="5905500" cy="1495425"/>
          </a:xfrm>
          <a:prstGeom prst="roundRect">
            <a:avLst>
              <a:gd name="adj" fmla="val 891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5905500" y="2171700"/>
            <a:ext cx="55245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5C46"/>
                </a:solidFill>
                <a:latin typeface="Source Han Sans SC"/>
                <a:ea typeface="Source Han Sans SC"/>
              </a:rPr>
              <a:t>股东权责</a:t>
            </a:r>
            <a:endParaRPr/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5905500" y="2447925"/>
            <a:ext cx="5524500" cy="914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0000"/>
              </a:lnSpc>
            </a:pPr>
            <a:r>
              <a:rPr lang="en-US" sz="1238">
                <a:solidFill>
                  <a:srgbClr val="3A463F"/>
                </a:solidFill>
                <a:latin typeface="Source Han Sans SC"/>
                <a:ea typeface="Source Han Sans SC"/>
              </a:rPr>
              <a:t>· </a:t>
            </a:r>
            <a:r>
              <a:rPr lang="zh-CN" sz="1238">
                <a:solidFill>
                  <a:srgbClr val="3A463F"/>
                </a:solidFill>
                <a:latin typeface="Source Han Sans SC"/>
                <a:ea typeface="Source Han Sans SC"/>
              </a:rPr>
              <a:t>原自然人股东</a:t>
            </a:r>
            <a:r>
              <a:rPr lang="en-US" sz="1238">
                <a:solidFill>
                  <a:srgbClr val="3A463F"/>
                </a:solidFill>
                <a:latin typeface="Source Han Sans SC"/>
                <a:ea typeface="Source Han Sans SC"/>
              </a:rPr>
              <a:t> 60%</a:t>
            </a:r>
            <a:r>
              <a:rPr lang="zh-CN" sz="1238">
                <a:solidFill>
                  <a:srgbClr val="3A463F"/>
                </a:solidFill>
                <a:latin typeface="Source Han Sans SC"/>
                <a:ea typeface="Source Han Sans SC"/>
              </a:rPr>
              <a:t>：控股，统筹运营、市场、全国线上平台扩张与产业落地。</a:t>
            </a:r>
            <a:endParaRPr/>
          </a:p>
          <a:p>
            <a:pPr>
              <a:lnSpc>
                <a:spcPct val="160000"/>
              </a:lnSpc>
            </a:pPr>
            <a:r>
              <a:rPr lang="en-US" sz="1238">
                <a:solidFill>
                  <a:srgbClr val="3A463F"/>
                </a:solidFill>
                <a:latin typeface="Source Han Sans SC"/>
                <a:ea typeface="Source Han Sans SC"/>
              </a:rPr>
              <a:t>· </a:t>
            </a:r>
            <a:r>
              <a:rPr lang="zh-CN" sz="1238">
                <a:solidFill>
                  <a:srgbClr val="3A463F"/>
                </a:solidFill>
                <a:latin typeface="Source Han Sans SC"/>
                <a:ea typeface="Source Han Sans SC"/>
              </a:rPr>
              <a:t>湖南外国语职业学院</a:t>
            </a:r>
            <a:r>
              <a:rPr lang="en-US" sz="1238">
                <a:solidFill>
                  <a:srgbClr val="3A463F"/>
                </a:solidFill>
                <a:latin typeface="Source Han Sans SC"/>
                <a:ea typeface="Source Han Sans SC"/>
              </a:rPr>
              <a:t> 40%</a:t>
            </a:r>
            <a:r>
              <a:rPr lang="zh-CN" sz="1238">
                <a:solidFill>
                  <a:srgbClr val="3A463F"/>
                </a:solidFill>
                <a:latin typeface="Source Han Sans SC"/>
                <a:ea typeface="Source Han Sans SC"/>
              </a:rPr>
              <a:t>：全额现金出资，享分红权、重大经营事项监督权、场地联合使用权。</a:t>
            </a:r>
            <a:endParaRPr/>
          </a:p>
        </p:txBody>
      </p:sp>
      <p:sp>
        <p:nvSpPr>
          <p:cNvPr id="189" name="矩形: 圆角 188"/>
          <p:cNvSpPr/>
          <p:nvPr/>
        </p:nvSpPr>
        <p:spPr>
          <a:xfrm>
            <a:off x="5715000" y="3648075"/>
            <a:ext cx="5905500" cy="1771650"/>
          </a:xfrm>
          <a:prstGeom prst="roundRect">
            <a:avLst>
              <a:gd name="adj" fmla="val 7527"/>
            </a:avLst>
          </a:prstGeom>
          <a:gradFill>
            <a:gsLst>
              <a:gs pos="0">
                <a:srgbClr val="0A2B4D"/>
              </a:gs>
              <a:gs pos="100000">
                <a:srgbClr val="0F5C46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5905500" y="3800475"/>
            <a:ext cx="55245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Source Han Sans SC"/>
                <a:ea typeface="Source Han Sans SC"/>
              </a:rPr>
              <a:t>估值协商逻辑</a:t>
            </a:r>
            <a:endParaRPr/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5905500" y="4076700"/>
            <a:ext cx="5524500" cy="11906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2000"/>
              </a:lnSpc>
            </a:pPr>
            <a:r>
              <a:rPr lang="zh-CN" sz="120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不聘第三方评估，依托长期合作基础、高层赛道研判、</a:t>
            </a:r>
            <a:r>
              <a:rPr lang="en-US" sz="120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UBIC </a:t>
            </a:r>
            <a:r>
              <a:rPr lang="zh-CN" sz="120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全产业链战略，结合①省内前三品牌</a:t>
            </a:r>
            <a:r>
              <a:rPr lang="en-US" sz="120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 + 6000+ </a:t>
            </a:r>
            <a:r>
              <a:rPr lang="zh-CN" sz="120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稳定现金流</a:t>
            </a:r>
            <a:r>
              <a:rPr lang="en-US" sz="120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 ②</a:t>
            </a:r>
            <a:r>
              <a:rPr lang="zh-CN" sz="120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九大工种自研课程（不可复制）③全国可复制线上平台</a:t>
            </a:r>
            <a:r>
              <a:rPr lang="en-US" sz="120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 ④</a:t>
            </a:r>
            <a:r>
              <a:rPr lang="zh-CN" sz="120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稀缺鉴定申报能力，综合协商投前</a:t>
            </a:r>
            <a:r>
              <a:rPr lang="en-US" sz="120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 3000 </a:t>
            </a:r>
            <a:r>
              <a:rPr lang="zh-CN" sz="1200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万元。划拨场地仅台账备案、不纳入作价。</a:t>
            </a:r>
            <a:endParaRPr/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5124450" y="6505575"/>
            <a:ext cx="1952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叁竹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×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湖外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校企合作商业计划书</a:t>
            </a:r>
            <a:endParaRPr/>
          </a:p>
        </p:txBody>
      </p:sp>
      <p:sp>
        <p:nvSpPr>
          <p:cNvPr id="193" name="文本框 192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17 / 27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background: '#F4F9F6', fontFamily: &quot;'Source Han Sans SC', 'Microsoft YaHei', sans-serif&quot; }}&gt;&#10;  &lt;Box style={{ position: 'absolute', top: 0, left: 0, right: 0, height: 110, paddingLeft: 60, paddingRight: 60, flexDirection: 'row', alignItems: 'center' }}&gt;&#10;    &lt;Box style={{ width: 6, height: 44, background: '#0F5C46', borderRadius: 3, marginRight: 18 }} /&gt;&#10;    &lt;Text style={{ fontSize: 34, fontWeight: 'bold', color: '#1C2B24' }}&gt;40% 股权现金入股金额与资金投向&lt;/Text&gt;&#10;  &lt;/Box&gt;&#10;&#10;  &lt;Box style={{ position: 'absolute', top: 124, left: 60, right: 60, bottom: 64, flexDirection: 'row', gap: 24 }}&gt;&#10;    {/* 左：分期 + 用途柱状 */}&#10;    &lt;Box style={{ flex: 1.2, flexDirection: 'column', gap: 14 }}&gt;&#10;      &lt;Box style={{ background: '#FFFFFF', borderRadius: 14, padding: '14px 20px', boxShadow: '0 4px 16px rgba(15,92,70,0.08)' }}&gt;&#10;        &lt;Text style={{ fontSize: 18, fontWeight: 'bold', color: '#0F5C46', marginBottom: 10 }}&gt;实缴分期（降低一次性资金压力）&lt;/Text&gt;&#10;        &lt;Box style={{ flexDirection: 'row', alignItems: 'center', gap: 10, marginBottom: 10 }}&gt;&#10;          &lt;Box style={{ flex: 0.6, background: '#0F5C46', borderRadius: 10, padding: 12, alignItems: 'center' }}&gt;&#10;            &lt;Text style={{ color: '#7FE3C0', fontSize: 26, fontWeight: 'bold', fontFamily: &quot;'DIN Alternate','Inter',sans-serif&quot; }}&gt;60%&lt;/Text&gt;&#10;            &lt;Text style={{ color: '#FFFFFF', fontSize: 14, marginTop: 4 }}&gt;股权变更后&lt;/Text&gt;&#10;            &lt;Text style={{ color: '#FFFFFF', fontSize: 18, fontWeight: 'bold', marginTop: 2 }}&gt;720 万&lt;/Text&gt;&#10;          &lt;/Box&gt;&#10;          &lt;FAIcon name='arrow-right' style={{ fill: '#2E9E78', width: 22, height: 22 }} /&gt;&#10;          &lt;Box style={{ flex: 0.4, background: '#2E9E78', borderRadius: 10, padding: 12, alignItems: 'center' }}&gt;&#10;            &lt;Text style={{ color: '#FFFFFF', fontSize: 22, fontWeight: 'bold', fontFamily: &quot;'DIN Alternate','Inter',sans-serif&quot; }}&gt;40%&lt;/Text&gt;&#10;            &lt;Text style={{ color: '#FFFFFF', fontSize: 13, marginTop: 4 }}&gt;申报材料递交后&lt;/Text&gt;&#10;            &lt;Text style={{ color: '#FFFFFF', fontSize: 16, fontWeight: 'bold', marginTop: 2 }}&gt;480 万&lt;/Text&gt;&#10;          &lt;/Box&gt;&#10;        &lt;/Box&gt;&#10;        &lt;Text style={{ fontSize: 15, color: '#3A463F', lineHeight: 1.55 }}&gt;① 股权变更完成后实缴 &lt;Text style={{ fontWeight:'bold',color:'#0F5C46' }}&gt;60% = 720 万元&lt;/Text&gt;；② 省级鉴定资质申报材料递交人社厅后实缴剩余 &lt;Text style={{ fontWeight:'bold',color:'#0F5C46' }}&gt;40% = 480 万元&lt;/Text&gt;。设立专项资金台账，湖外可全程监督。&lt;/Text&gt;&#10;      &lt;/Box&gt;&#10;      &lt;Box style={{ background: '#FFFFFF', borderRadius: 14, padding: '10px 16px 4px', boxShadow: '0 4px 16px rgba(15,92,70,0.08)', flex: 1 }}&gt;&#10;        &lt;Chart&#10;          chartType='barChart'&#10;          barDirection='bar'&#10;          grouping='clustered'&#10;          title='1200 万资金专项用途（万元）'&#10;          titleColor='#1C2B24'&#10;          showLegend={false}&#10;          showDataLabels={true}&#10;          dataLabelColor='#0F5C46'&#10;          legendColor='#5C6B63'&#10;          axisColor='#5C6B63'&#10;          colors={['#2E9E78']}&#10;          background='#FFFFFF'&#10;          style={{ width: '100%', height: '100%' }}&#10;          data={[&#10;            ['用途', '金额'],&#10;            ['省级鉴定申报', 420],&#10;            ['线上平台迭代', 300],&#10;            ['市场渠道拓展', 240],&#10;            ['团队/师资扩充', 150],&#10;            ['场地改造/耗材', 90],&#10;          ]}&#10;        /&gt;&#10;      &lt;/Box&gt;&#10;    &lt;/Box&gt;&#10;&#10;    {/* 右：巨型数字 + 出资规则 */}&#10;    &lt;Box style={{ flex: 1, flexDirection: 'column', gap: 14 }}&gt;&#10;      &lt;Box style={{ background: 'linear-gradient(135deg,#0A2B4D,#0F5C46)', borderRadius: 14, padding: '20px 24px', alignItems: 'center' }}&gt;&#10;        &lt;Text style={{ color: 'rgba(255,255,255,0.85)', fontSize: 18 }}&gt;湖外 40% 股权对应总出资&lt;/Text&gt;&#10;        &lt;Box style={{ flexDirection: 'row', alignItems: 'flex-end', marginTop: 4 }}&gt;&#10;          &lt;Text style={{ color: '#7FE3C0', fontSize: 96, fontWeight: 'bold', fontFamily: &quot;'DIN Alternate','Inter',sans-serif&quot;, lineHeight: 1 }}&gt;1200&lt;/Text&gt;&#10;          &lt;Text style={{ color: '#FFFFFF', fontSize: 30, fontWeight: 'bold', marginBottom: 12, marginLeft: 6 }}&gt;万元&lt;/Text&gt;&#10;        &lt;/Box&gt;&#10;        &lt;Text style={{ color: 'rgba(255,255,255,0.8)', fontSize: 15, marginTop: 4 }}&gt;全部为货币现金，场地设备仅台账备案、不抵充任何入股资金&lt;/Text&gt;&#10;      &lt;/Box&gt;&#10;      &lt;Box style={{ background: '#FFFFFF', borderRadius: 14, padding: '18px 22px', boxShadow: '0 4px 16px rgba(15,92,70,0.08)', flex: 1, justifyContent: 'center' }}&gt;&#10;        &lt;Text style={{ fontSize: 18, fontWeight: 'bold', color: '#0F5C46', marginBottom: 8 }}&gt;资金监管&lt;/Text&gt;&#10;        &lt;Text style={{ fontSize: 16.5, color: '#3A463F', lineHeight: 1.62 }}&gt;资金专项用于多工种省级鉴定资质申报、线上全国平台迭代升级、市场渠道拓展、运营与考评团队扩充、实训耗材储备、场地标准化改造；建立专项台账，湖外可全程查阅、监督使用明细，保障全部用于约定产业发展事项。&lt;/Text&gt;&#10;      &lt;/Box&gt;&#10;    &lt;/Box&gt;&#10;  &lt;/Box&gt;&#10;&#10;  &lt;Box style={{ position: 'absolute', bottom: 0, left: 0, right: 0, height: 58, paddingLeft: 60, paddingRight: 60, flexDirection: 'row', alignItems: 'center' }}&gt;&#10;    &lt;Box style={{ flex: 1 }} /&gt;&#10;    &lt;Text style={{ fontSize: 14, color: '#5C6B63', textAlign: 'center' }}&gt;叁竹 × 湖外 校企合作商业计划书&lt;/Text&gt;&#10;    &lt;Box style={{ flex: 1, alignItems: 'flex-end' }}&gt;&#10;      &lt;Text style={{ fontSize: 14, color: '#5C6B63' }}&gt;18 / 27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矩形 19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6" name="矩形: 圆角 195"/>
          <p:cNvSpPr/>
          <p:nvPr/>
        </p:nvSpPr>
        <p:spPr>
          <a:xfrm>
            <a:off x="571500" y="314325"/>
            <a:ext cx="57150" cy="419100"/>
          </a:xfrm>
          <a:prstGeom prst="roundRect">
            <a:avLst>
              <a:gd name="adj" fmla="val 50000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7" name="文本框 196" descr="{&quot;isTemplate&quot;:true,&quot;type&quot;:&quot;text&quot;}"/>
          <p:cNvSpPr txBox="1"/>
          <p:nvPr/>
        </p:nvSpPr>
        <p:spPr>
          <a:xfrm>
            <a:off x="800100" y="333375"/>
            <a:ext cx="50101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1C2B24"/>
                </a:solidFill>
                <a:latin typeface="Source Han Sans SC"/>
                <a:ea typeface="Source Han Sans SC"/>
              </a:rPr>
              <a:t>40% </a:t>
            </a:r>
            <a:r>
              <a:rPr lang="zh-CN" sz="2550" b="1">
                <a:solidFill>
                  <a:srgbClr val="1C2B24"/>
                </a:solidFill>
                <a:latin typeface="Source Han Sans SC"/>
                <a:ea typeface="Source Han Sans SC"/>
              </a:rPr>
              <a:t>股权现金入股金额与资金投向</a:t>
            </a:r>
            <a:endParaRPr/>
          </a:p>
        </p:txBody>
      </p:sp>
      <p:sp>
        <p:nvSpPr>
          <p:cNvPr id="198" name="矩形: 圆角 197"/>
          <p:cNvSpPr/>
          <p:nvPr/>
        </p:nvSpPr>
        <p:spPr>
          <a:xfrm>
            <a:off x="571500" y="1181100"/>
            <a:ext cx="5905500" cy="2162175"/>
          </a:xfrm>
          <a:prstGeom prst="roundRect">
            <a:avLst>
              <a:gd name="adj" fmla="val 616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762000" y="1314450"/>
            <a:ext cx="55245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5C46"/>
                </a:solidFill>
                <a:latin typeface="Source Han Sans SC"/>
                <a:ea typeface="Source Han Sans SC"/>
              </a:rPr>
              <a:t>实缴分期（降低一次性资金压力）</a:t>
            </a:r>
            <a:endParaRPr/>
          </a:p>
        </p:txBody>
      </p:sp>
      <p:sp>
        <p:nvSpPr>
          <p:cNvPr id="200" name="矩形: 圆角 199"/>
          <p:cNvSpPr/>
          <p:nvPr/>
        </p:nvSpPr>
        <p:spPr>
          <a:xfrm>
            <a:off x="762000" y="1619250"/>
            <a:ext cx="3076575" cy="962025"/>
          </a:xfrm>
          <a:prstGeom prst="roundRect">
            <a:avLst>
              <a:gd name="adj" fmla="val 9901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1990725" y="1733550"/>
            <a:ext cx="61912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7FE3C0"/>
                </a:solidFill>
                <a:latin typeface="DIN Alternate"/>
                <a:ea typeface="DIN Alternate"/>
              </a:rPr>
              <a:t>60%</a:t>
            </a:r>
            <a:endParaRPr/>
          </a:p>
        </p:txBody>
      </p:sp>
      <p:sp>
        <p:nvSpPr>
          <p:cNvPr id="202" name="文本框 201" descr="{&quot;isTemplate&quot;:true,&quot;type&quot;:&quot;text&quot;}"/>
          <p:cNvSpPr txBox="1"/>
          <p:nvPr/>
        </p:nvSpPr>
        <p:spPr>
          <a:xfrm>
            <a:off x="1971675" y="2076450"/>
            <a:ext cx="66675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/>
                </a:solidFill>
                <a:latin typeface="Source Han Sans SC"/>
                <a:ea typeface="Source Han Sans SC"/>
              </a:rPr>
              <a:t>股权变更后</a:t>
            </a:r>
            <a:endParaRPr/>
          </a:p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2028825" y="2257425"/>
            <a:ext cx="5429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Source Han Sans SC"/>
                <a:ea typeface="Source Han Sans SC"/>
              </a:rPr>
              <a:t>720 </a:t>
            </a:r>
            <a:r>
              <a:rPr lang="zh-CN" sz="1350" b="1">
                <a:solidFill>
                  <a:srgbClr val="FFFFFF"/>
                </a:solidFill>
                <a:latin typeface="Source Han Sans SC"/>
                <a:ea typeface="Source Han Sans SC"/>
              </a:rPr>
              <a:t>万</a:t>
            </a:r>
            <a:endParaRPr/>
          </a:p>
        </p:txBody>
      </p:sp>
      <p:pic>
        <p:nvPicPr>
          <p:cNvPr id="204" name="图形 20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933825" y="2000250"/>
            <a:ext cx="209550" cy="209550"/>
          </a:xfrm>
          <a:prstGeom prst="rect">
            <a:avLst/>
          </a:prstGeom>
          <a:ln/>
        </p:spPr>
      </p:pic>
      <p:sp>
        <p:nvSpPr>
          <p:cNvPr id="205" name="矩形: 圆角 204"/>
          <p:cNvSpPr/>
          <p:nvPr/>
        </p:nvSpPr>
        <p:spPr>
          <a:xfrm>
            <a:off x="4238625" y="1657350"/>
            <a:ext cx="2047875" cy="885825"/>
          </a:xfrm>
          <a:prstGeom prst="roundRect">
            <a:avLst>
              <a:gd name="adj" fmla="val 10753"/>
            </a:avLst>
          </a:pr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6" name="文本框 205" descr="{&quot;isTemplate&quot;:true,&quot;type&quot;:&quot;text&quot;}"/>
          <p:cNvSpPr txBox="1"/>
          <p:nvPr/>
        </p:nvSpPr>
        <p:spPr>
          <a:xfrm>
            <a:off x="5000625" y="1771650"/>
            <a:ext cx="5238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DIN Alternate"/>
                <a:ea typeface="DIN Alternate"/>
              </a:rPr>
              <a:t>40%</a:t>
            </a:r>
            <a:endParaRPr/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4829175" y="2066925"/>
            <a:ext cx="866775" cy="1524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Source Han Sans SC"/>
                <a:ea typeface="Source Han Sans SC"/>
              </a:rPr>
              <a:t>申报材料递交后</a:t>
            </a:r>
            <a:endParaRPr/>
          </a:p>
        </p:txBody>
      </p:sp>
      <p:sp>
        <p:nvSpPr>
          <p:cNvPr id="208" name="文本框 207" descr="{&quot;isTemplate&quot;:true,&quot;type&quot;:&quot;text&quot;}"/>
          <p:cNvSpPr txBox="1"/>
          <p:nvPr/>
        </p:nvSpPr>
        <p:spPr>
          <a:xfrm>
            <a:off x="5019675" y="2238375"/>
            <a:ext cx="48577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Source Han Sans SC"/>
                <a:ea typeface="Source Han Sans SC"/>
              </a:rPr>
              <a:t>480 </a:t>
            </a:r>
            <a:r>
              <a:rPr lang="zh-CN" sz="1200" b="1">
                <a:solidFill>
                  <a:srgbClr val="FFFFFF"/>
                </a:solidFill>
                <a:latin typeface="Source Han Sans SC"/>
                <a:ea typeface="Source Han Sans SC"/>
              </a:rPr>
              <a:t>万</a:t>
            </a:r>
            <a:endParaRPr/>
          </a:p>
        </p:txBody>
      </p:sp>
      <p:sp>
        <p:nvSpPr>
          <p:cNvPr id="209" name="文本框 208" descr="{&quot;isTemplate&quot;:true,&quot;type&quot;:&quot;text&quot;}"/>
          <p:cNvSpPr txBox="1"/>
          <p:nvPr/>
        </p:nvSpPr>
        <p:spPr>
          <a:xfrm>
            <a:off x="762000" y="2676525"/>
            <a:ext cx="552450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5000"/>
              </a:lnSpc>
            </a:pPr>
            <a:r>
              <a:rPr lang="en-US" sz="1125">
                <a:solidFill>
                  <a:srgbClr val="3A463F"/>
                </a:solidFill>
                <a:latin typeface="Source Han Sans SC"/>
                <a:ea typeface="Source Han Sans SC"/>
              </a:rPr>
              <a:t>① </a:t>
            </a: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股权变更完成后实缴</a:t>
            </a:r>
            <a:r>
              <a:rPr lang="en-US" sz="1125">
                <a:solidFill>
                  <a:srgbClr val="3A463F"/>
                </a:solidFill>
                <a:latin typeface="Source Han Sans SC"/>
                <a:ea typeface="Source Han Sans SC"/>
              </a:rPr>
              <a:t> 60% = 720 </a:t>
            </a: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万元；②</a:t>
            </a:r>
            <a:r>
              <a:rPr lang="en-US" sz="1125">
                <a:solidFill>
                  <a:srgbClr val="3A463F"/>
                </a:solidFill>
                <a:latin typeface="Source Han Sans SC"/>
                <a:ea typeface="Source Han Sans SC"/>
              </a:rPr>
              <a:t> </a:t>
            </a: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省级鉴定资质申报材料递交人社厅后实缴剩余</a:t>
            </a:r>
            <a:r>
              <a:rPr lang="en-US" sz="1125">
                <a:solidFill>
                  <a:srgbClr val="3A463F"/>
                </a:solidFill>
                <a:latin typeface="Source Han Sans SC"/>
                <a:ea typeface="Source Han Sans SC"/>
              </a:rPr>
              <a:t> 40% = 480 </a:t>
            </a: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万元。设立专项资金台账，湖外可全程监督。</a:t>
            </a:r>
            <a:endParaRPr/>
          </a:p>
        </p:txBody>
      </p:sp>
      <p:sp>
        <p:nvSpPr>
          <p:cNvPr id="210" name="矩形: 圆角 209"/>
          <p:cNvSpPr/>
          <p:nvPr/>
        </p:nvSpPr>
        <p:spPr>
          <a:xfrm>
            <a:off x="571500" y="3476625"/>
            <a:ext cx="5905500" cy="2771775"/>
          </a:xfrm>
          <a:prstGeom prst="roundRect">
            <a:avLst>
              <a:gd name="adj" fmla="val 481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graphicFrame>
        <p:nvGraphicFramePr>
          <p:cNvPr id="211" name="211"/>
          <p:cNvGraphicFramePr/>
          <p:nvPr/>
        </p:nvGraphicFramePr>
        <p:xfrm>
          <a:off x="723900" y="3571875"/>
          <a:ext cx="5600700" cy="2638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2" name="矩形: 圆角 211"/>
          <p:cNvSpPr/>
          <p:nvPr/>
        </p:nvSpPr>
        <p:spPr>
          <a:xfrm>
            <a:off x="6705600" y="1181100"/>
            <a:ext cx="4914900" cy="1943100"/>
          </a:xfrm>
          <a:prstGeom prst="roundRect">
            <a:avLst>
              <a:gd name="adj" fmla="val 6863"/>
            </a:avLst>
          </a:prstGeom>
          <a:gradFill>
            <a:gsLst>
              <a:gs pos="0">
                <a:srgbClr val="0A2B4D"/>
              </a:gs>
              <a:gs pos="100000">
                <a:srgbClr val="0F5C46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213" name="文本框 212" descr="{&quot;isTemplate&quot;:true,&quot;type&quot;:&quot;text&quot;}"/>
          <p:cNvSpPr txBox="1"/>
          <p:nvPr/>
        </p:nvSpPr>
        <p:spPr>
          <a:xfrm>
            <a:off x="8162925" y="1371600"/>
            <a:ext cx="20002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湖外</a:t>
            </a:r>
            <a:r>
              <a:rPr lang="en-US" sz="13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 40% </a:t>
            </a:r>
            <a:r>
              <a:rPr lang="zh-CN" sz="13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股权对应总出资</a:t>
            </a:r>
            <a:endParaRPr/>
          </a:p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7686675" y="1619250"/>
            <a:ext cx="2333625" cy="1104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7FE3C0"/>
                </a:solidFill>
                <a:latin typeface="DIN Alternate"/>
                <a:ea typeface="DIN Alternate"/>
              </a:rPr>
              <a:t>1200</a:t>
            </a:r>
            <a:endParaRPr/>
          </a:p>
        </p:txBody>
      </p:sp>
      <p:sp>
        <p:nvSpPr>
          <p:cNvPr id="215" name="文本框 214" descr="{&quot;isTemplate&quot;:true,&quot;type&quot;:&quot;text&quot;}"/>
          <p:cNvSpPr txBox="1"/>
          <p:nvPr/>
        </p:nvSpPr>
        <p:spPr>
          <a:xfrm>
            <a:off x="10077450" y="2266950"/>
            <a:ext cx="571500" cy="342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Source Han Sans SC"/>
                <a:ea typeface="Source Han Sans SC"/>
              </a:rPr>
              <a:t>万元</a:t>
            </a:r>
            <a:endParaRPr/>
          </a:p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7239000" y="2762250"/>
            <a:ext cx="3857625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0000"/>
                  </a:srgbClr>
                </a:solidFill>
                <a:latin typeface="Source Han Sans SC"/>
                <a:ea typeface="Source Han Sans SC"/>
              </a:rPr>
              <a:t>全部为货币现金，场地设备仅台账备案、不抵充任何入股资金</a:t>
            </a:r>
            <a:endParaRPr/>
          </a:p>
        </p:txBody>
      </p:sp>
      <p:sp>
        <p:nvSpPr>
          <p:cNvPr id="217" name="矩形: 圆角 216"/>
          <p:cNvSpPr/>
          <p:nvPr/>
        </p:nvSpPr>
        <p:spPr>
          <a:xfrm>
            <a:off x="6705600" y="3257550"/>
            <a:ext cx="4914900" cy="2990850"/>
          </a:xfrm>
          <a:prstGeom prst="roundRect">
            <a:avLst>
              <a:gd name="adj" fmla="val 4459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6915150" y="4000500"/>
            <a:ext cx="44958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F5C46"/>
                </a:solidFill>
                <a:latin typeface="Source Han Sans SC"/>
                <a:ea typeface="Source Han Sans SC"/>
              </a:rPr>
              <a:t>资金监管</a:t>
            </a:r>
            <a:endParaRPr/>
          </a:p>
        </p:txBody>
      </p:sp>
      <p:sp>
        <p:nvSpPr>
          <p:cNvPr id="219" name="文本框 218" descr="{&quot;isTemplate&quot;:true,&quot;type&quot;:&quot;text&quot;}"/>
          <p:cNvSpPr txBox="1"/>
          <p:nvPr/>
        </p:nvSpPr>
        <p:spPr>
          <a:xfrm>
            <a:off x="6915150" y="4286250"/>
            <a:ext cx="4495800" cy="1228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2000"/>
              </a:lnSpc>
            </a:pPr>
            <a:r>
              <a:rPr lang="zh-CN" sz="1238">
                <a:solidFill>
                  <a:srgbClr val="3A463F"/>
                </a:solidFill>
                <a:latin typeface="Source Han Sans SC"/>
                <a:ea typeface="Source Han Sans SC"/>
              </a:rPr>
              <a:t>资金专项用于多工种省级鉴定资质申报、线上全国平台迭代升级、市场渠道拓展、运营与考评团队扩充、实训耗材储备、场地标准化改造；建立专项台账，湖外可全程查阅、监督使用明细，保障全部用于约定产业发展事项。</a:t>
            </a:r>
            <a:endParaRPr/>
          </a:p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5124450" y="6505575"/>
            <a:ext cx="1952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叁竹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×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湖外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校企合作商业计划书</a:t>
            </a:r>
            <a:endParaRPr/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18 / 27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width: '1280px', height: '720px', fontFamily: &quot;'Source Han Sans SC', 'Microsoft YaHei', sans-serif&quot; }}&gt;&#10;  &lt;Image src=&quot;assets/hero_garden.png&quot; style={{ position: 'absolute', top: 0, left: 0, width: '100%', height: '100%', objectFit: 'cover' }} /&gt;&#10;  &lt;Box style={{ position: 'absolute', top: 0, left: 0, right: 0, bottom: 0, background: 'linear-gradient(135deg, rgba(10,43,77,0.82) 0%, rgba(15,92,70,0.78) 100%)' }} /&gt;&#10;&#10;  &lt;Box style={{ position: 'absolute', left: 0, right: 0, bottom: 0, height: 240, overflow: 'hidden' }}&gt;&#10;    &lt;svg width='1280' height='240' viewBox='0 0 1280 240' style={{ position: 'absolute', bottom: 0 }}&gt;&#10;      &lt;path d='M0,90 C340,20 920,180 1280,70 L1280,240 L0,240 Z' fill='rgba(10,43,77,0.55)' /&gt;&#10;      &lt;path d='M0,150 C380,80 900,210 1280,120 L1280,240 L0,240 Z' fill='rgba(10,43,77,0.40)' /&gt;&#10;    &lt;/svg&gt;&#10;  &lt;/Box&gt;&#10;&#10;  &lt;Box style={{ position: 'absolute', top: 0, left: 0, right: 0, bottom: 0, justifyContent: 'center', alignItems: 'center' }}&gt;&#10;    &lt;Box style={{ width: 200, height: 200, borderRadius: 999, background: 'rgba(255,255,255,0.12)', border: '4px solid rgba(255,255,255,0.35)', justifyContent: 'center', alignItems: 'center', marginBottom: 36 }}&gt;&#10;      &lt;Text style={{ color: '#FFFFFF', fontSize: 96, fontWeight: 'bold', fontFamily: &quot;'DIN Alternate','Inter',sans-serif&quot; }}&gt;07&lt;/Text&gt;&#10;    &lt;/Box&gt;&#10;    &lt;Text style={{ color: '#FFFFFF', fontSize: 56, fontWeight: 'bold', textShadow: '0 4px 18px rgba(0,0,0,0.35)' }}&gt;七、全产业链布局&lt;/Text&gt;&#10;    &lt;Text style={{ color: 'rgba(255,255,255,0.82)', fontSize: 22, marginTop: 18, letterSpacing: 2 }}&gt;培训 · 实训 · 鉴定 · 就业 · 输送 · 咨询 闭环&lt;/Text&gt;&#10;  &lt;/Box&gt;&#10;&#10;  &lt;Text style={{ position: 'absolute', bottom: 48, left: 0, right: 0, textAlign: 'center', color: 'rgba(255,255,255,0.6)', fontSize: 15 }}&gt;&#10;    叁竹 × 湖外 校企合作商业计划书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图片 222"/>
          <p:cNvPicPr>
            <a:picLocks noChangeAspect="1"/>
          </p:cNvPicPr>
          <p:nvPr/>
        </p:nvPicPr>
        <p:blipFill>
          <a:blip r:embed="rId2"/>
          <a:srcRect t="8894" b="889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224" name="矩形 2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2B4D">
                  <a:alpha val="82000"/>
                </a:srgbClr>
              </a:gs>
              <a:gs pos="100000">
                <a:srgbClr val="0F5C46">
                  <a:alpha val="78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225" name="图形 22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572000"/>
            <a:ext cx="12192000" cy="2286000"/>
          </a:xfrm>
          <a:prstGeom prst="rect">
            <a:avLst/>
          </a:prstGeom>
          <a:ln/>
        </p:spPr>
      </p:pic>
      <p:sp>
        <p:nvSpPr>
          <p:cNvPr id="226" name="矩形: 圆角 225"/>
          <p:cNvSpPr/>
          <p:nvPr/>
        </p:nvSpPr>
        <p:spPr>
          <a:xfrm>
            <a:off x="5143500" y="1771650"/>
            <a:ext cx="1905000" cy="1905000"/>
          </a:xfrm>
          <a:prstGeom prst="roundRect">
            <a:avLst>
              <a:gd name="adj" fmla="val 499500"/>
            </a:avLst>
          </a:prstGeom>
          <a:solidFill>
            <a:srgbClr val="FFFFFF">
              <a:alpha val="12000"/>
            </a:srgbClr>
          </a:solidFill>
          <a:ln w="508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7" name="文本框 226" descr="{&quot;isTemplate&quot;:true,&quot;type&quot;:&quot;text&quot;}"/>
          <p:cNvSpPr txBox="1"/>
          <p:nvPr/>
        </p:nvSpPr>
        <p:spPr>
          <a:xfrm>
            <a:off x="5514975" y="2171700"/>
            <a:ext cx="1171575" cy="1104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DIN Alternate"/>
                <a:ea typeface="DIN Alternate"/>
              </a:rPr>
              <a:t>07</a:t>
            </a:r>
            <a:endParaRPr/>
          </a:p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3962400" y="4019550"/>
            <a:ext cx="4267200" cy="647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effectLst>
                  <a:outerShdw blurRad="171450" dist="38100" dir="5400000">
                    <a:srgbClr val="000000">
                      <a:alpha val="35000"/>
                    </a:srgbClr>
                  </a:outerShdw>
                </a:effectLst>
                <a:latin typeface="Source Han Sans SC"/>
                <a:ea typeface="Source Han Sans SC"/>
              </a:rPr>
              <a:t>七、全产业链布局</a:t>
            </a:r>
            <a:endParaRPr/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3876675" y="4838700"/>
            <a:ext cx="44481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培训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实训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鉴定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就业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输送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咨询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闭环</a:t>
            </a:r>
            <a:endParaRPr/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0" y="6229350"/>
            <a:ext cx="12192000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叁竹</a:t>
            </a: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× </a:t>
            </a: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湖外</a:t>
            </a: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</a:t>
            </a: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校企合作商业计划书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background: '#F4F9F6', fontFamily: &quot;'Source Han Sans SC', 'Microsoft YaHei', sans-serif&quot; }}&gt;&#10;  &lt;Box style={{ position: 'absolute', top: 0, left: 0, right: 0, height: 110, paddingLeft: 60, paddingRight: 60, flexDirection: 'row', alignItems: 'center' }}&gt;&#10;    &lt;Box style={{ width: 6, height: 44, background: '#0F5C46', borderRadius: 3, marginRight: 18 }} /&gt;&#10;    &lt;Text style={{ fontSize: 34, fontWeight: 'bold', color: '#1C2B24' }}&gt;融合后全产业链业务布局&lt;/Text&gt;&#10;  &lt;/Box&gt;&#10;&#10;  &lt;Box style={{ position: 'absolute', top: 124, left: 60, right: 60, bottom: 64, flexDirection: 'column', justifyContent: 'center', gap: 18 }}&gt;&#10;    &lt;Text style={{ fontSize: 18, color: '#5C6B63', textAlign: 'center' }}&gt;以&quot;专属场地 + 院校资源 + 全国平台&quot;为底座，构建培训—鉴定—平台—社区—输送—咨询完整闭环&lt;/Text&gt;&#10;    {/* 6 步闭环 */}&#10;    &lt;Box style={{ flexDirection: 'row', alignItems: 'stretch', justifyContent: 'center', gap: 6 }}&gt;&#10;      {[&#10;        ['1', '双渠道培训', '线下专属实训教室 + 线上全国平台，申领人社培训补贴'],&#10;        ['2', '省级技能鉴定', '湖外为申报主体，叁竹全流程运营，设标准化官方考点'],&#10;        ['3', '线上平台扩张', '升级招生咨询系统，输出课程/培训/考证一体化'],&#10;        ['4', 'UBIC 社区配套', '实景实训基地，学员优先入职，开展评估增值服务'],&#10;        ['5', '人才定向输送', '结业学员输送至养老院、长护险服务商'],&#10;        ['6', '机构咨询服务', '面向全国机构输出标准化模式，反哺营收'],&#10;      ].map((n, i) =&gt; (&#10;        &lt;Box key={i} style={{ flexDirection: 'row', alignItems: 'center' }}&gt;&#10;          &lt;Box style={{ width: 172, background: '#FFFFFF', borderRadius: 12, padding: '14px 12px', boxShadow: '0 4px 14px rgba(15,92,70,0.08)', flexDirection: 'column', alignItems: 'center', borderTop: '4px solid #2E9E78' }}&gt;&#10;            &lt;Box style={{ width: 34, height: 34, borderRadius: 999, background: i === 3 ? '#0A2B4D' : '#0F5C46', justifyContent: 'center', alignItems: 'center', marginBottom: 8 }}&gt;&#10;              &lt;Text style={{ color: '#FFFFFF', fontSize: 18, fontWeight: 'bold', fontFamily: &quot;'DIN Alternate','Inter',sans-serif&quot; }}&gt;{n[0]}&lt;/Text&gt;&#10;            &lt;/Box&gt;&#10;            &lt;Text style={{ fontSize: 16, fontWeight: 'bold', color: '#0F5C46', textAlign: 'center' }}&gt;{n[1]}&lt;/Text&gt;&#10;            &lt;Text style={{ fontSize: 12.5, color: '#3A463F', lineHeight: 1.45, textAlign: 'center', marginTop: 6 }}&gt;{n[2]}&lt;/Text&gt;&#10;          &lt;/Box&gt;&#10;          {i &lt; 5 &amp;&amp; (&#10;            &lt;Box style={{ width: 22, alignItems: 'center', justifyContent: 'center' }}&gt;&#10;              &lt;FAIcon name='arrow-right' style={{ fill: '#2E9E78', width: 18, height: 18 }} /&gt;&#10;            &lt;/Box&gt;&#10;          )}&#10;        &lt;/Box&gt;&#10;      ))}&#10;    &lt;/Box&gt;&#10;    &lt;Box style={{ background: 'linear-gradient(90deg,#0F5C46,#0A2B4D)', borderRadius: 12, padding: '14px 24px', flexDirection: 'row', justifyContent: 'center', alignItems: 'center', gap: 12, marginTop: 6 }}&gt;&#10;      &lt;FAIcon name='recycle' style={{ fill: '#7FE3C0', width: 24, height: 24 }} /&gt;&#10;      &lt;Text style={{ fontSize: 16, color: '#FFFFFF', fontWeight: 'bold' }}&gt;闭环反哺：社区与咨询收益回流培训与平台，形成自我强化的产教融合飞轮&lt;/Text&gt;&#10;    &lt;/Box&gt;&#10;  &lt;/Box&gt;&#10;&#10;  &lt;Box style={{ position: 'absolute', bottom: 0, left: 0, right: 0, height: 58, paddingLeft: 60, paddingRight: 60, flexDirection: 'row', alignItems: 'center' }}&gt;&#10;    &lt;Box style={{ flex: 1 }} /&gt;&#10;    &lt;Text style={{ fontSize: 14, color: '#5C6B63', textAlign: 'center' }}&gt;叁竹 × 湖外 校企合作商业计划书&lt;/Text&gt;&#10;    &lt;Box style={{ flex: 1, alignItems: 'flex-end' }}&gt;&#10;      &lt;Text style={{ fontSize: 14, color: '#5C6B63' }}&gt;20 / 27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矩形 28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1" name="矩形: 圆角 290"/>
          <p:cNvSpPr/>
          <p:nvPr/>
        </p:nvSpPr>
        <p:spPr>
          <a:xfrm>
            <a:off x="571500" y="314325"/>
            <a:ext cx="57150" cy="419100"/>
          </a:xfrm>
          <a:prstGeom prst="roundRect">
            <a:avLst>
              <a:gd name="adj" fmla="val 50000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800100" y="333375"/>
            <a:ext cx="35623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2B24"/>
                </a:solidFill>
                <a:latin typeface="Source Han Sans SC"/>
                <a:ea typeface="Source Han Sans SC"/>
              </a:rPr>
              <a:t>融合后全产业链业务布局</a:t>
            </a:r>
            <a:endParaRPr/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571500" y="2371725"/>
            <a:ext cx="110490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350" dirty="0">
                <a:solidFill>
                  <a:srgbClr val="5C6B63"/>
                </a:solidFill>
                <a:latin typeface="Source Han Sans SC"/>
                <a:ea typeface="Source Han Sans SC"/>
              </a:rPr>
              <a:t>以</a:t>
            </a:r>
            <a:r>
              <a:rPr lang="en-US" sz="1350" dirty="0">
                <a:solidFill>
                  <a:srgbClr val="5C6B63"/>
                </a:solidFill>
                <a:latin typeface="Source Han Sans SC"/>
                <a:ea typeface="Source Han Sans SC"/>
              </a:rPr>
              <a:t>"</a:t>
            </a:r>
            <a:r>
              <a:rPr lang="zh-CN" sz="1350" dirty="0">
                <a:solidFill>
                  <a:srgbClr val="5C6B63"/>
                </a:solidFill>
                <a:latin typeface="Source Han Sans SC"/>
                <a:ea typeface="Source Han Sans SC"/>
              </a:rPr>
              <a:t>专属场地</a:t>
            </a:r>
            <a:r>
              <a:rPr lang="en-US" sz="1350" dirty="0">
                <a:solidFill>
                  <a:srgbClr val="5C6B63"/>
                </a:solidFill>
                <a:latin typeface="Source Han Sans SC"/>
                <a:ea typeface="Source Han Sans SC"/>
              </a:rPr>
              <a:t> + </a:t>
            </a:r>
            <a:r>
              <a:rPr lang="zh-CN" sz="1350" dirty="0">
                <a:solidFill>
                  <a:srgbClr val="5C6B63"/>
                </a:solidFill>
                <a:latin typeface="Source Han Sans SC"/>
                <a:ea typeface="Source Han Sans SC"/>
              </a:rPr>
              <a:t>院校资源</a:t>
            </a:r>
            <a:r>
              <a:rPr lang="en-US" sz="1350" dirty="0">
                <a:solidFill>
                  <a:srgbClr val="5C6B63"/>
                </a:solidFill>
                <a:latin typeface="Source Han Sans SC"/>
                <a:ea typeface="Source Han Sans SC"/>
              </a:rPr>
              <a:t> + </a:t>
            </a:r>
            <a:r>
              <a:rPr lang="zh-CN" sz="1350" dirty="0">
                <a:solidFill>
                  <a:srgbClr val="5C6B63"/>
                </a:solidFill>
                <a:latin typeface="Source Han Sans SC"/>
                <a:ea typeface="Source Han Sans SC"/>
              </a:rPr>
              <a:t>全国平台</a:t>
            </a:r>
            <a:r>
              <a:rPr lang="en-US" sz="1350" dirty="0">
                <a:solidFill>
                  <a:srgbClr val="5C6B63"/>
                </a:solidFill>
                <a:latin typeface="Source Han Sans SC"/>
                <a:ea typeface="Source Han Sans SC"/>
              </a:rPr>
              <a:t>"</a:t>
            </a:r>
            <a:r>
              <a:rPr lang="zh-CN" sz="1350" dirty="0">
                <a:solidFill>
                  <a:srgbClr val="5C6B63"/>
                </a:solidFill>
                <a:latin typeface="Source Han Sans SC"/>
                <a:ea typeface="Source Han Sans SC"/>
              </a:rPr>
              <a:t>为底座，构建培训—鉴定—平台—社区—输送—咨询完整闭环</a:t>
            </a:r>
            <a:endParaRPr dirty="0"/>
          </a:p>
        </p:txBody>
      </p:sp>
      <p:sp>
        <p:nvSpPr>
          <p:cNvPr id="294" name="矩形: 圆角 293"/>
          <p:cNvSpPr/>
          <p:nvPr/>
        </p:nvSpPr>
        <p:spPr>
          <a:xfrm>
            <a:off x="571500" y="2790825"/>
            <a:ext cx="1638300" cy="158115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5" name="任意多边形: 形状 294"/>
          <p:cNvSpPr/>
          <p:nvPr/>
        </p:nvSpPr>
        <p:spPr>
          <a:xfrm>
            <a:off x="571500" y="2790825"/>
            <a:ext cx="1638300" cy="1581150"/>
          </a:xfrm>
          <a:custGeom>
            <a:avLst/>
            <a:gdLst/>
            <a:ahLst/>
            <a:cxnLst/>
            <a:rect l="0" t="0" r="0" b="0"/>
            <a:pathLst>
              <a:path w="172" h="166">
                <a:moveTo>
                  <a:pt x="161" y="0"/>
                </a:moveTo>
                <a:cubicBezTo>
                  <a:pt x="166" y="0"/>
                  <a:pt x="171" y="4"/>
                  <a:pt x="172" y="10"/>
                </a:cubicBezTo>
                <a:cubicBezTo>
                  <a:pt x="171" y="6"/>
                  <a:pt x="168" y="4"/>
                  <a:pt x="164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160" y="0"/>
                </a:lnTo>
                <a:close/>
              </a:path>
            </a:pathLst>
          </a:cu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6" name="矩形: 圆角 295"/>
          <p:cNvSpPr/>
          <p:nvPr/>
        </p:nvSpPr>
        <p:spPr>
          <a:xfrm>
            <a:off x="1228725" y="2924175"/>
            <a:ext cx="323850" cy="323850"/>
          </a:xfrm>
          <a:prstGeom prst="roundRect">
            <a:avLst>
              <a:gd name="adj" fmla="val 2938235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1333500" y="2981325"/>
            <a:ext cx="1143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DIN Alternate"/>
                <a:ea typeface="DIN Alternate"/>
              </a:rPr>
              <a:t>1</a:t>
            </a:r>
            <a:endParaRPr/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1009650" y="3324225"/>
            <a:ext cx="7620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0F5C46"/>
                </a:solidFill>
                <a:latin typeface="Source Han Sans SC"/>
                <a:ea typeface="Source Han Sans SC"/>
              </a:rPr>
              <a:t>双渠道培训</a:t>
            </a:r>
            <a:endParaRPr/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695325" y="3571875"/>
            <a:ext cx="13906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45000"/>
              </a:lnSpc>
            </a:pPr>
            <a:r>
              <a:rPr lang="zh-CN" sz="938">
                <a:solidFill>
                  <a:srgbClr val="3A463F"/>
                </a:solidFill>
                <a:latin typeface="Source Han Sans SC"/>
                <a:ea typeface="Source Han Sans SC"/>
              </a:rPr>
              <a:t>线下专属实训教室</a:t>
            </a:r>
            <a:r>
              <a:rPr lang="en-US" sz="938">
                <a:solidFill>
                  <a:srgbClr val="3A463F"/>
                </a:solidFill>
                <a:latin typeface="Source Han Sans SC"/>
                <a:ea typeface="Source Han Sans SC"/>
              </a:rPr>
              <a:t> + </a:t>
            </a:r>
            <a:r>
              <a:rPr lang="zh-CN" sz="938">
                <a:solidFill>
                  <a:srgbClr val="3A463F"/>
                </a:solidFill>
                <a:latin typeface="Source Han Sans SC"/>
                <a:ea typeface="Source Han Sans SC"/>
              </a:rPr>
              <a:t>线上全国平台，申领人社培训补贴</a:t>
            </a:r>
            <a:endParaRPr/>
          </a:p>
        </p:txBody>
      </p:sp>
      <p:pic>
        <p:nvPicPr>
          <p:cNvPr id="300" name="图形 29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9800" y="3457575"/>
            <a:ext cx="171450" cy="171450"/>
          </a:xfrm>
          <a:prstGeom prst="rect">
            <a:avLst/>
          </a:prstGeom>
          <a:ln/>
        </p:spPr>
      </p:pic>
      <p:sp>
        <p:nvSpPr>
          <p:cNvPr id="301" name="矩形: 圆角 300"/>
          <p:cNvSpPr/>
          <p:nvPr/>
        </p:nvSpPr>
        <p:spPr>
          <a:xfrm>
            <a:off x="2457450" y="2790825"/>
            <a:ext cx="1638300" cy="1581150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2" name="任意多边形: 形状 301"/>
          <p:cNvSpPr/>
          <p:nvPr/>
        </p:nvSpPr>
        <p:spPr>
          <a:xfrm>
            <a:off x="2457450" y="2790825"/>
            <a:ext cx="1638300" cy="1581150"/>
          </a:xfrm>
          <a:custGeom>
            <a:avLst/>
            <a:gdLst/>
            <a:ahLst/>
            <a:cxnLst/>
            <a:rect l="0" t="0" r="0" b="0"/>
            <a:pathLst>
              <a:path w="172" h="166">
                <a:moveTo>
                  <a:pt x="161" y="0"/>
                </a:moveTo>
                <a:cubicBezTo>
                  <a:pt x="166" y="0"/>
                  <a:pt x="171" y="4"/>
                  <a:pt x="172" y="10"/>
                </a:cubicBezTo>
                <a:cubicBezTo>
                  <a:pt x="171" y="6"/>
                  <a:pt x="168" y="4"/>
                  <a:pt x="164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160" y="0"/>
                </a:lnTo>
                <a:close/>
              </a:path>
            </a:pathLst>
          </a:cu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3" name="矩形: 圆角 302"/>
          <p:cNvSpPr/>
          <p:nvPr/>
        </p:nvSpPr>
        <p:spPr>
          <a:xfrm>
            <a:off x="3114675" y="2924175"/>
            <a:ext cx="323850" cy="323850"/>
          </a:xfrm>
          <a:prstGeom prst="roundRect">
            <a:avLst>
              <a:gd name="adj" fmla="val 2938235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3219450" y="2981325"/>
            <a:ext cx="1143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DIN Alternate"/>
                <a:ea typeface="DIN Alternate"/>
              </a:rPr>
              <a:t>2</a:t>
            </a:r>
            <a:endParaRPr/>
          </a:p>
        </p:txBody>
      </p:sp>
      <p:sp>
        <p:nvSpPr>
          <p:cNvPr id="305" name="文本框 304" descr="{&quot;isTemplate&quot;:true,&quot;type&quot;:&quot;text&quot;}"/>
          <p:cNvSpPr txBox="1"/>
          <p:nvPr/>
        </p:nvSpPr>
        <p:spPr>
          <a:xfrm>
            <a:off x="2819400" y="3324225"/>
            <a:ext cx="914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0F5C46"/>
                </a:solidFill>
                <a:latin typeface="Source Han Sans SC"/>
                <a:ea typeface="Source Han Sans SC"/>
              </a:rPr>
              <a:t>省级技能鉴定</a:t>
            </a:r>
            <a:endParaRPr/>
          </a:p>
        </p:txBody>
      </p:sp>
      <p:sp>
        <p:nvSpPr>
          <p:cNvPr id="306" name="文本框 305" descr="{&quot;isTemplate&quot;:true,&quot;type&quot;:&quot;text&quot;}"/>
          <p:cNvSpPr txBox="1"/>
          <p:nvPr/>
        </p:nvSpPr>
        <p:spPr>
          <a:xfrm>
            <a:off x="2581275" y="3571875"/>
            <a:ext cx="13906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45000"/>
              </a:lnSpc>
            </a:pPr>
            <a:r>
              <a:rPr lang="zh-CN" sz="938">
                <a:solidFill>
                  <a:srgbClr val="3A463F"/>
                </a:solidFill>
                <a:latin typeface="Source Han Sans SC"/>
                <a:ea typeface="Source Han Sans SC"/>
              </a:rPr>
              <a:t>湖外为申报主体，叁竹全流程运营，设标准化官方考点</a:t>
            </a:r>
            <a:endParaRPr/>
          </a:p>
        </p:txBody>
      </p:sp>
      <p:pic>
        <p:nvPicPr>
          <p:cNvPr id="307" name="图形 30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95750" y="3457575"/>
            <a:ext cx="171450" cy="171450"/>
          </a:xfrm>
          <a:prstGeom prst="rect">
            <a:avLst/>
          </a:prstGeom>
          <a:ln/>
        </p:spPr>
      </p:pic>
      <p:sp>
        <p:nvSpPr>
          <p:cNvPr id="308" name="矩形: 圆角 307"/>
          <p:cNvSpPr/>
          <p:nvPr/>
        </p:nvSpPr>
        <p:spPr>
          <a:xfrm>
            <a:off x="4343400" y="2895600"/>
            <a:ext cx="16383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9" name="任意多边形: 形状 308"/>
          <p:cNvSpPr/>
          <p:nvPr/>
        </p:nvSpPr>
        <p:spPr>
          <a:xfrm>
            <a:off x="4343400" y="2895600"/>
            <a:ext cx="1638300" cy="1371600"/>
          </a:xfrm>
          <a:custGeom>
            <a:avLst/>
            <a:gdLst/>
            <a:ahLst/>
            <a:cxnLst/>
            <a:rect l="0" t="0" r="0" b="0"/>
            <a:pathLst>
              <a:path w="172" h="144">
                <a:moveTo>
                  <a:pt x="161" y="0"/>
                </a:moveTo>
                <a:cubicBezTo>
                  <a:pt x="166" y="0"/>
                  <a:pt x="171" y="4"/>
                  <a:pt x="172" y="10"/>
                </a:cubicBezTo>
                <a:cubicBezTo>
                  <a:pt x="171" y="6"/>
                  <a:pt x="168" y="4"/>
                  <a:pt x="164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160" y="0"/>
                </a:lnTo>
                <a:close/>
              </a:path>
            </a:pathLst>
          </a:cu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0" name="矩形: 圆角 309"/>
          <p:cNvSpPr/>
          <p:nvPr/>
        </p:nvSpPr>
        <p:spPr>
          <a:xfrm>
            <a:off x="5000625" y="3028950"/>
            <a:ext cx="323850" cy="323850"/>
          </a:xfrm>
          <a:prstGeom prst="roundRect">
            <a:avLst>
              <a:gd name="adj" fmla="val 2938235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5105400" y="3086100"/>
            <a:ext cx="1143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DIN Alternate"/>
                <a:ea typeface="DIN Alternate"/>
              </a:rPr>
              <a:t>3</a:t>
            </a:r>
            <a:endParaRPr/>
          </a:p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4705350" y="3429000"/>
            <a:ext cx="914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0F5C46"/>
                </a:solidFill>
                <a:latin typeface="Source Han Sans SC"/>
                <a:ea typeface="Source Han Sans SC"/>
              </a:rPr>
              <a:t>线上平台扩张</a:t>
            </a:r>
            <a:endParaRPr/>
          </a:p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4467225" y="3676650"/>
            <a:ext cx="139065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45000"/>
              </a:lnSpc>
            </a:pPr>
            <a:r>
              <a:rPr lang="zh-CN" sz="938">
                <a:solidFill>
                  <a:srgbClr val="3A463F"/>
                </a:solidFill>
                <a:latin typeface="Source Han Sans SC"/>
                <a:ea typeface="Source Han Sans SC"/>
              </a:rPr>
              <a:t>升级招生咨询系统，输出课程</a:t>
            </a:r>
            <a:r>
              <a:rPr lang="en-US" sz="938">
                <a:solidFill>
                  <a:srgbClr val="3A463F"/>
                </a:solidFill>
                <a:latin typeface="Source Han Sans SC"/>
                <a:ea typeface="Source Han Sans SC"/>
              </a:rPr>
              <a:t>/</a:t>
            </a:r>
            <a:r>
              <a:rPr lang="zh-CN" sz="938">
                <a:solidFill>
                  <a:srgbClr val="3A463F"/>
                </a:solidFill>
                <a:latin typeface="Source Han Sans SC"/>
                <a:ea typeface="Source Han Sans SC"/>
              </a:rPr>
              <a:t>培训</a:t>
            </a:r>
            <a:r>
              <a:rPr lang="en-US" sz="938">
                <a:solidFill>
                  <a:srgbClr val="3A463F"/>
                </a:solidFill>
                <a:latin typeface="Source Han Sans SC"/>
                <a:ea typeface="Source Han Sans SC"/>
              </a:rPr>
              <a:t>/</a:t>
            </a:r>
            <a:r>
              <a:rPr lang="zh-CN" sz="938">
                <a:solidFill>
                  <a:srgbClr val="3A463F"/>
                </a:solidFill>
                <a:latin typeface="Source Han Sans SC"/>
                <a:ea typeface="Source Han Sans SC"/>
              </a:rPr>
              <a:t>考证一体化</a:t>
            </a:r>
            <a:endParaRPr/>
          </a:p>
        </p:txBody>
      </p:sp>
      <p:pic>
        <p:nvPicPr>
          <p:cNvPr id="314" name="图形 31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81700" y="3457575"/>
            <a:ext cx="171450" cy="171450"/>
          </a:xfrm>
          <a:prstGeom prst="rect">
            <a:avLst/>
          </a:prstGeom>
          <a:ln/>
        </p:spPr>
      </p:pic>
      <p:sp>
        <p:nvSpPr>
          <p:cNvPr id="315" name="矩形: 圆角 314"/>
          <p:cNvSpPr/>
          <p:nvPr/>
        </p:nvSpPr>
        <p:spPr>
          <a:xfrm>
            <a:off x="6229350" y="2895600"/>
            <a:ext cx="16383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16" name="任意多边形: 形状 315"/>
          <p:cNvSpPr/>
          <p:nvPr/>
        </p:nvSpPr>
        <p:spPr>
          <a:xfrm>
            <a:off x="6229350" y="2895600"/>
            <a:ext cx="1638300" cy="1371600"/>
          </a:xfrm>
          <a:custGeom>
            <a:avLst/>
            <a:gdLst/>
            <a:ahLst/>
            <a:cxnLst/>
            <a:rect l="0" t="0" r="0" b="0"/>
            <a:pathLst>
              <a:path w="172" h="144">
                <a:moveTo>
                  <a:pt x="161" y="0"/>
                </a:moveTo>
                <a:cubicBezTo>
                  <a:pt x="166" y="0"/>
                  <a:pt x="171" y="4"/>
                  <a:pt x="172" y="10"/>
                </a:cubicBezTo>
                <a:cubicBezTo>
                  <a:pt x="171" y="6"/>
                  <a:pt x="168" y="4"/>
                  <a:pt x="164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160" y="0"/>
                </a:lnTo>
                <a:close/>
              </a:path>
            </a:pathLst>
          </a:cu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7" name="矩形: 圆角 316"/>
          <p:cNvSpPr/>
          <p:nvPr/>
        </p:nvSpPr>
        <p:spPr>
          <a:xfrm>
            <a:off x="6886575" y="3028950"/>
            <a:ext cx="323850" cy="323850"/>
          </a:xfrm>
          <a:prstGeom prst="roundRect">
            <a:avLst>
              <a:gd name="adj" fmla="val 2938235"/>
            </a:avLst>
          </a:prstGeom>
          <a:solidFill>
            <a:srgbClr val="0A2B4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6991350" y="3086100"/>
            <a:ext cx="1143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DIN Alternate"/>
                <a:ea typeface="DIN Alternate"/>
              </a:rPr>
              <a:t>4</a:t>
            </a:r>
            <a:endParaRPr/>
          </a:p>
        </p:txBody>
      </p:sp>
      <p:sp>
        <p:nvSpPr>
          <p:cNvPr id="319" name="文本框 318" descr="{&quot;isTemplate&quot;:true,&quot;type&quot;:&quot;text&quot;}"/>
          <p:cNvSpPr txBox="1"/>
          <p:nvPr/>
        </p:nvSpPr>
        <p:spPr>
          <a:xfrm>
            <a:off x="6534150" y="3429000"/>
            <a:ext cx="1038225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en-US" sz="1200" b="1">
                <a:solidFill>
                  <a:srgbClr val="0F5C46"/>
                </a:solidFill>
                <a:latin typeface="Source Han Sans SC"/>
                <a:ea typeface="Source Han Sans SC"/>
              </a:rPr>
              <a:t>UBIC </a:t>
            </a:r>
            <a:r>
              <a:rPr lang="zh-CN" sz="1200" b="1">
                <a:solidFill>
                  <a:srgbClr val="0F5C46"/>
                </a:solidFill>
                <a:latin typeface="Source Han Sans SC"/>
                <a:ea typeface="Source Han Sans SC"/>
              </a:rPr>
              <a:t>社区配套</a:t>
            </a:r>
            <a:endParaRPr/>
          </a:p>
        </p:txBody>
      </p:sp>
      <p:sp>
        <p:nvSpPr>
          <p:cNvPr id="320" name="文本框 319" descr="{&quot;isTemplate&quot;:true,&quot;type&quot;:&quot;text&quot;}"/>
          <p:cNvSpPr txBox="1"/>
          <p:nvPr/>
        </p:nvSpPr>
        <p:spPr>
          <a:xfrm>
            <a:off x="6353175" y="3676650"/>
            <a:ext cx="139065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45000"/>
              </a:lnSpc>
            </a:pPr>
            <a:r>
              <a:rPr lang="zh-CN" sz="938">
                <a:solidFill>
                  <a:srgbClr val="3A463F"/>
                </a:solidFill>
                <a:latin typeface="Source Han Sans SC"/>
                <a:ea typeface="Source Han Sans SC"/>
              </a:rPr>
              <a:t>实景实训基地，学员优先入职，开展评估增值服务</a:t>
            </a:r>
            <a:endParaRPr/>
          </a:p>
        </p:txBody>
      </p:sp>
      <p:pic>
        <p:nvPicPr>
          <p:cNvPr id="321" name="图形 32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7650" y="3457575"/>
            <a:ext cx="171450" cy="171450"/>
          </a:xfrm>
          <a:prstGeom prst="rect">
            <a:avLst/>
          </a:prstGeom>
          <a:ln/>
        </p:spPr>
      </p:pic>
      <p:sp>
        <p:nvSpPr>
          <p:cNvPr id="322" name="矩形: 圆角 321"/>
          <p:cNvSpPr/>
          <p:nvPr/>
        </p:nvSpPr>
        <p:spPr>
          <a:xfrm>
            <a:off x="8115300" y="2895600"/>
            <a:ext cx="16383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3" name="任意多边形: 形状 322"/>
          <p:cNvSpPr/>
          <p:nvPr/>
        </p:nvSpPr>
        <p:spPr>
          <a:xfrm>
            <a:off x="8115300" y="2895600"/>
            <a:ext cx="1638300" cy="1371600"/>
          </a:xfrm>
          <a:custGeom>
            <a:avLst/>
            <a:gdLst/>
            <a:ahLst/>
            <a:cxnLst/>
            <a:rect l="0" t="0" r="0" b="0"/>
            <a:pathLst>
              <a:path w="172" h="144">
                <a:moveTo>
                  <a:pt x="161" y="0"/>
                </a:moveTo>
                <a:cubicBezTo>
                  <a:pt x="166" y="0"/>
                  <a:pt x="171" y="4"/>
                  <a:pt x="172" y="10"/>
                </a:cubicBezTo>
                <a:cubicBezTo>
                  <a:pt x="171" y="6"/>
                  <a:pt x="168" y="4"/>
                  <a:pt x="164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160" y="0"/>
                </a:lnTo>
                <a:close/>
              </a:path>
            </a:pathLst>
          </a:cu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4" name="矩形: 圆角 323"/>
          <p:cNvSpPr/>
          <p:nvPr/>
        </p:nvSpPr>
        <p:spPr>
          <a:xfrm>
            <a:off x="8772525" y="3028950"/>
            <a:ext cx="323850" cy="323850"/>
          </a:xfrm>
          <a:prstGeom prst="roundRect">
            <a:avLst>
              <a:gd name="adj" fmla="val 2938235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8877300" y="3086100"/>
            <a:ext cx="1143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DIN Alternate"/>
                <a:ea typeface="DIN Alternate"/>
              </a:rPr>
              <a:t>5</a:t>
            </a:r>
            <a:endParaRPr/>
          </a:p>
        </p:txBody>
      </p:sp>
      <p:sp>
        <p:nvSpPr>
          <p:cNvPr id="326" name="文本框 325" descr="{&quot;isTemplate&quot;:true,&quot;type&quot;:&quot;text&quot;}"/>
          <p:cNvSpPr txBox="1"/>
          <p:nvPr/>
        </p:nvSpPr>
        <p:spPr>
          <a:xfrm>
            <a:off x="8477250" y="3429000"/>
            <a:ext cx="914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0F5C46"/>
                </a:solidFill>
                <a:latin typeface="Source Han Sans SC"/>
                <a:ea typeface="Source Han Sans SC"/>
              </a:rPr>
              <a:t>人才定向输送</a:t>
            </a:r>
            <a:endParaRPr/>
          </a:p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8239125" y="3676650"/>
            <a:ext cx="139065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45000"/>
              </a:lnSpc>
            </a:pPr>
            <a:r>
              <a:rPr lang="zh-CN" sz="938">
                <a:solidFill>
                  <a:srgbClr val="3A463F"/>
                </a:solidFill>
                <a:latin typeface="Source Han Sans SC"/>
                <a:ea typeface="Source Han Sans SC"/>
              </a:rPr>
              <a:t>结业学员输送至养老院、长护险服务商</a:t>
            </a:r>
            <a:endParaRPr/>
          </a:p>
        </p:txBody>
      </p:sp>
      <p:pic>
        <p:nvPicPr>
          <p:cNvPr id="328" name="图形 32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53600" y="3457575"/>
            <a:ext cx="171450" cy="171450"/>
          </a:xfrm>
          <a:prstGeom prst="rect">
            <a:avLst/>
          </a:prstGeom>
          <a:ln/>
        </p:spPr>
      </p:pic>
      <p:sp>
        <p:nvSpPr>
          <p:cNvPr id="329" name="矩形: 圆角 328"/>
          <p:cNvSpPr/>
          <p:nvPr/>
        </p:nvSpPr>
        <p:spPr>
          <a:xfrm>
            <a:off x="10001250" y="2895600"/>
            <a:ext cx="1638300" cy="13716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0" name="任意多边形: 形状 329"/>
          <p:cNvSpPr/>
          <p:nvPr/>
        </p:nvSpPr>
        <p:spPr>
          <a:xfrm>
            <a:off x="10001250" y="2895600"/>
            <a:ext cx="1638300" cy="1371600"/>
          </a:xfrm>
          <a:custGeom>
            <a:avLst/>
            <a:gdLst/>
            <a:ahLst/>
            <a:cxnLst/>
            <a:rect l="0" t="0" r="0" b="0"/>
            <a:pathLst>
              <a:path w="172" h="144">
                <a:moveTo>
                  <a:pt x="161" y="0"/>
                </a:moveTo>
                <a:cubicBezTo>
                  <a:pt x="166" y="0"/>
                  <a:pt x="171" y="4"/>
                  <a:pt x="172" y="10"/>
                </a:cubicBezTo>
                <a:cubicBezTo>
                  <a:pt x="171" y="6"/>
                  <a:pt x="168" y="4"/>
                  <a:pt x="164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160" y="0"/>
                </a:lnTo>
                <a:close/>
              </a:path>
            </a:pathLst>
          </a:cu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1" name="矩形: 圆角 330"/>
          <p:cNvSpPr/>
          <p:nvPr/>
        </p:nvSpPr>
        <p:spPr>
          <a:xfrm>
            <a:off x="10658475" y="3028950"/>
            <a:ext cx="323850" cy="323850"/>
          </a:xfrm>
          <a:prstGeom prst="roundRect">
            <a:avLst>
              <a:gd name="adj" fmla="val 2938235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10763250" y="3086100"/>
            <a:ext cx="11430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DIN Alternate"/>
                <a:ea typeface="DIN Alternate"/>
              </a:rPr>
              <a:t>6</a:t>
            </a:r>
            <a:endParaRPr/>
          </a:p>
        </p:txBody>
      </p:sp>
      <p:sp>
        <p:nvSpPr>
          <p:cNvPr id="333" name="文本框 332" descr="{&quot;isTemplate&quot;:true,&quot;type&quot;:&quot;text&quot;}"/>
          <p:cNvSpPr txBox="1"/>
          <p:nvPr/>
        </p:nvSpPr>
        <p:spPr>
          <a:xfrm>
            <a:off x="10363200" y="3429000"/>
            <a:ext cx="9144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200" b="1">
                <a:solidFill>
                  <a:srgbClr val="0F5C46"/>
                </a:solidFill>
                <a:latin typeface="Source Han Sans SC"/>
                <a:ea typeface="Source Han Sans SC"/>
              </a:rPr>
              <a:t>机构咨询服务</a:t>
            </a:r>
            <a:endParaRPr/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10125075" y="3676650"/>
            <a:ext cx="1390650" cy="4191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 algn="ctr">
              <a:lnSpc>
                <a:spcPct val="145000"/>
              </a:lnSpc>
            </a:pPr>
            <a:r>
              <a:rPr lang="zh-CN" sz="938">
                <a:solidFill>
                  <a:srgbClr val="3A463F"/>
                </a:solidFill>
                <a:latin typeface="Source Han Sans SC"/>
                <a:ea typeface="Source Han Sans SC"/>
              </a:rPr>
              <a:t>面向全国机构输出标准化模式，反哺营收</a:t>
            </a:r>
            <a:endParaRPr/>
          </a:p>
        </p:txBody>
      </p:sp>
      <p:sp>
        <p:nvSpPr>
          <p:cNvPr id="335" name="矩形: 圆角 334"/>
          <p:cNvSpPr/>
          <p:nvPr/>
        </p:nvSpPr>
        <p:spPr>
          <a:xfrm>
            <a:off x="571500" y="4562475"/>
            <a:ext cx="11049000" cy="495300"/>
          </a:xfrm>
          <a:prstGeom prst="roundRect">
            <a:avLst>
              <a:gd name="adj" fmla="val 23077"/>
            </a:avLst>
          </a:prstGeom>
          <a:gradFill>
            <a:gsLst>
              <a:gs pos="0">
                <a:srgbClr val="0F5C46"/>
              </a:gs>
              <a:gs pos="100000">
                <a:srgbClr val="0A2B4D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336" name="图形 33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9950" y="4695825"/>
            <a:ext cx="228600" cy="228600"/>
          </a:xfrm>
          <a:prstGeom prst="rect">
            <a:avLst/>
          </a:prstGeom>
          <a:ln/>
        </p:spPr>
      </p:pic>
      <p:sp>
        <p:nvSpPr>
          <p:cNvPr id="337" name="文本框 336" descr="{&quot;isTemplate&quot;:true,&quot;type&quot;:&quot;text&quot;}"/>
          <p:cNvSpPr txBox="1"/>
          <p:nvPr/>
        </p:nvSpPr>
        <p:spPr>
          <a:xfrm>
            <a:off x="3752850" y="4714875"/>
            <a:ext cx="502920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Source Han Sans SC"/>
                <a:ea typeface="Source Han Sans SC"/>
              </a:rPr>
              <a:t>闭环反哺：社区与咨询收益回流培训与平台，形成自我强化的产教融合飞轮</a:t>
            </a:r>
            <a:endParaRPr/>
          </a:p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5124450" y="6505575"/>
            <a:ext cx="1952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叁竹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×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湖外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校企合作商业计划书</a:t>
            </a:r>
            <a:endParaRPr/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20 / 27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width: '1280px', height: '720px', fontFamily: &quot;'Source Han Sans SC', 'Microsoft YaHei', sans-serif&quot; }}&gt;&#10;  &lt;Image src=&quot;assets/hero_building.png&quot; style={{ position: 'absolute', top: 0, left: 0, width: '100%', height: '100%', objectFit: 'cover' }} /&gt;&#10;  &lt;Box style={{ position: 'absolute', top: 0, left: 0, right: 0, bottom: 0, background: 'linear-gradient(135deg, rgba(10,43,77,0.82) 0%, rgba(15,92,70,0.78) 100%)' }} /&gt;&#10;&#10;  &lt;Box style={{ position: 'absolute', left: 0, right: 0, bottom: 0, height: 240, overflow: 'hidden' }}&gt;&#10;    &lt;svg width='1280' height='240' viewBox='0 0 1280 240' style={{ position: 'absolute', bottom: 0 }}&gt;&#10;      &lt;path d='M0,90 C340,20 920,180 1280,70 L1280,240 L0,240 Z' fill='rgba(10,43,77,0.55)' /&gt;&#10;      &lt;path d='M0,150 C380,80 900,210 1280,120 L1280,240 L0,240 Z' fill='rgba(10,43,77,0.40)' /&gt;&#10;    &lt;/svg&gt;&#10;  &lt;/Box&gt;&#10;&#10;  &lt;Box style={{ position: 'absolute', top: 0, left: 0, right: 0, bottom: 0, justifyContent: 'center', alignItems: 'center' }}&gt;&#10;    &lt;Box style={{ width: 200, height: 200, borderRadius: 999, background: 'rgba(255,255,255,0.12)', border: '4px solid rgba(255,255,255,0.35)', justifyContent: 'center', alignItems: 'center', marginBottom: 36 }}&gt;&#10;      &lt;Text style={{ color: '#FFFFFF', fontSize: 96, fontWeight: 'bold', fontFamily: &quot;'DIN Alternate','Inter',sans-serif&quot; }}&gt;08&lt;/Text&gt;&#10;    &lt;/Box&gt;&#10;    &lt;Text style={{ color: '#FFFFFF', fontSize: 56, fontWeight: 'bold', textShadow: '0 4px 18px rgba(0,0,0,0.35)' }}&gt;八、三年发展规划&lt;/Text&gt;&#10;    &lt;Text style={{ color: 'rgba(255,255,255,0.82)', fontSize: 22, marginTop: 18, letterSpacing: 2 }}&gt;夯实基础 · 规模扩张 · 品牌输出&lt;/Text&gt;&#10;  &lt;/Box&gt;&#10;&#10;  &lt;Text style={{ position: 'absolute', bottom: 48, left: 0, right: 0, textAlign: 'center', color: 'rgba(255,255,255,0.6)', fontSize: 15 }}&gt;&#10;    叁竹 × 湖外 校企合作商业计划书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图片 340"/>
          <p:cNvPicPr>
            <a:picLocks noChangeAspect="1"/>
          </p:cNvPicPr>
          <p:nvPr/>
        </p:nvPicPr>
        <p:blipFill>
          <a:blip r:embed="rId2"/>
          <a:srcRect t="8894" b="889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42" name="矩形 34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2B4D">
                  <a:alpha val="82000"/>
                </a:srgbClr>
              </a:gs>
              <a:gs pos="100000">
                <a:srgbClr val="0F5C46">
                  <a:alpha val="78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343" name="图形 34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572000"/>
            <a:ext cx="12192000" cy="2286000"/>
          </a:xfrm>
          <a:prstGeom prst="rect">
            <a:avLst/>
          </a:prstGeom>
          <a:ln/>
        </p:spPr>
      </p:pic>
      <p:sp>
        <p:nvSpPr>
          <p:cNvPr id="344" name="矩形: 圆角 343"/>
          <p:cNvSpPr/>
          <p:nvPr/>
        </p:nvSpPr>
        <p:spPr>
          <a:xfrm>
            <a:off x="5143500" y="1771650"/>
            <a:ext cx="1905000" cy="1905000"/>
          </a:xfrm>
          <a:prstGeom prst="roundRect">
            <a:avLst>
              <a:gd name="adj" fmla="val 499500"/>
            </a:avLst>
          </a:prstGeom>
          <a:solidFill>
            <a:srgbClr val="FFFFFF">
              <a:alpha val="12000"/>
            </a:srgbClr>
          </a:solidFill>
          <a:ln w="508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5514975" y="2171700"/>
            <a:ext cx="1171575" cy="1104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DIN Alternate"/>
                <a:ea typeface="DIN Alternate"/>
              </a:rPr>
              <a:t>08</a:t>
            </a:r>
            <a:endParaRPr/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3962400" y="4019550"/>
            <a:ext cx="4267200" cy="647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effectLst>
                  <a:outerShdw blurRad="171450" dist="38100" dir="5400000">
                    <a:srgbClr val="000000">
                      <a:alpha val="35000"/>
                    </a:srgbClr>
                  </a:outerShdw>
                </a:effectLst>
                <a:latin typeface="Source Han Sans SC"/>
                <a:ea typeface="Source Han Sans SC"/>
              </a:rPr>
              <a:t>八、三年发展规划</a:t>
            </a:r>
            <a:endParaRPr/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4495800" y="4838700"/>
            <a:ext cx="32099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夯实基础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规模扩张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品牌输出</a:t>
            </a:r>
            <a:endParaRPr/>
          </a:p>
        </p:txBody>
      </p:sp>
      <p:sp>
        <p:nvSpPr>
          <p:cNvPr id="348" name="文本框 347" descr="{&quot;isTemplate&quot;:true,&quot;type&quot;:&quot;text&quot;}"/>
          <p:cNvSpPr txBox="1"/>
          <p:nvPr/>
        </p:nvSpPr>
        <p:spPr>
          <a:xfrm>
            <a:off x="-1" y="6229350"/>
            <a:ext cx="12191999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叁竹</a:t>
            </a: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× </a:t>
            </a: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湖外</a:t>
            </a: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</a:t>
            </a: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校企合作商业计划书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background: '#F4F9F6', fontFamily: &quot;'Source Han Sans SC', 'Microsoft YaHei', sans-serif&quot; }}&gt;&#10;  &lt;Box style={{ position: 'absolute', top: 0, left: 0, right: 0, height: 110, paddingLeft: 60, paddingRight: 60, flexDirection: 'row', alignItems: 'center' }}&gt;&#10;    &lt;Box style={{ width: 6, height: 44, background: '#0F5C46', borderRadius: 3, marginRight: 18 }} /&gt;&#10;    &lt;Text style={{ fontSize: 34, fontWeight: 'bold', color: '#1C2B24' }}&gt;三年发展规划&lt;/Text&gt;&#10;  &lt;/Box&gt;&#10;&#10;  &lt;Box style={{ position: 'absolute', top: 130, left: 60, right: 60, bottom: 64, flexDirection: 'column', justifyContent: 'center' }}&gt;&#10;    {/* 时间轴连线 */}&#10;    &lt;Box style={{ position: 'absolute', left: 120, right: 120, top: 34, height: 4, background: 'linear-gradient(90deg,#0F5C46,#2E9E78)', borderRadius: 2 }} /&gt;&#10;    &lt;Box style={{ flexDirection: 'row', gap: 22, alignItems: 'flex-start' }}&gt;&#10;      {[&#10;        ['第 1–2 年', '资质落地 · 场地标准化', '#0F5C46', ['完成标准化考点改造与多工种省级鉴定资质申报落地', '线上全国平台功能迭代，依托生源稳定年培训 6000+ 人次', '搭建省内各地市招生网点，第二年末实现整体盈亏平衡']],&#10;        ['第 3 年', '省内规模化盈利', '#0A2B4D', ['养老机构批量内训业务全面铺开', '培训 / 鉴定 / 咨询 / 输送四大板块稳定盈利', '获评省级产教融合示范项目，申报专项扶持资金']],&#10;        ['第 4–5 年', '全国平台复制扩张', '#2E9E78', ['对外输出&quot;实训基地 + UBIC 社区 + 培训鉴定&quot;标准化模式', '外省搭建合作分站，承接全国长护险城市批量订单', '公司股权价值持续提升']],&#10;      ].map((s, i) =&gt; (&#10;        &lt;Box key={i} style={{ flex: 1, flexDirection: 'column', alignItems: 'center' }}&gt;&#10;          &lt;Box style={{ width: 70, height: 70, borderRadius: 999, background: s[2], justifyContent: 'center', alignItems: 'center', border: '4px solid #F4F9F6', boxShadow: '0 4px 14px rgba(15,92,70,0.2)', zIndex: 1 }}&gt;&#10;            &lt;Text style={{ color: '#FFFFFF', fontSize: 15, fontWeight: 'bold', textAlign: 'center', lineHeight: 1.2 }}&gt;{s[0]}&lt;/Text&gt;&#10;          &lt;/Box&gt;&#10;          &lt;Box style={{ background: '#FFFFFF', borderRadius: 14, padding: '16px 18px', marginTop: 18, boxShadow: '0 4px 16px rgba(15,92,70,0.08)', width: '100%', flex: 1 }}&gt;&#10;            &lt;Text style={{ fontSize: 19, fontWeight: 'bold', color: s[2], marginBottom: 8 }}&gt;{s[1]}&lt;/Text&gt;&#10;            {s[3].map((p, j) =&gt; (&#10;              &lt;Box key={j} style={{ flexDirection: 'row', gap: 8, marginBottom: 7 }}&gt;&#10;                &lt;Text style={{ color: s[2], fontSize: 15, fontWeight: 'bold', marginTop: 2 }}&gt;·&lt;/Text&gt;&#10;                &lt;Text style={{ fontSize: 15, color: '#3A463F', lineHeight: 1.5 }}&gt;{p}&lt;/Text&gt;&#10;              &lt;/Box&gt;&#10;            ))}&#10;          &lt;/Box&gt;&#10;        &lt;/Box&gt;&#10;      ))}&#10;    &lt;/Box&gt;&#10;  &lt;/Box&gt;&#10;&#10;  &lt;Box style={{ position: 'absolute', bottom: 0, left: 0, right: 0, height: 58, paddingLeft: 60, paddingRight: 60, flexDirection: 'row', alignItems: 'center' }}&gt;&#10;    &lt;Box style={{ flex: 1 }} /&gt;&#10;    &lt;Text style={{ fontSize: 14, color: '#5C6B63', textAlign: 'center' }}&gt;叁竹 × 湖外 校企合作商业计划书&lt;/Text&gt;&#10;    &lt;Box style={{ flex: 1, alignItems: 'flex-end' }}&gt;&#10;      &lt;Text style={{ fontSize: 14, color: '#5C6B63' }}&gt;22 / 27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矩形 34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1" name="矩形: 圆角 350"/>
          <p:cNvSpPr/>
          <p:nvPr/>
        </p:nvSpPr>
        <p:spPr>
          <a:xfrm>
            <a:off x="571500" y="314325"/>
            <a:ext cx="57150" cy="419100"/>
          </a:xfrm>
          <a:prstGeom prst="roundRect">
            <a:avLst>
              <a:gd name="adj" fmla="val 50000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2" name="文本框 351" descr="{&quot;isTemplate&quot;:true,&quot;type&quot;:&quot;text&quot;}"/>
          <p:cNvSpPr txBox="1"/>
          <p:nvPr/>
        </p:nvSpPr>
        <p:spPr>
          <a:xfrm>
            <a:off x="800100" y="333375"/>
            <a:ext cx="19431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2B24"/>
                </a:solidFill>
                <a:latin typeface="Source Han Sans SC"/>
                <a:ea typeface="Source Han Sans SC"/>
              </a:rPr>
              <a:t>三年发展规划</a:t>
            </a:r>
            <a:endParaRPr/>
          </a:p>
        </p:txBody>
      </p:sp>
      <p:sp>
        <p:nvSpPr>
          <p:cNvPr id="353" name="矩形: 圆角 352"/>
          <p:cNvSpPr/>
          <p:nvPr/>
        </p:nvSpPr>
        <p:spPr>
          <a:xfrm>
            <a:off x="571500" y="2990850"/>
            <a:ext cx="3543300" cy="2343150"/>
          </a:xfrm>
          <a:prstGeom prst="roundRect">
            <a:avLst>
              <a:gd name="adj" fmla="val 569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54" name="文本框 353" descr="{&quot;isTemplate&quot;:true,&quot;type&quot;:&quot;text&quot;}"/>
          <p:cNvSpPr txBox="1"/>
          <p:nvPr/>
        </p:nvSpPr>
        <p:spPr>
          <a:xfrm>
            <a:off x="742950" y="3143250"/>
            <a:ext cx="32004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F5C46"/>
                </a:solidFill>
                <a:latin typeface="Source Han Sans SC"/>
                <a:ea typeface="Source Han Sans SC"/>
              </a:rPr>
              <a:t>资质落地</a:t>
            </a:r>
            <a:r>
              <a:rPr lang="en-US" sz="1425" b="1">
                <a:solidFill>
                  <a:srgbClr val="0F5C46"/>
                </a:solidFill>
                <a:latin typeface="Source Han Sans SC"/>
                <a:ea typeface="Source Han Sans SC"/>
              </a:rPr>
              <a:t> · </a:t>
            </a:r>
            <a:r>
              <a:rPr lang="zh-CN" sz="1425" b="1">
                <a:solidFill>
                  <a:srgbClr val="0F5C46"/>
                </a:solidFill>
                <a:latin typeface="Source Han Sans SC"/>
                <a:ea typeface="Source Han Sans SC"/>
              </a:rPr>
              <a:t>场地标准化</a:t>
            </a:r>
            <a:endParaRPr/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742950" y="3457575"/>
            <a:ext cx="66675" cy="495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0F5C46"/>
                </a:solidFill>
                <a:latin typeface="Source Han Sans SC"/>
                <a:ea typeface="Source Han Sans SC"/>
              </a:rPr>
              <a:t>·</a:t>
            </a:r>
            <a:endParaRPr/>
          </a:p>
        </p:txBody>
      </p:sp>
      <p:sp>
        <p:nvSpPr>
          <p:cNvPr id="356" name="文本框 355" descr="{&quot;isTemplate&quot;:true,&quot;type&quot;:&quot;text&quot;}"/>
          <p:cNvSpPr txBox="1"/>
          <p:nvPr/>
        </p:nvSpPr>
        <p:spPr>
          <a:xfrm>
            <a:off x="885825" y="3438525"/>
            <a:ext cx="30575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完成标准化考点改造与多工种省级鉴定资质申报落地</a:t>
            </a:r>
            <a:endParaRPr/>
          </a:p>
        </p:txBody>
      </p:sp>
      <p:sp>
        <p:nvSpPr>
          <p:cNvPr id="357" name="文本框 356" descr="{&quot;isTemplate&quot;:true,&quot;type&quot;:&quot;text&quot;}"/>
          <p:cNvSpPr txBox="1"/>
          <p:nvPr/>
        </p:nvSpPr>
        <p:spPr>
          <a:xfrm>
            <a:off x="742950" y="4038600"/>
            <a:ext cx="66675" cy="495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0F5C46"/>
                </a:solidFill>
                <a:latin typeface="Source Han Sans SC"/>
                <a:ea typeface="Source Han Sans SC"/>
              </a:rPr>
              <a:t>·</a:t>
            </a:r>
            <a:endParaRPr/>
          </a:p>
        </p:txBody>
      </p:sp>
      <p:sp>
        <p:nvSpPr>
          <p:cNvPr id="358" name="文本框 357" descr="{&quot;isTemplate&quot;:true,&quot;type&quot;:&quot;text&quot;}"/>
          <p:cNvSpPr txBox="1"/>
          <p:nvPr/>
        </p:nvSpPr>
        <p:spPr>
          <a:xfrm>
            <a:off x="885825" y="4019550"/>
            <a:ext cx="30575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线上全国平台功能迭代，依托生源稳定年培训</a:t>
            </a:r>
            <a:r>
              <a:rPr lang="en-US" sz="1125">
                <a:solidFill>
                  <a:srgbClr val="3A463F"/>
                </a:solidFill>
                <a:latin typeface="Source Han Sans SC"/>
                <a:ea typeface="Source Han Sans SC"/>
              </a:rPr>
              <a:t> 6000+ </a:t>
            </a: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人次</a:t>
            </a:r>
            <a:endParaRPr/>
          </a:p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742950" y="4619625"/>
            <a:ext cx="66675" cy="495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0F5C46"/>
                </a:solidFill>
                <a:latin typeface="Source Han Sans SC"/>
                <a:ea typeface="Source Han Sans SC"/>
              </a:rPr>
              <a:t>·</a:t>
            </a:r>
            <a:endParaRPr/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885825" y="4600575"/>
            <a:ext cx="30575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搭建省内各地市招生网点，第二年末实现整体盈亏平衡</a:t>
            </a:r>
            <a:endParaRPr/>
          </a:p>
        </p:txBody>
      </p:sp>
      <p:sp>
        <p:nvSpPr>
          <p:cNvPr id="361" name="矩形: 圆角 360"/>
          <p:cNvSpPr/>
          <p:nvPr/>
        </p:nvSpPr>
        <p:spPr>
          <a:xfrm>
            <a:off x="4324350" y="2990850"/>
            <a:ext cx="3543300" cy="1571625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62" name="文本框 361" descr="{&quot;isTemplate&quot;:true,&quot;type&quot;:&quot;text&quot;}"/>
          <p:cNvSpPr txBox="1"/>
          <p:nvPr/>
        </p:nvSpPr>
        <p:spPr>
          <a:xfrm>
            <a:off x="4495800" y="3143250"/>
            <a:ext cx="32004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0A2B4D"/>
                </a:solidFill>
                <a:latin typeface="Source Han Sans SC"/>
                <a:ea typeface="Source Han Sans SC"/>
              </a:rPr>
              <a:t>省内规模化盈利</a:t>
            </a:r>
            <a:endParaRPr/>
          </a:p>
        </p:txBody>
      </p:sp>
      <p:sp>
        <p:nvSpPr>
          <p:cNvPr id="363" name="文本框 362" descr="{&quot;isTemplate&quot;:true,&quot;type&quot;:&quot;text&quot;}"/>
          <p:cNvSpPr txBox="1"/>
          <p:nvPr/>
        </p:nvSpPr>
        <p:spPr>
          <a:xfrm>
            <a:off x="4495800" y="3457575"/>
            <a:ext cx="66675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0A2B4D"/>
                </a:solidFill>
                <a:latin typeface="Source Han Sans SC"/>
                <a:ea typeface="Source Han Sans SC"/>
              </a:rPr>
              <a:t>·</a:t>
            </a:r>
            <a:endParaRPr/>
          </a:p>
        </p:txBody>
      </p:sp>
      <p:sp>
        <p:nvSpPr>
          <p:cNvPr id="364" name="文本框 363" descr="{&quot;isTemplate&quot;:true,&quot;type&quot;:&quot;text&quot;}"/>
          <p:cNvSpPr txBox="1"/>
          <p:nvPr/>
        </p:nvSpPr>
        <p:spPr>
          <a:xfrm>
            <a:off x="4638675" y="3438525"/>
            <a:ext cx="20002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养老机构批量内训业务全面铺开</a:t>
            </a:r>
            <a:endParaRPr/>
          </a:p>
        </p:txBody>
      </p:sp>
      <p:sp>
        <p:nvSpPr>
          <p:cNvPr id="365" name="文本框 364" descr="{&quot;isTemplate&quot;:true,&quot;type&quot;:&quot;text&quot;}"/>
          <p:cNvSpPr txBox="1"/>
          <p:nvPr/>
        </p:nvSpPr>
        <p:spPr>
          <a:xfrm>
            <a:off x="4495800" y="3781425"/>
            <a:ext cx="66675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0A2B4D"/>
                </a:solidFill>
                <a:latin typeface="Source Han Sans SC"/>
                <a:ea typeface="Source Han Sans SC"/>
              </a:rPr>
              <a:t>·</a:t>
            </a:r>
            <a:endParaRPr/>
          </a:p>
        </p:txBody>
      </p:sp>
      <p:sp>
        <p:nvSpPr>
          <p:cNvPr id="366" name="文本框 365" descr="{&quot;isTemplate&quot;:true,&quot;type&quot;:&quot;text&quot;}"/>
          <p:cNvSpPr txBox="1"/>
          <p:nvPr/>
        </p:nvSpPr>
        <p:spPr>
          <a:xfrm>
            <a:off x="4638675" y="3762375"/>
            <a:ext cx="27241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培训</a:t>
            </a:r>
            <a:r>
              <a:rPr lang="en-US" sz="1125">
                <a:solidFill>
                  <a:srgbClr val="3A463F"/>
                </a:solidFill>
                <a:latin typeface="Source Han Sans SC"/>
                <a:ea typeface="Source Han Sans SC"/>
              </a:rPr>
              <a:t> / </a:t>
            </a: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鉴定</a:t>
            </a:r>
            <a:r>
              <a:rPr lang="en-US" sz="1125">
                <a:solidFill>
                  <a:srgbClr val="3A463F"/>
                </a:solidFill>
                <a:latin typeface="Source Han Sans SC"/>
                <a:ea typeface="Source Han Sans SC"/>
              </a:rPr>
              <a:t> / </a:t>
            </a: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咨询</a:t>
            </a:r>
            <a:r>
              <a:rPr lang="en-US" sz="1125">
                <a:solidFill>
                  <a:srgbClr val="3A463F"/>
                </a:solidFill>
                <a:latin typeface="Source Han Sans SC"/>
                <a:ea typeface="Source Han Sans SC"/>
              </a:rPr>
              <a:t> / </a:t>
            </a: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输送四大板块稳定盈利</a:t>
            </a:r>
            <a:endParaRPr/>
          </a:p>
        </p:txBody>
      </p:sp>
      <p:sp>
        <p:nvSpPr>
          <p:cNvPr id="367" name="文本框 366" descr="{&quot;isTemplate&quot;:true,&quot;type&quot;:&quot;text&quot;}"/>
          <p:cNvSpPr txBox="1"/>
          <p:nvPr/>
        </p:nvSpPr>
        <p:spPr>
          <a:xfrm>
            <a:off x="4495800" y="4105275"/>
            <a:ext cx="66675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0A2B4D"/>
                </a:solidFill>
                <a:latin typeface="Source Han Sans SC"/>
                <a:ea typeface="Source Han Sans SC"/>
              </a:rPr>
              <a:t>·</a:t>
            </a:r>
            <a:endParaRPr/>
          </a:p>
        </p:txBody>
      </p:sp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4638675" y="4086225"/>
            <a:ext cx="30003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获评省级产教融合示范项目，申报专项扶持资金</a:t>
            </a:r>
            <a:endParaRPr/>
          </a:p>
        </p:txBody>
      </p:sp>
      <p:sp>
        <p:nvSpPr>
          <p:cNvPr id="369" name="矩形: 圆角 368"/>
          <p:cNvSpPr/>
          <p:nvPr/>
        </p:nvSpPr>
        <p:spPr>
          <a:xfrm>
            <a:off x="8077200" y="2990850"/>
            <a:ext cx="3543300" cy="1828800"/>
          </a:xfrm>
          <a:prstGeom prst="roundRect">
            <a:avLst>
              <a:gd name="adj" fmla="val 7292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8248650" y="3143250"/>
            <a:ext cx="3200400" cy="2190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E9E78"/>
                </a:solidFill>
                <a:latin typeface="Source Han Sans SC"/>
                <a:ea typeface="Source Han Sans SC"/>
              </a:rPr>
              <a:t>全国平台复制扩张</a:t>
            </a:r>
            <a:endParaRPr/>
          </a:p>
        </p:txBody>
      </p:sp>
      <p:sp>
        <p:nvSpPr>
          <p:cNvPr id="371" name="文本框 370" descr="{&quot;isTemplate&quot;:true,&quot;type&quot;:&quot;text&quot;}"/>
          <p:cNvSpPr txBox="1"/>
          <p:nvPr/>
        </p:nvSpPr>
        <p:spPr>
          <a:xfrm>
            <a:off x="8248650" y="3457575"/>
            <a:ext cx="66675" cy="4953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2E9E78"/>
                </a:solidFill>
                <a:latin typeface="Source Han Sans SC"/>
                <a:ea typeface="Source Han Sans SC"/>
              </a:rPr>
              <a:t>·</a:t>
            </a:r>
            <a:endParaRPr/>
          </a:p>
        </p:txBody>
      </p:sp>
      <p:sp>
        <p:nvSpPr>
          <p:cNvPr id="372" name="文本框 371" descr="{&quot;isTemplate&quot;:true,&quot;type&quot;:&quot;text&quot;}"/>
          <p:cNvSpPr txBox="1"/>
          <p:nvPr/>
        </p:nvSpPr>
        <p:spPr>
          <a:xfrm>
            <a:off x="8391525" y="3438525"/>
            <a:ext cx="30575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对外输出</a:t>
            </a:r>
            <a:r>
              <a:rPr lang="en-US" sz="1125">
                <a:solidFill>
                  <a:srgbClr val="3A463F"/>
                </a:solidFill>
                <a:latin typeface="Source Han Sans SC"/>
                <a:ea typeface="Source Han Sans SC"/>
              </a:rPr>
              <a:t>"</a:t>
            </a: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实训基地</a:t>
            </a:r>
            <a:r>
              <a:rPr lang="en-US" sz="1125">
                <a:solidFill>
                  <a:srgbClr val="3A463F"/>
                </a:solidFill>
                <a:latin typeface="Source Han Sans SC"/>
                <a:ea typeface="Source Han Sans SC"/>
              </a:rPr>
              <a:t> + UBIC </a:t>
            </a: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社区</a:t>
            </a:r>
            <a:r>
              <a:rPr lang="en-US" sz="1125">
                <a:solidFill>
                  <a:srgbClr val="3A463F"/>
                </a:solidFill>
                <a:latin typeface="Source Han Sans SC"/>
                <a:ea typeface="Source Han Sans SC"/>
              </a:rPr>
              <a:t> + </a:t>
            </a: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培训鉴定</a:t>
            </a:r>
            <a:r>
              <a:rPr lang="en-US" sz="1125">
                <a:solidFill>
                  <a:srgbClr val="3A463F"/>
                </a:solidFill>
                <a:latin typeface="Source Han Sans SC"/>
                <a:ea typeface="Source Han Sans SC"/>
              </a:rPr>
              <a:t>"</a:t>
            </a: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标准化模式</a:t>
            </a:r>
            <a:endParaRPr/>
          </a:p>
        </p:txBody>
      </p:sp>
      <p:sp>
        <p:nvSpPr>
          <p:cNvPr id="373" name="文本框 372" descr="{&quot;isTemplate&quot;:true,&quot;type&quot;:&quot;text&quot;}"/>
          <p:cNvSpPr txBox="1"/>
          <p:nvPr/>
        </p:nvSpPr>
        <p:spPr>
          <a:xfrm>
            <a:off x="8248650" y="4038600"/>
            <a:ext cx="66675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2E9E78"/>
                </a:solidFill>
                <a:latin typeface="Source Han Sans SC"/>
                <a:ea typeface="Source Han Sans SC"/>
              </a:rPr>
              <a:t>·</a:t>
            </a:r>
            <a:endParaRPr/>
          </a:p>
        </p:txBody>
      </p:sp>
      <p:sp>
        <p:nvSpPr>
          <p:cNvPr id="374" name="文本框 373" descr="{&quot;isTemplate&quot;:true,&quot;type&quot;:&quot;text&quot;}"/>
          <p:cNvSpPr txBox="1"/>
          <p:nvPr/>
        </p:nvSpPr>
        <p:spPr>
          <a:xfrm>
            <a:off x="8391525" y="4019550"/>
            <a:ext cx="30575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外省搭建合作分站，承接全国长护险城市批量订单</a:t>
            </a:r>
            <a:endParaRPr/>
          </a:p>
        </p:txBody>
      </p:sp>
      <p:sp>
        <p:nvSpPr>
          <p:cNvPr id="375" name="文本框 374" descr="{&quot;isTemplate&quot;:true,&quot;type&quot;:&quot;text&quot;}"/>
          <p:cNvSpPr txBox="1"/>
          <p:nvPr/>
        </p:nvSpPr>
        <p:spPr>
          <a:xfrm>
            <a:off x="8248650" y="4362450"/>
            <a:ext cx="66675" cy="2381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2E9E78"/>
                </a:solidFill>
                <a:latin typeface="Source Han Sans SC"/>
                <a:ea typeface="Source Han Sans SC"/>
              </a:rPr>
              <a:t>·</a:t>
            </a:r>
            <a:endParaRPr/>
          </a:p>
        </p:txBody>
      </p:sp>
      <p:sp>
        <p:nvSpPr>
          <p:cNvPr id="376" name="文本框 375" descr="{&quot;isTemplate&quot;:true,&quot;type&quot;:&quot;text&quot;}"/>
          <p:cNvSpPr txBox="1"/>
          <p:nvPr/>
        </p:nvSpPr>
        <p:spPr>
          <a:xfrm>
            <a:off x="8391525" y="4343400"/>
            <a:ext cx="14287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125">
                <a:solidFill>
                  <a:srgbClr val="3A463F"/>
                </a:solidFill>
                <a:latin typeface="Source Han Sans SC"/>
                <a:ea typeface="Source Han Sans SC"/>
              </a:rPr>
              <a:t>公司股权价值持续提升</a:t>
            </a:r>
            <a:endParaRPr/>
          </a:p>
        </p:txBody>
      </p:sp>
      <p:sp>
        <p:nvSpPr>
          <p:cNvPr id="377" name="矩形: 圆角 376"/>
          <p:cNvSpPr/>
          <p:nvPr/>
        </p:nvSpPr>
        <p:spPr>
          <a:xfrm>
            <a:off x="1714500" y="1562100"/>
            <a:ext cx="8763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0F5C46"/>
              </a:gs>
              <a:gs pos="100000">
                <a:srgbClr val="2E9E78"/>
              </a:gs>
            </a:gsLst>
            <a:lin ang="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378" name="文本框 377" descr="{&quot;isTemplate&quot;:true,&quot;type&quot;:&quot;text&quot;}"/>
          <p:cNvSpPr txBox="1"/>
          <p:nvPr/>
        </p:nvSpPr>
        <p:spPr>
          <a:xfrm>
            <a:off x="5124450" y="6505575"/>
            <a:ext cx="1952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叁竹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×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湖外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校企合作商业计划书</a:t>
            </a:r>
            <a:endParaRPr/>
          </a:p>
        </p:txBody>
      </p:sp>
      <p:sp>
        <p:nvSpPr>
          <p:cNvPr id="379" name="文本框 378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22 / 27</a:t>
            </a:r>
            <a:endParaRPr/>
          </a:p>
        </p:txBody>
      </p:sp>
      <p:sp>
        <p:nvSpPr>
          <p:cNvPr id="380" name="矩形: 圆角 379"/>
          <p:cNvSpPr/>
          <p:nvPr/>
        </p:nvSpPr>
        <p:spPr>
          <a:xfrm>
            <a:off x="2009775" y="2152650"/>
            <a:ext cx="666750" cy="666750"/>
          </a:xfrm>
          <a:prstGeom prst="roundRect">
            <a:avLst>
              <a:gd name="adj" fmla="val 1427143"/>
            </a:avLst>
          </a:prstGeom>
          <a:solidFill>
            <a:srgbClr val="0F5C46"/>
          </a:solidFill>
          <a:ln w="50800">
            <a:solidFill>
              <a:srgbClr val="F4F9F6"/>
            </a:solidFill>
            <a:prstDash val="solid"/>
          </a:ln>
          <a:effectLst>
            <a:outerShdw blurRad="133350" dist="38100" dir="5400000">
              <a:srgbClr val="0F5C46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1" name="文本框 380" descr="{&quot;isTemplate&quot;:true,&quot;type&quot;:&quot;text&quot;}"/>
          <p:cNvSpPr txBox="1"/>
          <p:nvPr/>
        </p:nvSpPr>
        <p:spPr>
          <a:xfrm>
            <a:off x="2028825" y="2381250"/>
            <a:ext cx="6286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2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第</a:t>
            </a:r>
            <a:r>
              <a:rPr lang="en-US" sz="1125" b="1">
                <a:solidFill>
                  <a:srgbClr val="FFFFFF"/>
                </a:solidFill>
                <a:latin typeface="Source Han Sans SC"/>
                <a:ea typeface="Source Han Sans SC"/>
              </a:rPr>
              <a:t> 1–2 </a:t>
            </a: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年</a:t>
            </a:r>
            <a:endParaRPr/>
          </a:p>
        </p:txBody>
      </p:sp>
      <p:sp>
        <p:nvSpPr>
          <p:cNvPr id="382" name="矩形: 圆角 381"/>
          <p:cNvSpPr/>
          <p:nvPr/>
        </p:nvSpPr>
        <p:spPr>
          <a:xfrm>
            <a:off x="5762625" y="2152650"/>
            <a:ext cx="666750" cy="666750"/>
          </a:xfrm>
          <a:prstGeom prst="roundRect">
            <a:avLst>
              <a:gd name="adj" fmla="val 1427143"/>
            </a:avLst>
          </a:prstGeom>
          <a:solidFill>
            <a:srgbClr val="0A2B4D"/>
          </a:solidFill>
          <a:ln w="50800">
            <a:solidFill>
              <a:srgbClr val="F4F9F6"/>
            </a:solidFill>
            <a:prstDash val="solid"/>
          </a:ln>
          <a:effectLst>
            <a:outerShdw blurRad="133350" dist="38100" dir="5400000">
              <a:srgbClr val="0F5C46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3" name="文本框 382" descr="{&quot;isTemplate&quot;:true,&quot;type&quot;:&quot;text&quot;}"/>
          <p:cNvSpPr txBox="1"/>
          <p:nvPr/>
        </p:nvSpPr>
        <p:spPr>
          <a:xfrm>
            <a:off x="5867400" y="2381250"/>
            <a:ext cx="466725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2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第</a:t>
            </a:r>
            <a:r>
              <a:rPr lang="en-US" sz="1125" b="1">
                <a:solidFill>
                  <a:srgbClr val="FFFFFF"/>
                </a:solidFill>
                <a:latin typeface="Source Han Sans SC"/>
                <a:ea typeface="Source Han Sans SC"/>
              </a:rPr>
              <a:t> 3 </a:t>
            </a: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年</a:t>
            </a:r>
            <a:endParaRPr/>
          </a:p>
        </p:txBody>
      </p:sp>
      <p:sp>
        <p:nvSpPr>
          <p:cNvPr id="384" name="矩形: 圆角 383"/>
          <p:cNvSpPr/>
          <p:nvPr/>
        </p:nvSpPr>
        <p:spPr>
          <a:xfrm>
            <a:off x="9515475" y="2152650"/>
            <a:ext cx="666750" cy="666750"/>
          </a:xfrm>
          <a:prstGeom prst="roundRect">
            <a:avLst>
              <a:gd name="adj" fmla="val 1427143"/>
            </a:avLst>
          </a:prstGeom>
          <a:solidFill>
            <a:srgbClr val="2E9E78"/>
          </a:solidFill>
          <a:ln w="50800">
            <a:solidFill>
              <a:srgbClr val="F4F9F6"/>
            </a:solidFill>
            <a:prstDash val="solid"/>
          </a:ln>
          <a:effectLst>
            <a:outerShdw blurRad="133350" dist="38100" dir="5400000">
              <a:srgbClr val="0F5C46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85" name="文本框 384" descr="{&quot;isTemplate&quot;:true,&quot;type&quot;:&quot;text&quot;}"/>
          <p:cNvSpPr txBox="1"/>
          <p:nvPr/>
        </p:nvSpPr>
        <p:spPr>
          <a:xfrm>
            <a:off x="9534525" y="2381250"/>
            <a:ext cx="628650" cy="2095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20000"/>
              </a:lnSpc>
            </a:pP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第</a:t>
            </a:r>
            <a:r>
              <a:rPr lang="en-US" sz="1125" b="1">
                <a:solidFill>
                  <a:srgbClr val="FFFFFF"/>
                </a:solidFill>
                <a:latin typeface="Source Han Sans SC"/>
                <a:ea typeface="Source Han Sans SC"/>
              </a:rPr>
              <a:t> 4–5 </a:t>
            </a:r>
            <a:r>
              <a:rPr lang="zh-CN" sz="1125" b="1">
                <a:solidFill>
                  <a:srgbClr val="FFFFFF"/>
                </a:solidFill>
                <a:latin typeface="Source Han Sans SC"/>
                <a:ea typeface="Source Han Sans SC"/>
              </a:rPr>
              <a:t>年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width: '1280px', height: '720px', fontFamily: &quot;'Source Han Sans SC', 'Microsoft YaHei', sans-serif&quot; }}&gt;&#10;  &lt;Image src=&quot;assets/students_training.png&quot; style={{ position: 'absolute', top: 0, left: 0, width: '100%', height: '100%', objectFit: 'cover' }} /&gt;&#10;  &lt;Box style={{ position: 'absolute', top: 0, left: 0, right: 0, bottom: 0, background: 'linear-gradient(135deg, rgba(10,43,77,0.82) 0%, rgba(15,92,70,0.78) 100%)' }} /&gt;&#10;&#10;  &lt;Box style={{ position: 'absolute', left: 0, right: 0, bottom: 0, height: 240, overflow: 'hidden' }}&gt;&#10;    &lt;svg width='1280' height='240' viewBox='0 0 1280 240' style={{ position: 'absolute', bottom: 0 }}&gt;&#10;      &lt;path d='M0,90 C340,20 920,180 1280,70 L1280,240 L0,240 Z' fill='rgba(10,43,77,0.55)' /&gt;&#10;      &lt;path d='M0,150 C380,80 900,210 1280,120 L1280,240 L0,240 Z' fill='rgba(10,43,77,0.40)' /&gt;&#10;    &lt;/svg&gt;&#10;  &lt;/Box&gt;&#10;&#10;  &lt;Box style={{ position: 'absolute', top: 0, left: 0, right: 0, bottom: 0, justifyContent: 'center', alignItems: 'center' }}&gt;&#10;    &lt;Box style={{ width: 200, height: 200, borderRadius: 999, background: 'rgba(255,255,255,0.12)', border: '4px solid rgba(255,255,255,0.35)', justifyContent: 'center', alignItems: 'center', marginBottom: 36 }}&gt;&#10;      &lt;Text style={{ color: '#FFFFFF', fontSize: 96, fontWeight: 'bold', fontFamily: &quot;'DIN Alternate','Inter',sans-serif&quot; }}&gt;09&lt;/Text&gt;&#10;    &lt;/Box&gt;&#10;    &lt;Text style={{ color: '#FFFFFF', fontSize: 56, fontWeight: 'bold', textShadow: '0 4px 18px rgba(0,0,0,0.35)' }}&gt;九、协同价值与前景&lt;/Text&gt;&#10;    &lt;Text style={{ color: 'rgba(255,255,255,0.82)', fontSize: 22, marginTop: 18, letterSpacing: 2 }}&gt;对湖外 · 对叁竹 · 对产业长期价值&lt;/Text&gt;&#10;  &lt;/Box&gt;&#10;&#10;  &lt;Text style={{ position: 'absolute', bottom: 48, left: 0, right: 0, textAlign: 'center', color: 'rgba(255,255,255,0.6)', fontSize: 15 }}&gt;&#10;    叁竹 × 湖外 校企合作商业计划书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图片 386"/>
          <p:cNvPicPr>
            <a:picLocks noChangeAspect="1"/>
          </p:cNvPicPr>
          <p:nvPr/>
        </p:nvPicPr>
        <p:blipFill>
          <a:blip r:embed="rId2"/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88" name="矩形 38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2B4D">
                  <a:alpha val="82000"/>
                </a:srgbClr>
              </a:gs>
              <a:gs pos="100000">
                <a:srgbClr val="0F5C46">
                  <a:alpha val="78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389" name="图形 38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572000"/>
            <a:ext cx="12192000" cy="2286000"/>
          </a:xfrm>
          <a:prstGeom prst="rect">
            <a:avLst/>
          </a:prstGeom>
          <a:ln/>
        </p:spPr>
      </p:pic>
      <p:sp>
        <p:nvSpPr>
          <p:cNvPr id="390" name="矩形: 圆角 389"/>
          <p:cNvSpPr/>
          <p:nvPr/>
        </p:nvSpPr>
        <p:spPr>
          <a:xfrm>
            <a:off x="5143500" y="1771650"/>
            <a:ext cx="1905000" cy="1905000"/>
          </a:xfrm>
          <a:prstGeom prst="roundRect">
            <a:avLst>
              <a:gd name="adj" fmla="val 499500"/>
            </a:avLst>
          </a:prstGeom>
          <a:solidFill>
            <a:srgbClr val="FFFFFF">
              <a:alpha val="12000"/>
            </a:srgbClr>
          </a:solidFill>
          <a:ln w="508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1" name="文本框 390" descr="{&quot;isTemplate&quot;:true,&quot;type&quot;:&quot;text&quot;}"/>
          <p:cNvSpPr txBox="1"/>
          <p:nvPr/>
        </p:nvSpPr>
        <p:spPr>
          <a:xfrm>
            <a:off x="5514975" y="2171700"/>
            <a:ext cx="1171575" cy="1104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DIN Alternate"/>
                <a:ea typeface="DIN Alternate"/>
              </a:rPr>
              <a:t>09</a:t>
            </a:r>
            <a:endParaRPr/>
          </a:p>
        </p:txBody>
      </p:sp>
      <p:sp>
        <p:nvSpPr>
          <p:cNvPr id="392" name="文本框 391" descr="{&quot;isTemplate&quot;:true,&quot;type&quot;:&quot;text&quot;}"/>
          <p:cNvSpPr txBox="1"/>
          <p:nvPr/>
        </p:nvSpPr>
        <p:spPr>
          <a:xfrm>
            <a:off x="3695700" y="4019550"/>
            <a:ext cx="4800600" cy="647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effectLst>
                  <a:outerShdw blurRad="171450" dist="38100" dir="5400000">
                    <a:srgbClr val="000000">
                      <a:alpha val="35000"/>
                    </a:srgbClr>
                  </a:outerShdw>
                </a:effectLst>
                <a:latin typeface="Source Han Sans SC"/>
                <a:ea typeface="Source Han Sans SC"/>
              </a:rPr>
              <a:t>九、协同价值与前景</a:t>
            </a:r>
            <a:endParaRPr/>
          </a:p>
        </p:txBody>
      </p:sp>
      <p:sp>
        <p:nvSpPr>
          <p:cNvPr id="393" name="文本框 392" descr="{&quot;isTemplate&quot;:true,&quot;type&quot;:&quot;text&quot;}"/>
          <p:cNvSpPr txBox="1"/>
          <p:nvPr/>
        </p:nvSpPr>
        <p:spPr>
          <a:xfrm>
            <a:off x="4381500" y="4838700"/>
            <a:ext cx="34385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对湖外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对叁竹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对产业长期价值</a:t>
            </a:r>
            <a:endParaRPr/>
          </a:p>
        </p:txBody>
      </p:sp>
      <p:sp>
        <p:nvSpPr>
          <p:cNvPr id="394" name="文本框 393" descr="{&quot;isTemplate&quot;:true,&quot;type&quot;:&quot;text&quot;}"/>
          <p:cNvSpPr txBox="1"/>
          <p:nvPr/>
        </p:nvSpPr>
        <p:spPr>
          <a:xfrm>
            <a:off x="-1" y="6229350"/>
            <a:ext cx="12191999" cy="257174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叁竹</a:t>
            </a: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× </a:t>
            </a: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湖外</a:t>
            </a: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</a:t>
            </a: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校企合作商业计划书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background: '#F4F9F6', fontFamily: &quot;'Source Han Sans SC', 'Microsoft YaHei', sans-serif&quot; }}&gt;&#10;  &lt;Box style={{ position: 'absolute', top: 0, left: 0, right: 0, height: 110, paddingLeft: 60, paddingRight: 60, flexDirection: 'row', alignItems: 'center' }}&gt;&#10;    &lt;Box style={{ width: 6, height: 44, background: '#0F5C46', borderRadius: 3, marginRight: 18 }} /&gt;&#10;    &lt;Text style={{ fontSize: 34, fontWeight: 'bold', color: '#1C2B24' }}&gt;双方协同价值与长期产业前景&lt;/Text&gt;&#10;  &lt;/Box&gt;&#10;&#10;  &lt;Box style={{ position: 'absolute', top: 124, left: 60, right: 60, bottom: 64, flexDirection: 'row', gap: 20 }}&gt;&#10;    &lt;Box style={{ flex: 1, background: '#FFFFFF', borderRadius: 14, padding: '18px 20px', boxShadow: '0 4px 16px rgba(15,92,70,0.08)', borderTop: '4px solid #0F5C46', flexDirection: 'column' }}&gt;&#10;      &lt;Text style={{ fontSize: 21, fontWeight: 'bold', color: '#0F5C46', marginBottom: 10 }}&gt;对湖外职业学院&lt;/Text&gt;&#10;      {[&#10;        '破解传统外语专业瓶颈，打造高就业康养王牌专业，提升招生竞争力',&#10;        '一次性盘活实训教室、办公用房与 UBIC 社区，转化为可持续盈利载体',&#10;        '仅现金入股即共享省内头部培训 + 全国平台全部业务分红',&#10;        '搭建&quot;在校学习—技能考证—社区就业&quot;闭环，树立产教融合标杆',&#10;      ].map((t, i) =&gt; (&#10;        &lt;Box key={i} style={{ flexDirection: 'row', gap: 8, marginBottom: 9 }}&gt;&#10;          &lt;Text style={{ color: '#0F5C46', fontSize: 15, fontWeight: 'bold', marginTop: 2 }}&gt;✓&lt;/Text&gt;&#10;          &lt;Text style={{ fontSize: 15.5, color: '#3A463F', lineHeight: 1.5 }}&gt;{t}&lt;/Text&gt;&#10;        &lt;/Box&gt;&#10;      ))}&#10;    &lt;/Box&gt;&#10;&#10;    &lt;Box style={{ flex: 1, background: '#FFFFFF', borderRadius: 14, padding: '18px 20px', boxShadow: '0 4px 16px rgba(15,92,70,0.08)', borderTop: '4px solid #2E9E78', flexDirection: 'column' }}&gt;&#10;      &lt;Text style={{ fontSize: 21, fontWeight: 'bold', color: '#2E9E78', marginBottom: 10 }}&gt;对叁竹培训学校&lt;/Text&gt;&#10;      {[&#10;        '长期稳定获得专属实训教学区 + 独立办公区，零租金使用',&#10;        '绑定院校生源、品牌与鉴定申报主体资质，降低获客与申报难度',&#10;        'UBIC 养老社区提供独家实景实训场景，巩固省内前三领先地位',&#10;        '借院校渠道对接政府项目，叠加自有全国平台双向发力加速布局',&#10;      ].map((t, i) =&gt; (&#10;        &lt;Box key={i} style={{ flexDirection: 'row', gap: 8, marginBottom: 9 }}&gt;&#10;          &lt;Text style={{ color: '#2E9E78', fontSize: 15, fontWeight: 'bold', marginTop: 2 }}&gt;✓&lt;/Text&gt;&#10;          &lt;Text style={{ fontSize: 15.5, color: '#3A463F', lineHeight: 1.5 }}&gt;{t}&lt;/Text&gt;&#10;        &lt;/Box&gt;&#10;      ))}&#10;    &lt;/Box&gt;&#10;&#10;    &lt;Box style={{ flex: 1.15, background: 'linear-gradient(135deg,#0A2B4D,#0F5C46)', borderRadius: 14, padding: '18px 20px', flexDirection: 'column', justifyContent: 'center' }}&gt;&#10;      &lt;Text style={{ fontSize: 21, fontWeight: 'bold', color: '#7FE3C0', marginBottom: 10 }}&gt;长期产业前景&lt;/Text&gt;&#10;      &lt;Text style={{ fontSize: 15.5, color: 'rgba(255,255,255,0.94)', lineHeight: 1.62 }}&gt;&#10;        人口老龄化与长护险全国落地构成&lt;Text style={{ color:'#7FE3C0',fontWeight:'bold' }}&gt;二十年长期驱动&lt;/Text&gt;，持证人才刚需长存；AI 冲击下民办院校康养转型不可逆。{'\n\n'}本次合作以现金入股 + 场地永久免费使用的轻量化模式，构建独家&quot;院校实训基地 + 校园嵌入式养老 + 线下培训 + 全国平台 + 技能鉴定&quot;完整闭环，兼具政策合规、盈利稳定与长期股权增值空间。&#10;      &lt;/Text&gt;&#10;    &lt;/Box&gt;&#10;  &lt;/Box&gt;&#10;&#10;  &lt;Box style={{ position: 'absolute', bottom: 0, left: 0, right: 0, height: 58, paddingLeft: 60, paddingRight: 60, flexDirection: 'row', alignItems: 'center' }}&gt;&#10;    &lt;Box style={{ flex: 1 }} /&gt;&#10;    &lt;Text style={{ fontSize: 14, color: '#5C6B63', textAlign: 'center' }}&gt;叁竹 × 湖外 校企合作商业计划书&lt;/Text&gt;&#10;    &lt;Box style={{ flex: 1, alignItems: 'flex-end' }}&gt;&#10;      &lt;Text style={{ fontSize: 14, color: '#5C6B63' }}&gt;24 / 27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矩形 3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7" name="矩形: 圆角 396"/>
          <p:cNvSpPr/>
          <p:nvPr/>
        </p:nvSpPr>
        <p:spPr>
          <a:xfrm>
            <a:off x="571500" y="314325"/>
            <a:ext cx="57150" cy="419100"/>
          </a:xfrm>
          <a:prstGeom prst="roundRect">
            <a:avLst>
              <a:gd name="adj" fmla="val 50000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8" name="文本框 397" descr="{&quot;isTemplate&quot;:true,&quot;type&quot;:&quot;text&quot;}"/>
          <p:cNvSpPr txBox="1"/>
          <p:nvPr/>
        </p:nvSpPr>
        <p:spPr>
          <a:xfrm>
            <a:off x="800100" y="333375"/>
            <a:ext cx="421005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2B24"/>
                </a:solidFill>
                <a:latin typeface="Source Han Sans SC"/>
                <a:ea typeface="Source Han Sans SC"/>
              </a:rPr>
              <a:t>双方协同价值与长期产业前景</a:t>
            </a:r>
            <a:endParaRPr/>
          </a:p>
        </p:txBody>
      </p:sp>
      <p:sp>
        <p:nvSpPr>
          <p:cNvPr id="399" name="矩形: 圆角 398"/>
          <p:cNvSpPr/>
          <p:nvPr/>
        </p:nvSpPr>
        <p:spPr>
          <a:xfrm>
            <a:off x="571500" y="1219200"/>
            <a:ext cx="3390900" cy="5067300"/>
          </a:xfrm>
          <a:prstGeom prst="roundRect">
            <a:avLst>
              <a:gd name="adj" fmla="val 3933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00" name="任意多边形: 形状 399"/>
          <p:cNvSpPr/>
          <p:nvPr/>
        </p:nvSpPr>
        <p:spPr>
          <a:xfrm>
            <a:off x="571500" y="1219200"/>
            <a:ext cx="3390900" cy="5067300"/>
          </a:xfrm>
          <a:custGeom>
            <a:avLst/>
            <a:gdLst/>
            <a:ahLst/>
            <a:cxnLst/>
            <a:rect l="0" t="0" r="0" b="0"/>
            <a:pathLst>
              <a:path w="356" h="532">
                <a:moveTo>
                  <a:pt x="343" y="0"/>
                </a:moveTo>
                <a:cubicBezTo>
                  <a:pt x="349" y="0"/>
                  <a:pt x="354" y="5"/>
                  <a:pt x="356" y="11"/>
                </a:cubicBezTo>
                <a:cubicBezTo>
                  <a:pt x="354" y="7"/>
                  <a:pt x="350" y="4"/>
                  <a:pt x="346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42" y="0"/>
                </a:lnTo>
                <a:close/>
              </a:path>
            </a:pathLst>
          </a:cu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1" name="文本框 400" descr="{&quot;isTemplate&quot;:true,&quot;type&quot;:&quot;text&quot;}"/>
          <p:cNvSpPr txBox="1"/>
          <p:nvPr/>
        </p:nvSpPr>
        <p:spPr>
          <a:xfrm>
            <a:off x="762000" y="1390650"/>
            <a:ext cx="3009900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F5C46"/>
                </a:solidFill>
                <a:latin typeface="Source Han Sans SC"/>
                <a:ea typeface="Source Han Sans SC"/>
              </a:rPr>
              <a:t>对湖外职业学院</a:t>
            </a:r>
            <a:endParaRPr/>
          </a:p>
        </p:txBody>
      </p:sp>
      <p:sp>
        <p:nvSpPr>
          <p:cNvPr id="402" name="文本框 401" descr="{&quot;isTemplate&quot;:true,&quot;type&quot;:&quot;text&quot;}"/>
          <p:cNvSpPr txBox="1"/>
          <p:nvPr/>
        </p:nvSpPr>
        <p:spPr>
          <a:xfrm>
            <a:off x="762000" y="1752600"/>
            <a:ext cx="133350" cy="514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0F5C46"/>
                </a:solidFill>
                <a:latin typeface="Source Han Sans SC"/>
                <a:ea typeface="Source Han Sans SC"/>
              </a:rPr>
              <a:t>✓</a:t>
            </a:r>
            <a:endParaRPr/>
          </a:p>
        </p:txBody>
      </p:sp>
      <p:sp>
        <p:nvSpPr>
          <p:cNvPr id="403" name="文本框 402" descr="{&quot;isTemplate&quot;:true,&quot;type&quot;:&quot;text&quot;}"/>
          <p:cNvSpPr txBox="1"/>
          <p:nvPr/>
        </p:nvSpPr>
        <p:spPr>
          <a:xfrm>
            <a:off x="971550" y="1733550"/>
            <a:ext cx="28003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破解传统外语专业瓶颈，打造高就业康养王牌专业，提升招生竞争力</a:t>
            </a:r>
            <a:endParaRPr/>
          </a:p>
        </p:txBody>
      </p:sp>
      <p:sp>
        <p:nvSpPr>
          <p:cNvPr id="404" name="文本框 403" descr="{&quot;isTemplate&quot;:true,&quot;type&quot;:&quot;text&quot;}"/>
          <p:cNvSpPr txBox="1"/>
          <p:nvPr/>
        </p:nvSpPr>
        <p:spPr>
          <a:xfrm>
            <a:off x="762000" y="2371725"/>
            <a:ext cx="133350" cy="514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0F5C46"/>
                </a:solidFill>
                <a:latin typeface="Source Han Sans SC"/>
                <a:ea typeface="Source Han Sans SC"/>
              </a:rPr>
              <a:t>✓</a:t>
            </a:r>
            <a:endParaRPr/>
          </a:p>
        </p:txBody>
      </p:sp>
      <p:sp>
        <p:nvSpPr>
          <p:cNvPr id="405" name="文本框 404" descr="{&quot;isTemplate&quot;:true,&quot;type&quot;:&quot;text&quot;}"/>
          <p:cNvSpPr txBox="1"/>
          <p:nvPr/>
        </p:nvSpPr>
        <p:spPr>
          <a:xfrm>
            <a:off x="971550" y="2352675"/>
            <a:ext cx="28003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一次性盘活实训教室、办公用房与</a:t>
            </a:r>
            <a:r>
              <a:rPr lang="en-US" sz="1163">
                <a:solidFill>
                  <a:srgbClr val="3A463F"/>
                </a:solidFill>
                <a:latin typeface="Source Han Sans SC"/>
                <a:ea typeface="Source Han Sans SC"/>
              </a:rPr>
              <a:t> UBIC </a:t>
            </a: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社区，转化为可持续盈利载体</a:t>
            </a:r>
            <a:endParaRPr/>
          </a:p>
        </p:txBody>
      </p:sp>
      <p:sp>
        <p:nvSpPr>
          <p:cNvPr id="406" name="文本框 405" descr="{&quot;isTemplate&quot;:true,&quot;type&quot;:&quot;text&quot;}"/>
          <p:cNvSpPr txBox="1"/>
          <p:nvPr/>
        </p:nvSpPr>
        <p:spPr>
          <a:xfrm>
            <a:off x="762000" y="2990850"/>
            <a:ext cx="133350" cy="514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0F5C46"/>
                </a:solidFill>
                <a:latin typeface="Source Han Sans SC"/>
                <a:ea typeface="Source Han Sans SC"/>
              </a:rPr>
              <a:t>✓</a:t>
            </a:r>
            <a:endParaRPr/>
          </a:p>
        </p:txBody>
      </p:sp>
      <p:sp>
        <p:nvSpPr>
          <p:cNvPr id="407" name="文本框 406" descr="{&quot;isTemplate&quot;:true,&quot;type&quot;:&quot;text&quot;}"/>
          <p:cNvSpPr txBox="1"/>
          <p:nvPr/>
        </p:nvSpPr>
        <p:spPr>
          <a:xfrm>
            <a:off x="971550" y="2971800"/>
            <a:ext cx="28003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仅现金入股即共享省内头部培训</a:t>
            </a:r>
            <a:r>
              <a:rPr lang="en-US" sz="1163">
                <a:solidFill>
                  <a:srgbClr val="3A463F"/>
                </a:solidFill>
                <a:latin typeface="Source Han Sans SC"/>
                <a:ea typeface="Source Han Sans SC"/>
              </a:rPr>
              <a:t> + </a:t>
            </a: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全国平台全部业务分红</a:t>
            </a:r>
            <a:endParaRPr/>
          </a:p>
        </p:txBody>
      </p:sp>
      <p:sp>
        <p:nvSpPr>
          <p:cNvPr id="408" name="文本框 407" descr="{&quot;isTemplate&quot;:true,&quot;type&quot;:&quot;text&quot;}"/>
          <p:cNvSpPr txBox="1"/>
          <p:nvPr/>
        </p:nvSpPr>
        <p:spPr>
          <a:xfrm>
            <a:off x="762000" y="3609975"/>
            <a:ext cx="133350" cy="514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0F5C46"/>
                </a:solidFill>
                <a:latin typeface="Source Han Sans SC"/>
                <a:ea typeface="Source Han Sans SC"/>
              </a:rPr>
              <a:t>✓</a:t>
            </a:r>
            <a:endParaRPr/>
          </a:p>
        </p:txBody>
      </p:sp>
      <p:sp>
        <p:nvSpPr>
          <p:cNvPr id="409" name="文本框 408" descr="{&quot;isTemplate&quot;:true,&quot;type&quot;:&quot;text&quot;}"/>
          <p:cNvSpPr txBox="1"/>
          <p:nvPr/>
        </p:nvSpPr>
        <p:spPr>
          <a:xfrm>
            <a:off x="971550" y="3590925"/>
            <a:ext cx="2800350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搭建</a:t>
            </a:r>
            <a:r>
              <a:rPr lang="en-US" sz="1163">
                <a:solidFill>
                  <a:srgbClr val="3A463F"/>
                </a:solidFill>
                <a:latin typeface="Source Han Sans SC"/>
                <a:ea typeface="Source Han Sans SC"/>
              </a:rPr>
              <a:t>"</a:t>
            </a: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在校学习—技能考证—社区就业</a:t>
            </a:r>
            <a:r>
              <a:rPr lang="en-US" sz="1163">
                <a:solidFill>
                  <a:srgbClr val="3A463F"/>
                </a:solidFill>
                <a:latin typeface="Source Han Sans SC"/>
                <a:ea typeface="Source Han Sans SC"/>
              </a:rPr>
              <a:t>"</a:t>
            </a: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闭环，树立产教融合标杆</a:t>
            </a:r>
            <a:endParaRPr/>
          </a:p>
        </p:txBody>
      </p:sp>
      <p:sp>
        <p:nvSpPr>
          <p:cNvPr id="410" name="矩形: 圆角 409"/>
          <p:cNvSpPr/>
          <p:nvPr/>
        </p:nvSpPr>
        <p:spPr>
          <a:xfrm>
            <a:off x="4152900" y="1219200"/>
            <a:ext cx="3381375" cy="506730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1" name="任意多边形: 形状 410"/>
          <p:cNvSpPr/>
          <p:nvPr/>
        </p:nvSpPr>
        <p:spPr>
          <a:xfrm>
            <a:off x="4152900" y="1219200"/>
            <a:ext cx="3381375" cy="5067300"/>
          </a:xfrm>
          <a:custGeom>
            <a:avLst/>
            <a:gdLst/>
            <a:ahLst/>
            <a:cxnLst/>
            <a:rect l="0" t="0" r="0" b="0"/>
            <a:pathLst>
              <a:path w="355" h="532">
                <a:moveTo>
                  <a:pt x="342" y="0"/>
                </a:moveTo>
                <a:cubicBezTo>
                  <a:pt x="348" y="0"/>
                  <a:pt x="353" y="5"/>
                  <a:pt x="355" y="11"/>
                </a:cubicBezTo>
                <a:cubicBezTo>
                  <a:pt x="353" y="7"/>
                  <a:pt x="349" y="4"/>
                  <a:pt x="345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41" y="0"/>
                </a:lnTo>
                <a:close/>
              </a:path>
            </a:pathLst>
          </a:cu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2" name="文本框 411" descr="{&quot;isTemplate&quot;:true,&quot;type&quot;:&quot;text&quot;}"/>
          <p:cNvSpPr txBox="1"/>
          <p:nvPr/>
        </p:nvSpPr>
        <p:spPr>
          <a:xfrm>
            <a:off x="4343400" y="1390650"/>
            <a:ext cx="300037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2E9E78"/>
                </a:solidFill>
                <a:latin typeface="Source Han Sans SC"/>
                <a:ea typeface="Source Han Sans SC"/>
              </a:rPr>
              <a:t>对叁竹培训学校</a:t>
            </a:r>
            <a:endParaRPr/>
          </a:p>
        </p:txBody>
      </p:sp>
      <p:sp>
        <p:nvSpPr>
          <p:cNvPr id="413" name="文本框 412" descr="{&quot;isTemplate&quot;:true,&quot;type&quot;:&quot;text&quot;}"/>
          <p:cNvSpPr txBox="1"/>
          <p:nvPr/>
        </p:nvSpPr>
        <p:spPr>
          <a:xfrm>
            <a:off x="4343400" y="1752600"/>
            <a:ext cx="133350" cy="514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2E9E78"/>
                </a:solidFill>
                <a:latin typeface="Source Han Sans SC"/>
                <a:ea typeface="Source Han Sans SC"/>
              </a:rPr>
              <a:t>✓</a:t>
            </a:r>
            <a:endParaRPr/>
          </a:p>
        </p:txBody>
      </p:sp>
      <p:sp>
        <p:nvSpPr>
          <p:cNvPr id="414" name="文本框 413" descr="{&quot;isTemplate&quot;:true,&quot;type&quot;:&quot;text&quot;}"/>
          <p:cNvSpPr txBox="1"/>
          <p:nvPr/>
        </p:nvSpPr>
        <p:spPr>
          <a:xfrm>
            <a:off x="4552950" y="1733550"/>
            <a:ext cx="2790825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长期稳定获得专属实训教学区</a:t>
            </a:r>
            <a:r>
              <a:rPr lang="en-US" sz="1163">
                <a:solidFill>
                  <a:srgbClr val="3A463F"/>
                </a:solidFill>
                <a:latin typeface="Source Han Sans SC"/>
                <a:ea typeface="Source Han Sans SC"/>
              </a:rPr>
              <a:t> + </a:t>
            </a: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独立办公区，零租金使用</a:t>
            </a:r>
            <a:endParaRPr/>
          </a:p>
        </p:txBody>
      </p:sp>
      <p:sp>
        <p:nvSpPr>
          <p:cNvPr id="415" name="文本框 414" descr="{&quot;isTemplate&quot;:true,&quot;type&quot;:&quot;text&quot;}"/>
          <p:cNvSpPr txBox="1"/>
          <p:nvPr/>
        </p:nvSpPr>
        <p:spPr>
          <a:xfrm>
            <a:off x="4343400" y="2371725"/>
            <a:ext cx="133350" cy="514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2E9E78"/>
                </a:solidFill>
                <a:latin typeface="Source Han Sans SC"/>
                <a:ea typeface="Source Han Sans SC"/>
              </a:rPr>
              <a:t>✓</a:t>
            </a:r>
            <a:endParaRPr/>
          </a:p>
        </p:txBody>
      </p:sp>
      <p:sp>
        <p:nvSpPr>
          <p:cNvPr id="416" name="文本框 415" descr="{&quot;isTemplate&quot;:true,&quot;type&quot;:&quot;text&quot;}"/>
          <p:cNvSpPr txBox="1"/>
          <p:nvPr/>
        </p:nvSpPr>
        <p:spPr>
          <a:xfrm>
            <a:off x="4552950" y="2352675"/>
            <a:ext cx="2790825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绑定院校生源、品牌与鉴定申报主体资质，降低获客与申报难度</a:t>
            </a:r>
            <a:endParaRPr/>
          </a:p>
        </p:txBody>
      </p:sp>
      <p:sp>
        <p:nvSpPr>
          <p:cNvPr id="417" name="文本框 416" descr="{&quot;isTemplate&quot;:true,&quot;type&quot;:&quot;text&quot;}"/>
          <p:cNvSpPr txBox="1"/>
          <p:nvPr/>
        </p:nvSpPr>
        <p:spPr>
          <a:xfrm>
            <a:off x="4343400" y="2990850"/>
            <a:ext cx="133350" cy="514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2E9E78"/>
                </a:solidFill>
                <a:latin typeface="Source Han Sans SC"/>
                <a:ea typeface="Source Han Sans SC"/>
              </a:rPr>
              <a:t>✓</a:t>
            </a:r>
            <a:endParaRPr/>
          </a:p>
        </p:txBody>
      </p:sp>
      <p:sp>
        <p:nvSpPr>
          <p:cNvPr id="418" name="文本框 417" descr="{&quot;isTemplate&quot;:true,&quot;type&quot;:&quot;text&quot;}"/>
          <p:cNvSpPr txBox="1"/>
          <p:nvPr/>
        </p:nvSpPr>
        <p:spPr>
          <a:xfrm>
            <a:off x="4552950" y="2971800"/>
            <a:ext cx="2790825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63">
                <a:solidFill>
                  <a:srgbClr val="3A463F"/>
                </a:solidFill>
                <a:latin typeface="Source Han Sans SC"/>
                <a:ea typeface="Source Han Sans SC"/>
              </a:rPr>
              <a:t>UBIC </a:t>
            </a: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养老社区提供独家实景实训场景，巩固省内前三领先地位</a:t>
            </a:r>
            <a:endParaRPr/>
          </a:p>
        </p:txBody>
      </p:sp>
      <p:sp>
        <p:nvSpPr>
          <p:cNvPr id="419" name="文本框 418" descr="{&quot;isTemplate&quot;:true,&quot;type&quot;:&quot;text&quot;}"/>
          <p:cNvSpPr txBox="1"/>
          <p:nvPr/>
        </p:nvSpPr>
        <p:spPr>
          <a:xfrm>
            <a:off x="4343400" y="3609975"/>
            <a:ext cx="133350" cy="5143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sz="1125" b="1">
                <a:solidFill>
                  <a:srgbClr val="2E9E78"/>
                </a:solidFill>
                <a:latin typeface="Source Han Sans SC"/>
                <a:ea typeface="Source Han Sans SC"/>
              </a:rPr>
              <a:t>✓</a:t>
            </a:r>
            <a:endParaRPr/>
          </a:p>
        </p:txBody>
      </p:sp>
      <p:sp>
        <p:nvSpPr>
          <p:cNvPr id="420" name="文本框 419" descr="{&quot;isTemplate&quot;:true,&quot;type&quot;:&quot;text&quot;}"/>
          <p:cNvSpPr txBox="1"/>
          <p:nvPr/>
        </p:nvSpPr>
        <p:spPr>
          <a:xfrm>
            <a:off x="4552950" y="3590925"/>
            <a:ext cx="2790825" cy="5334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163">
                <a:solidFill>
                  <a:srgbClr val="3A463F"/>
                </a:solidFill>
                <a:latin typeface="Source Han Sans SC"/>
                <a:ea typeface="Source Han Sans SC"/>
              </a:rPr>
              <a:t>借院校渠道对接政府项目，叠加自有全国平台双向发力加速布局</a:t>
            </a:r>
            <a:endParaRPr/>
          </a:p>
        </p:txBody>
      </p:sp>
      <p:sp>
        <p:nvSpPr>
          <p:cNvPr id="421" name="矩形: 圆角 420"/>
          <p:cNvSpPr/>
          <p:nvPr/>
        </p:nvSpPr>
        <p:spPr>
          <a:xfrm>
            <a:off x="7724775" y="1181100"/>
            <a:ext cx="3895725" cy="5067300"/>
          </a:xfrm>
          <a:prstGeom prst="roundRect">
            <a:avLst>
              <a:gd name="adj" fmla="val 3423"/>
            </a:avLst>
          </a:prstGeom>
          <a:gradFill>
            <a:gsLst>
              <a:gs pos="0">
                <a:srgbClr val="0A2B4D"/>
              </a:gs>
              <a:gs pos="100000">
                <a:srgbClr val="0F5C46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22" name="文本框 421" descr="{&quot;isTemplate&quot;:true,&quot;type&quot;:&quot;text&quot;}"/>
          <p:cNvSpPr txBox="1"/>
          <p:nvPr/>
        </p:nvSpPr>
        <p:spPr>
          <a:xfrm>
            <a:off x="7915275" y="2390775"/>
            <a:ext cx="3514725" cy="24765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7FE3C0"/>
                </a:solidFill>
                <a:latin typeface="Source Han Sans SC"/>
                <a:ea typeface="Source Han Sans SC"/>
              </a:rPr>
              <a:t>长期产业前景</a:t>
            </a:r>
            <a:endParaRPr/>
          </a:p>
        </p:txBody>
      </p:sp>
      <p:sp>
        <p:nvSpPr>
          <p:cNvPr id="423" name="文本框 422" descr="{&quot;isTemplate&quot;:true,&quot;type&quot;:&quot;text&quot;}"/>
          <p:cNvSpPr txBox="1"/>
          <p:nvPr/>
        </p:nvSpPr>
        <p:spPr>
          <a:xfrm>
            <a:off x="7915275" y="2733675"/>
            <a:ext cx="3514725" cy="2305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62000"/>
              </a:lnSpc>
            </a:pPr>
            <a:r>
              <a:rPr lang="zh-CN" sz="1163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人口老龄化与长护险全国落地构成二十年长期驱动，持证人才刚需长存；</a:t>
            </a:r>
            <a:r>
              <a:rPr lang="en-US" sz="1163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AI </a:t>
            </a:r>
            <a:r>
              <a:rPr lang="zh-CN" sz="1163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冲击下民办院校康养转型不可逆。</a:t>
            </a:r>
            <a:r>
              <a:rPr sz="1163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
</a:t>
            </a:r>
            <a:r>
              <a:rPr lang="zh-CN" sz="1163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本次合作以现金入股</a:t>
            </a:r>
            <a:r>
              <a:rPr lang="en-US" sz="1163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 + </a:t>
            </a:r>
            <a:r>
              <a:rPr lang="zh-CN" sz="1163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场地永久免费使用的轻量化模式，构建独家</a:t>
            </a:r>
            <a:r>
              <a:rPr lang="en-US" sz="1163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163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院校实训基地</a:t>
            </a:r>
            <a:r>
              <a:rPr lang="en-US" sz="1163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 + </a:t>
            </a:r>
            <a:r>
              <a:rPr lang="zh-CN" sz="1163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校园嵌入式养老</a:t>
            </a:r>
            <a:r>
              <a:rPr lang="en-US" sz="1163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 + </a:t>
            </a:r>
            <a:r>
              <a:rPr lang="zh-CN" sz="1163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线下培训</a:t>
            </a:r>
            <a:r>
              <a:rPr lang="en-US" sz="1163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 + </a:t>
            </a:r>
            <a:r>
              <a:rPr lang="zh-CN" sz="1163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全国平台</a:t>
            </a:r>
            <a:r>
              <a:rPr lang="en-US" sz="1163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 + </a:t>
            </a:r>
            <a:r>
              <a:rPr lang="zh-CN" sz="1163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技能鉴定</a:t>
            </a:r>
            <a:r>
              <a:rPr lang="en-US" sz="1163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163">
                <a:solidFill>
                  <a:srgbClr val="FFFFFF">
                    <a:alpha val="94000"/>
                  </a:srgbClr>
                </a:solidFill>
                <a:latin typeface="Source Han Sans SC"/>
                <a:ea typeface="Source Han Sans SC"/>
              </a:rPr>
              <a:t>完整闭环，兼具政策合规、盈利稳定与长期股权增值空间。</a:t>
            </a:r>
            <a:endParaRPr/>
          </a:p>
        </p:txBody>
      </p:sp>
      <p:sp>
        <p:nvSpPr>
          <p:cNvPr id="424" name="文本框 423" descr="{&quot;isTemplate&quot;:true,&quot;type&quot;:&quot;text&quot;}"/>
          <p:cNvSpPr txBox="1"/>
          <p:nvPr/>
        </p:nvSpPr>
        <p:spPr>
          <a:xfrm>
            <a:off x="5124450" y="6505575"/>
            <a:ext cx="1952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叁竹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×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湖外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校企合作商业计划书</a:t>
            </a:r>
            <a:endParaRPr/>
          </a:p>
        </p:txBody>
      </p:sp>
      <p:sp>
        <p:nvSpPr>
          <p:cNvPr id="425" name="文本框 424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24 / 27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width: '1280px', height: '720px', fontFamily: &quot;'Source Han Sans SC', 'Microsoft YaHei', sans-serif&quot; }}&gt;&#10;  &lt;Image src=&quot;assets/hero_gate.png&quot; style={{ position: 'absolute', top: 0, left: 0, width: '100%', height: '100%', objectFit: 'cover' }} /&gt;&#10;  &lt;Box style={{ position: 'absolute', top: 0, left: 0, right: 0, bottom: 0, background: 'linear-gradient(135deg, rgba(10,43,77,0.82) 0%, rgba(15,92,70,0.78) 100%)' }} /&gt;&#10;&#10;  &lt;Box style={{ position: 'absolute', left: 0, right: 0, bottom: 0, height: 240, overflow: 'hidden' }}&gt;&#10;    &lt;svg width='1280' height='240' viewBox='0 0 1280 240' style={{ position: 'absolute', bottom: 0 }}&gt;&#10;      &lt;path d='M0,90 C340,20 920,180 1280,70 L1280,240 L0,240 Z' fill='rgba(10,43,77,0.55)' /&gt;&#10;      &lt;path d='M0,150 C380,80 900,210 1280,120 L1280,240 L0,240 Z' fill='rgba(10,43,77,0.40)' /&gt;&#10;    &lt;/svg&gt;&#10;  &lt;/Box&gt;&#10;&#10;  &lt;Box style={{ position: 'absolute', top: 0, left: 0, right: 0, bottom: 0, justifyContent: 'center', alignItems: 'center' }}&gt;&#10;    &lt;Box style={{ width: 200, height: 200, borderRadius: 999, background: 'rgba(255,255,255,0.12)', border: '4px solid rgba(255,255,255,0.35)', justifyContent: 'center', alignItems: 'center', marginBottom: 36 }}&gt;&#10;      &lt;Text style={{ color: '#FFFFFF', fontSize: 96, fontWeight: 'bold', fontFamily: &quot;'DIN Alternate','Inter',sans-serif&quot; }}&gt;10&lt;/Text&gt;&#10;    &lt;/Box&gt;&#10;    &lt;Text style={{ color: '#FFFFFF', fontSize: 56, fontWeight: 'bold', textShadow: '0 4px 18px rgba(0,0,0,0.35)' }}&gt;十、合规落地与实施&lt;/Text&gt;&#10;    &lt;Text style={{ color: 'rgba(255,255,255,0.82)', fontSize: 22, marginTop: 18, letterSpacing: 2 }}&gt;法务合规 · 四阶段落地 · 风险可控&lt;/Text&gt;&#10;  &lt;/Box&gt;&#10;&#10;  &lt;Text style={{ position: 'absolute', bottom: 48, left: 0, right: 0, textAlign: 'center', color: 'rgba(255,255,255,0.6)', fontSize: 15 }}&gt;&#10;    叁竹 × 湖外 校企合作商业计划书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7" name="图片 426"/>
          <p:cNvPicPr>
            <a:picLocks noChangeAspect="1"/>
          </p:cNvPicPr>
          <p:nvPr/>
        </p:nvPicPr>
        <p:blipFill>
          <a:blip r:embed="rId2"/>
          <a:srcRect t="8894" b="889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28" name="矩形 4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2B4D">
                  <a:alpha val="82000"/>
                </a:srgbClr>
              </a:gs>
              <a:gs pos="100000">
                <a:srgbClr val="0F5C46">
                  <a:alpha val="78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429" name="图形 42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572000"/>
            <a:ext cx="12192000" cy="2286000"/>
          </a:xfrm>
          <a:prstGeom prst="rect">
            <a:avLst/>
          </a:prstGeom>
          <a:ln/>
        </p:spPr>
      </p:pic>
      <p:sp>
        <p:nvSpPr>
          <p:cNvPr id="430" name="矩形: 圆角 429"/>
          <p:cNvSpPr/>
          <p:nvPr/>
        </p:nvSpPr>
        <p:spPr>
          <a:xfrm>
            <a:off x="5143500" y="1771650"/>
            <a:ext cx="1905000" cy="1905000"/>
          </a:xfrm>
          <a:prstGeom prst="roundRect">
            <a:avLst>
              <a:gd name="adj" fmla="val 499500"/>
            </a:avLst>
          </a:prstGeom>
          <a:solidFill>
            <a:srgbClr val="FFFFFF">
              <a:alpha val="12000"/>
            </a:srgbClr>
          </a:solidFill>
          <a:ln w="508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1" name="文本框 430" descr="{&quot;isTemplate&quot;:true,&quot;type&quot;:&quot;text&quot;}"/>
          <p:cNvSpPr txBox="1"/>
          <p:nvPr/>
        </p:nvSpPr>
        <p:spPr>
          <a:xfrm>
            <a:off x="5514975" y="2171700"/>
            <a:ext cx="1171575" cy="11049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DIN Alternate"/>
                <a:ea typeface="DIN Alternate"/>
              </a:rPr>
              <a:t>10</a:t>
            </a:r>
            <a:endParaRPr/>
          </a:p>
        </p:txBody>
      </p:sp>
      <p:sp>
        <p:nvSpPr>
          <p:cNvPr id="432" name="文本框 431" descr="{&quot;isTemplate&quot;:true,&quot;type&quot;:&quot;text&quot;}"/>
          <p:cNvSpPr txBox="1"/>
          <p:nvPr/>
        </p:nvSpPr>
        <p:spPr>
          <a:xfrm>
            <a:off x="3695700" y="4019550"/>
            <a:ext cx="4800600" cy="6477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effectLst>
                  <a:outerShdw blurRad="171450" dist="38100" dir="5400000">
                    <a:srgbClr val="000000">
                      <a:alpha val="35000"/>
                    </a:srgbClr>
                  </a:outerShdw>
                </a:effectLst>
                <a:latin typeface="Source Han Sans SC"/>
                <a:ea typeface="Source Han Sans SC"/>
              </a:rPr>
              <a:t>十、合规落地与实施</a:t>
            </a:r>
            <a:endParaRPr/>
          </a:p>
        </p:txBody>
      </p:sp>
      <p:sp>
        <p:nvSpPr>
          <p:cNvPr id="433" name="文本框 432" descr="{&quot;isTemplate&quot;:true,&quot;type&quot;:&quot;text&quot;}"/>
          <p:cNvSpPr txBox="1"/>
          <p:nvPr/>
        </p:nvSpPr>
        <p:spPr>
          <a:xfrm>
            <a:off x="4381500" y="4838700"/>
            <a:ext cx="343852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法务合规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四阶段落地</a:t>
            </a:r>
            <a:r>
              <a:rPr lang="en-US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650" spc="150">
                <a:solidFill>
                  <a:srgbClr val="FFFFFF">
                    <a:alpha val="82000"/>
                  </a:srgbClr>
                </a:solidFill>
                <a:latin typeface="Source Han Sans SC"/>
                <a:ea typeface="Source Han Sans SC"/>
              </a:rPr>
              <a:t>风险可控</a:t>
            </a:r>
            <a:endParaRPr/>
          </a:p>
        </p:txBody>
      </p:sp>
      <p:sp>
        <p:nvSpPr>
          <p:cNvPr id="434" name="文本框 433" descr="{&quot;isTemplate&quot;:true,&quot;type&quot;:&quot;text&quot;}"/>
          <p:cNvSpPr txBox="1"/>
          <p:nvPr/>
        </p:nvSpPr>
        <p:spPr>
          <a:xfrm>
            <a:off x="-1" y="6229350"/>
            <a:ext cx="12191999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叁竹</a:t>
            </a: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× </a:t>
            </a: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湖外</a:t>
            </a:r>
            <a:r>
              <a:rPr lang="en-US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 </a:t>
            </a:r>
            <a:r>
              <a:rPr lang="zh-CN" sz="1125" dirty="0">
                <a:solidFill>
                  <a:srgbClr val="FFFFFF">
                    <a:alpha val="60000"/>
                  </a:srgbClr>
                </a:solidFill>
                <a:latin typeface="Source Han Sans SC"/>
                <a:ea typeface="Source Han Sans SC"/>
              </a:rPr>
              <a:t>校企合作商业计划书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background: '#F4F9F6', fontFamily: &quot;'Source Han Sans SC', 'Microsoft YaHei', sans-serif&quot; }}&gt;&#10;  &lt;Box style={{ position: 'absolute', top: 0, left: 0, right: 0, height: 110, paddingLeft: 60, paddingRight: 60, flexDirection: 'row', alignItems: 'center' }}&gt;&#10;    &lt;Box style={{ width: 6, height: 44, background: '#0F5C46', borderRadius: 3, marginRight: 18 }} /&gt;&#10;    &lt;Text style={{ fontSize: 34, fontWeight: 'bold', color: '#1C2B24' }}&gt;合规管控与分阶段落地步骤&lt;/Text&gt;&#10;  &lt;/Box&gt;&#10;&#10;  &lt;Box style={{ position: 'absolute', top: 124, left: 60, right: 60, bottom: 64, flexDirection: 'row', gap: 24 }}&gt;&#10;    {/* 左：四维合规 */}&#10;    &lt;Box style={{ flex: 1, flexDirection: 'column', gap: 12 }}&gt;&#10;      &lt;Text style={{ fontSize: 20, fontWeight: 'bold', color: '#0F5C46' }}&gt;（一）合规风险管控&lt;/Text&gt;&#10;      {[&#10;        ['资产合规', '场地仅校内台账备案、不抵充出资，签书面无偿配套协议；协商定价过程纪要归档留存。'],&#10;        ['股权财务合规', '独立对公账户，每季度出具财务报表供湖外查阅；大额支出股东协商，入股资金专款专用。'],&#10;        ['办学鉴定合规', '培训考评严格遵循人社、教育标准，配合资质年审与现场核查。'],&#10;        ['历史合作区分', '明确过往仅口头意向、无生效协议，全部权责以本次增资协议、补充协议、新章程为准。'],&#10;      ].map((c, i) =&gt; (&#10;        &lt;Box key={i} style={{ background: '#FFFFFF', borderRadius: 12, padding: '12px 16px', boxShadow: '0 4px 14px rgba(15,92,70,0.08)', flexDirection: 'row', gap: 12, alignItems: 'flex-start' }}&gt;&#10;          &lt;FAIcon name='shield' style={{ fill: '#2E9E78', width: 24, height: 24, marginTop: 2 }} /&gt;&#10;          &lt;Box&gt;&#10;            &lt;Text style={{ fontSize: 17, fontWeight: 'bold', color: '#1C2B24' }}&gt;{c[0]}&lt;/Text&gt;&#10;            &lt;Text style={{ fontSize: 14.5, color: '#3A463F', lineHeight: 1.5 }}&gt;{c[1]}&lt;/Text&gt;&#10;          &lt;/Box&gt;&#10;        &lt;/Box&gt;&#10;      ))}&#10;    &lt;/Box&gt;&#10;&#10;    {/* 右：四阶段落地 */}&#10;    &lt;Box style={{ flex: 1, flexDirection: 'column', gap: 10 }}&gt;&#10;      &lt;Text style={{ fontSize: 20, fontWeight: 'bold', color: '#0A2B4D' }}&gt;（二）分阶段落地步骤&lt;/Text&gt;&#10;      {[&#10;        ['第一阶段', '1 个月内', '场地校内备案、院校内部审批；划定区域出平面图；估值纪要归档；叁竹股东会表决 1200 万方案。'],&#10;        ['第二阶段', '1–2 个月', '签增资扩股协议、场地无偿配套协议及新章程；湖外首期 720 万实缴；工商变更，场地交付入驻。'],&#10;        ['第三阶段', '同步推进', '以湖外为主体申报多工种省级鉴定资质；标准化考点改造；平台迭代；建立季度股东对账机制。'],&#10;        ['第四阶段', '长期常态化', '省内网点全面落地，对外输出标准化康养培养模式，拓展全国机构咨询与业务布局。'],&#10;      ].map((s, i) =&gt; (&#10;        &lt;Box key={i} style={{ background: '#FFFFFF', borderRadius: 12, padding: '12px 16px', boxShadow: '0 4px 14px rgba(15,92,70,0.08)', flex: 1, flexDirection: 'row', gap: 12, alignItems: 'center' }}&gt;&#10;          &lt;Box style={{ width: 46, height: 46, borderRadius: 999, background: 'linear-gradient(135deg,#0F5C46,#0A2B4D)', justifyContent: 'center', alignItems: 'center' }}&gt;&#10;            &lt;Text style={{ color: '#FFFFFF', fontSize: 20, fontWeight: 'bold', fontFamily: &quot;'DIN Alternate','Inter',sans-serif&quot; }}&gt;{i + 1}&lt;/Text&gt;&#10;          &lt;/Box&gt;&#10;          &lt;Box style={{ flex: 1 }}&gt;&#10;            &lt;Text style={{ fontSize: 16.5, fontWeight: 'bold', color: '#0F5C46' }}&gt;{s[0]} &lt;Text style={{ color: '#5C6B63', fontWeight: 'normal', fontSize: 14 }}&gt;· {s[1]}&lt;/Text&gt;&lt;/Text&gt;&#10;            &lt;Text style={{ fontSize: 14, color: '#3A463F', lineHeight: 1.45, marginTop: 2 }}&gt;{s[2]}&lt;/Text&gt;&#10;          &lt;/Box&gt;&#10;        &lt;/Box&gt;&#10;      ))}&#10;    &lt;/Box&gt;&#10;  &lt;/Box&gt;&#10;&#10;  &lt;Box style={{ position: 'absolute', bottom: 0, left: 0, right: 0, height: 58, paddingLeft: 60, paddingRight: 60, flexDirection: 'row', alignItems: 'center' }}&gt;&#10;    &lt;Box style={{ flex: 1 }} /&gt;&#10;    &lt;Text style={{ fontSize: 14, color: '#5C6B63', textAlign: 'center' }}&gt;叁竹 × 湖外 校企合作商业计划书&lt;/Text&gt;&#10;    &lt;Box style={{ flex: 1, alignItems: 'flex-end' }}&gt;&#10;      &lt;Text style={{ fontSize: 14, color: '#5C6B63' }}&gt;26 / 27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矩形 4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9F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7" name="矩形: 圆角 436"/>
          <p:cNvSpPr/>
          <p:nvPr/>
        </p:nvSpPr>
        <p:spPr>
          <a:xfrm>
            <a:off x="571500" y="314325"/>
            <a:ext cx="57150" cy="419100"/>
          </a:xfrm>
          <a:prstGeom prst="roundRect">
            <a:avLst>
              <a:gd name="adj" fmla="val 50000"/>
            </a:avLst>
          </a:prstGeom>
          <a:solidFill>
            <a:srgbClr val="0F5C4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38" name="文本框 437" descr="{&quot;isTemplate&quot;:true,&quot;type&quot;:&quot;text&quot;}"/>
          <p:cNvSpPr txBox="1"/>
          <p:nvPr/>
        </p:nvSpPr>
        <p:spPr>
          <a:xfrm>
            <a:off x="800100" y="333375"/>
            <a:ext cx="3886200" cy="3905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C2B24"/>
                </a:solidFill>
                <a:latin typeface="Source Han Sans SC"/>
                <a:ea typeface="Source Han Sans SC"/>
              </a:rPr>
              <a:t>合规管控与分阶段落地步骤</a:t>
            </a:r>
            <a:endParaRPr/>
          </a:p>
        </p:txBody>
      </p:sp>
      <p:sp>
        <p:nvSpPr>
          <p:cNvPr id="439" name="文本框 438" descr="{&quot;isTemplate&quot;:true,&quot;type&quot;:&quot;text&quot;}"/>
          <p:cNvSpPr txBox="1"/>
          <p:nvPr/>
        </p:nvSpPr>
        <p:spPr>
          <a:xfrm>
            <a:off x="571500" y="1181100"/>
            <a:ext cx="54102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F5C46"/>
                </a:solidFill>
                <a:latin typeface="Source Han Sans SC"/>
                <a:ea typeface="Source Han Sans SC"/>
              </a:rPr>
              <a:t>（一）合规风险管控</a:t>
            </a:r>
            <a:endParaRPr/>
          </a:p>
        </p:txBody>
      </p:sp>
      <p:sp>
        <p:nvSpPr>
          <p:cNvPr id="440" name="矩形: 圆角 439"/>
          <p:cNvSpPr/>
          <p:nvPr/>
        </p:nvSpPr>
        <p:spPr>
          <a:xfrm>
            <a:off x="571500" y="1524000"/>
            <a:ext cx="5410200" cy="933450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41" name="图形 440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1657350"/>
            <a:ext cx="228600" cy="228600"/>
          </a:xfrm>
          <a:prstGeom prst="rect">
            <a:avLst/>
          </a:prstGeom>
          <a:ln/>
        </p:spPr>
      </p:pic>
      <p:sp>
        <p:nvSpPr>
          <p:cNvPr id="442" name="文本框 441" descr="{&quot;isTemplate&quot;:true,&quot;type&quot;:&quot;text&quot;}"/>
          <p:cNvSpPr txBox="1"/>
          <p:nvPr/>
        </p:nvSpPr>
        <p:spPr>
          <a:xfrm>
            <a:off x="1047750" y="1638300"/>
            <a:ext cx="47815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C2B24"/>
                </a:solidFill>
                <a:latin typeface="Source Han Sans SC"/>
                <a:ea typeface="Source Han Sans SC"/>
              </a:rPr>
              <a:t>资产合规</a:t>
            </a:r>
            <a:endParaRPr/>
          </a:p>
        </p:txBody>
      </p:sp>
      <p:sp>
        <p:nvSpPr>
          <p:cNvPr id="443" name="文本框 442" descr="{&quot;isTemplate&quot;:true,&quot;type&quot;:&quot;text&quot;}"/>
          <p:cNvSpPr txBox="1"/>
          <p:nvPr/>
        </p:nvSpPr>
        <p:spPr>
          <a:xfrm>
            <a:off x="1047750" y="1838325"/>
            <a:ext cx="47815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088">
                <a:solidFill>
                  <a:srgbClr val="3A463F"/>
                </a:solidFill>
                <a:latin typeface="Source Han Sans SC"/>
                <a:ea typeface="Source Han Sans SC"/>
              </a:rPr>
              <a:t>场地仅校内台账备案、不抵充出资，签书面无偿配套协议；协商定价过程纪要归档留存。</a:t>
            </a:r>
            <a:endParaRPr/>
          </a:p>
        </p:txBody>
      </p:sp>
      <p:sp>
        <p:nvSpPr>
          <p:cNvPr id="444" name="矩形: 圆角 443"/>
          <p:cNvSpPr/>
          <p:nvPr/>
        </p:nvSpPr>
        <p:spPr>
          <a:xfrm>
            <a:off x="571500" y="2571750"/>
            <a:ext cx="5410200" cy="933450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45" name="图形 44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2705100"/>
            <a:ext cx="228600" cy="228600"/>
          </a:xfrm>
          <a:prstGeom prst="rect">
            <a:avLst/>
          </a:prstGeom>
          <a:ln/>
        </p:spPr>
      </p:pic>
      <p:sp>
        <p:nvSpPr>
          <p:cNvPr id="446" name="文本框 445" descr="{&quot;isTemplate&quot;:true,&quot;type&quot;:&quot;text&quot;}"/>
          <p:cNvSpPr txBox="1"/>
          <p:nvPr/>
        </p:nvSpPr>
        <p:spPr>
          <a:xfrm>
            <a:off x="1047750" y="2686050"/>
            <a:ext cx="47815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C2B24"/>
                </a:solidFill>
                <a:latin typeface="Source Han Sans SC"/>
                <a:ea typeface="Source Han Sans SC"/>
              </a:rPr>
              <a:t>股权财务合规</a:t>
            </a:r>
            <a:endParaRPr/>
          </a:p>
        </p:txBody>
      </p:sp>
      <p:sp>
        <p:nvSpPr>
          <p:cNvPr id="447" name="文本框 446" descr="{&quot;isTemplate&quot;:true,&quot;type&quot;:&quot;text&quot;}"/>
          <p:cNvSpPr txBox="1"/>
          <p:nvPr/>
        </p:nvSpPr>
        <p:spPr>
          <a:xfrm>
            <a:off x="1047750" y="2886075"/>
            <a:ext cx="47815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088">
                <a:solidFill>
                  <a:srgbClr val="3A463F"/>
                </a:solidFill>
                <a:latin typeface="Source Han Sans SC"/>
                <a:ea typeface="Source Han Sans SC"/>
              </a:rPr>
              <a:t>独立对公账户，每季度出具财务报表供湖外查阅；大额支出股东协商，入股资金专款专用。</a:t>
            </a:r>
            <a:endParaRPr/>
          </a:p>
        </p:txBody>
      </p:sp>
      <p:sp>
        <p:nvSpPr>
          <p:cNvPr id="448" name="矩形: 圆角 447"/>
          <p:cNvSpPr/>
          <p:nvPr/>
        </p:nvSpPr>
        <p:spPr>
          <a:xfrm>
            <a:off x="571500" y="3619500"/>
            <a:ext cx="5410200" cy="685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49" name="图形 44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3752850"/>
            <a:ext cx="228600" cy="228600"/>
          </a:xfrm>
          <a:prstGeom prst="rect">
            <a:avLst/>
          </a:prstGeom>
          <a:ln/>
        </p:spPr>
      </p:pic>
      <p:sp>
        <p:nvSpPr>
          <p:cNvPr id="450" name="文本框 449" descr="{&quot;isTemplate&quot;:true,&quot;type&quot;:&quot;text&quot;}"/>
          <p:cNvSpPr txBox="1"/>
          <p:nvPr/>
        </p:nvSpPr>
        <p:spPr>
          <a:xfrm>
            <a:off x="1066800" y="3733800"/>
            <a:ext cx="38671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C2B24"/>
                </a:solidFill>
                <a:latin typeface="Source Han Sans SC"/>
                <a:ea typeface="Source Han Sans SC"/>
              </a:rPr>
              <a:t>办学鉴定合规</a:t>
            </a:r>
            <a:endParaRPr/>
          </a:p>
        </p:txBody>
      </p:sp>
      <p:sp>
        <p:nvSpPr>
          <p:cNvPr id="451" name="文本框 450" descr="{&quot;isTemplate&quot;:true,&quot;type&quot;:&quot;text&quot;}"/>
          <p:cNvSpPr txBox="1"/>
          <p:nvPr/>
        </p:nvSpPr>
        <p:spPr>
          <a:xfrm>
            <a:off x="1066800" y="3933825"/>
            <a:ext cx="3867150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50000"/>
              </a:lnSpc>
            </a:pPr>
            <a:r>
              <a:rPr lang="zh-CN" sz="1088">
                <a:solidFill>
                  <a:srgbClr val="3A463F"/>
                </a:solidFill>
                <a:latin typeface="Source Han Sans SC"/>
                <a:ea typeface="Source Han Sans SC"/>
              </a:rPr>
              <a:t>培训考评严格遵循人社、教育标准，配合资质年审与现场核查。</a:t>
            </a:r>
            <a:endParaRPr/>
          </a:p>
        </p:txBody>
      </p:sp>
      <p:sp>
        <p:nvSpPr>
          <p:cNvPr id="452" name="矩形: 圆角 451"/>
          <p:cNvSpPr/>
          <p:nvPr/>
        </p:nvSpPr>
        <p:spPr>
          <a:xfrm>
            <a:off x="571500" y="4419600"/>
            <a:ext cx="5410200" cy="933450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453" name="图形 452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4552950"/>
            <a:ext cx="228600" cy="228600"/>
          </a:xfrm>
          <a:prstGeom prst="rect">
            <a:avLst/>
          </a:prstGeom>
          <a:ln/>
        </p:spPr>
      </p:pic>
      <p:sp>
        <p:nvSpPr>
          <p:cNvPr id="454" name="文本框 453" descr="{&quot;isTemplate&quot;:true,&quot;type&quot;:&quot;text&quot;}"/>
          <p:cNvSpPr txBox="1"/>
          <p:nvPr/>
        </p:nvSpPr>
        <p:spPr>
          <a:xfrm>
            <a:off x="1047750" y="4533900"/>
            <a:ext cx="4781550" cy="2000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1C2B24"/>
                </a:solidFill>
                <a:latin typeface="Source Han Sans SC"/>
                <a:ea typeface="Source Han Sans SC"/>
              </a:rPr>
              <a:t>历史合作区分</a:t>
            </a:r>
            <a:endParaRPr/>
          </a:p>
        </p:txBody>
      </p:sp>
      <p:sp>
        <p:nvSpPr>
          <p:cNvPr id="455" name="文本框 454" descr="{&quot;isTemplate&quot;:true,&quot;type&quot;:&quot;text&quot;}"/>
          <p:cNvSpPr txBox="1"/>
          <p:nvPr/>
        </p:nvSpPr>
        <p:spPr>
          <a:xfrm>
            <a:off x="1047750" y="4733925"/>
            <a:ext cx="4781550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50000"/>
              </a:lnSpc>
            </a:pPr>
            <a:r>
              <a:rPr lang="zh-CN" sz="1088">
                <a:solidFill>
                  <a:srgbClr val="3A463F"/>
                </a:solidFill>
                <a:latin typeface="Source Han Sans SC"/>
                <a:ea typeface="Source Han Sans SC"/>
              </a:rPr>
              <a:t>明确过往仅口头意向、无生效协议，全部权责以本次增资协议、补充协议、新章程为准。</a:t>
            </a:r>
            <a:endParaRPr/>
          </a:p>
        </p:txBody>
      </p:sp>
      <p:sp>
        <p:nvSpPr>
          <p:cNvPr id="456" name="文本框 455" descr="{&quot;isTemplate&quot;:true,&quot;type&quot;:&quot;text&quot;}"/>
          <p:cNvSpPr txBox="1"/>
          <p:nvPr/>
        </p:nvSpPr>
        <p:spPr>
          <a:xfrm>
            <a:off x="6210300" y="1181100"/>
            <a:ext cx="5410200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A2B4D"/>
                </a:solidFill>
                <a:latin typeface="Source Han Sans SC"/>
                <a:ea typeface="Source Han Sans SC"/>
              </a:rPr>
              <a:t>（二）分阶段落地步骤</a:t>
            </a:r>
            <a:endParaRPr/>
          </a:p>
        </p:txBody>
      </p:sp>
      <p:sp>
        <p:nvSpPr>
          <p:cNvPr id="457" name="矩形: 圆角 456"/>
          <p:cNvSpPr/>
          <p:nvPr/>
        </p:nvSpPr>
        <p:spPr>
          <a:xfrm>
            <a:off x="6210300" y="1504950"/>
            <a:ext cx="5410200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8" name="矩形: 圆角 457"/>
          <p:cNvSpPr/>
          <p:nvPr/>
        </p:nvSpPr>
        <p:spPr>
          <a:xfrm>
            <a:off x="6362700" y="1847850"/>
            <a:ext cx="438150" cy="438150"/>
          </a:xfrm>
          <a:prstGeom prst="roundRect">
            <a:avLst>
              <a:gd name="adj" fmla="val 2171739"/>
            </a:avLst>
          </a:prstGeom>
          <a:gradFill>
            <a:gsLst>
              <a:gs pos="0">
                <a:srgbClr val="0F5C46"/>
              </a:gs>
              <a:gs pos="100000">
                <a:srgbClr val="0A2B4D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59" name="文本框 458" descr="{&quot;isTemplate&quot;:true,&quot;type&quot;:&quot;text&quot;}"/>
          <p:cNvSpPr txBox="1"/>
          <p:nvPr/>
        </p:nvSpPr>
        <p:spPr>
          <a:xfrm>
            <a:off x="6524625" y="1952625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DIN Alternate"/>
                <a:ea typeface="DIN Alternate"/>
              </a:rPr>
              <a:t>1</a:t>
            </a:r>
            <a:endParaRPr/>
          </a:p>
        </p:txBody>
      </p:sp>
      <p:sp>
        <p:nvSpPr>
          <p:cNvPr id="460" name="文本框 459" descr="{&quot;isTemplate&quot;:true,&quot;type&quot;:&quot;text&quot;}"/>
          <p:cNvSpPr txBox="1"/>
          <p:nvPr/>
        </p:nvSpPr>
        <p:spPr>
          <a:xfrm>
            <a:off x="6915150" y="1724025"/>
            <a:ext cx="45529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0F5C46"/>
                </a:solidFill>
                <a:latin typeface="Source Han Sans SC"/>
                <a:ea typeface="Source Han Sans SC"/>
              </a:rPr>
              <a:t>第一阶段</a:t>
            </a:r>
            <a:r>
              <a:rPr lang="en-US" sz="1238" b="1">
                <a:solidFill>
                  <a:srgbClr val="0F5C46"/>
                </a:solidFill>
                <a:latin typeface="Source Han Sans SC"/>
                <a:ea typeface="Source Han Sans SC"/>
              </a:rPr>
              <a:t> · 1 </a:t>
            </a:r>
            <a:r>
              <a:rPr lang="zh-CN" sz="1238" b="1">
                <a:solidFill>
                  <a:srgbClr val="0F5C46"/>
                </a:solidFill>
                <a:latin typeface="Source Han Sans SC"/>
                <a:ea typeface="Source Han Sans SC"/>
              </a:rPr>
              <a:t>个月内</a:t>
            </a:r>
            <a:endParaRPr/>
          </a:p>
        </p:txBody>
      </p:sp>
      <p:sp>
        <p:nvSpPr>
          <p:cNvPr id="461" name="文本框 460" descr="{&quot;isTemplate&quot;:true,&quot;type&quot;:&quot;text&quot;}"/>
          <p:cNvSpPr txBox="1"/>
          <p:nvPr/>
        </p:nvSpPr>
        <p:spPr>
          <a:xfrm>
            <a:off x="6915150" y="1933575"/>
            <a:ext cx="45529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050">
                <a:solidFill>
                  <a:srgbClr val="3A463F"/>
                </a:solidFill>
                <a:latin typeface="Source Han Sans SC"/>
                <a:ea typeface="Source Han Sans SC"/>
              </a:rPr>
              <a:t>场地校内备案、院校内部审批；划定区域出平面图；估值纪要归档；叁竹股东会表决</a:t>
            </a:r>
            <a:r>
              <a:rPr lang="en-US" sz="1050">
                <a:solidFill>
                  <a:srgbClr val="3A463F"/>
                </a:solidFill>
                <a:latin typeface="Source Han Sans SC"/>
                <a:ea typeface="Source Han Sans SC"/>
              </a:rPr>
              <a:t> 1200 </a:t>
            </a:r>
            <a:r>
              <a:rPr lang="zh-CN" sz="1050">
                <a:solidFill>
                  <a:srgbClr val="3A463F"/>
                </a:solidFill>
                <a:latin typeface="Source Han Sans SC"/>
                <a:ea typeface="Source Han Sans SC"/>
              </a:rPr>
              <a:t>万方案。</a:t>
            </a:r>
            <a:endParaRPr/>
          </a:p>
        </p:txBody>
      </p:sp>
      <p:sp>
        <p:nvSpPr>
          <p:cNvPr id="462" name="矩形: 圆角 461"/>
          <p:cNvSpPr/>
          <p:nvPr/>
        </p:nvSpPr>
        <p:spPr>
          <a:xfrm>
            <a:off x="6210300" y="2714625"/>
            <a:ext cx="5410200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63" name="矩形: 圆角 462"/>
          <p:cNvSpPr/>
          <p:nvPr/>
        </p:nvSpPr>
        <p:spPr>
          <a:xfrm>
            <a:off x="6362700" y="3057525"/>
            <a:ext cx="438150" cy="438150"/>
          </a:xfrm>
          <a:prstGeom prst="roundRect">
            <a:avLst>
              <a:gd name="adj" fmla="val 2171739"/>
            </a:avLst>
          </a:prstGeom>
          <a:gradFill>
            <a:gsLst>
              <a:gs pos="0">
                <a:srgbClr val="0F5C46"/>
              </a:gs>
              <a:gs pos="100000">
                <a:srgbClr val="0A2B4D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64" name="文本框 463" descr="{&quot;isTemplate&quot;:true,&quot;type&quot;:&quot;text&quot;}"/>
          <p:cNvSpPr txBox="1"/>
          <p:nvPr/>
        </p:nvSpPr>
        <p:spPr>
          <a:xfrm>
            <a:off x="6524625" y="3162300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DIN Alternate"/>
                <a:ea typeface="DIN Alternate"/>
              </a:rPr>
              <a:t>2</a:t>
            </a:r>
            <a:endParaRPr/>
          </a:p>
        </p:txBody>
      </p:sp>
      <p:sp>
        <p:nvSpPr>
          <p:cNvPr id="465" name="文本框 464" descr="{&quot;isTemplate&quot;:true,&quot;type&quot;:&quot;text&quot;}"/>
          <p:cNvSpPr txBox="1"/>
          <p:nvPr/>
        </p:nvSpPr>
        <p:spPr>
          <a:xfrm>
            <a:off x="6915150" y="2933700"/>
            <a:ext cx="45529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0F5C46"/>
                </a:solidFill>
                <a:latin typeface="Source Han Sans SC"/>
                <a:ea typeface="Source Han Sans SC"/>
              </a:rPr>
              <a:t>第二阶段</a:t>
            </a:r>
            <a:r>
              <a:rPr lang="en-US" sz="1238" b="1">
                <a:solidFill>
                  <a:srgbClr val="0F5C46"/>
                </a:solidFill>
                <a:latin typeface="Source Han Sans SC"/>
                <a:ea typeface="Source Han Sans SC"/>
              </a:rPr>
              <a:t> · 1–2 </a:t>
            </a:r>
            <a:r>
              <a:rPr lang="zh-CN" sz="1238" b="1">
                <a:solidFill>
                  <a:srgbClr val="0F5C46"/>
                </a:solidFill>
                <a:latin typeface="Source Han Sans SC"/>
                <a:ea typeface="Source Han Sans SC"/>
              </a:rPr>
              <a:t>个月</a:t>
            </a:r>
            <a:endParaRPr/>
          </a:p>
        </p:txBody>
      </p:sp>
      <p:sp>
        <p:nvSpPr>
          <p:cNvPr id="466" name="文本框 465" descr="{&quot;isTemplate&quot;:true,&quot;type&quot;:&quot;text&quot;}"/>
          <p:cNvSpPr txBox="1"/>
          <p:nvPr/>
        </p:nvSpPr>
        <p:spPr>
          <a:xfrm>
            <a:off x="6915150" y="3143250"/>
            <a:ext cx="45529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050">
                <a:solidFill>
                  <a:srgbClr val="3A463F"/>
                </a:solidFill>
                <a:latin typeface="Source Han Sans SC"/>
                <a:ea typeface="Source Han Sans SC"/>
              </a:rPr>
              <a:t>签增资扩股协议、场地无偿配套协议及新章程；湖外首期</a:t>
            </a:r>
            <a:r>
              <a:rPr lang="en-US" sz="1050">
                <a:solidFill>
                  <a:srgbClr val="3A463F"/>
                </a:solidFill>
                <a:latin typeface="Source Han Sans SC"/>
                <a:ea typeface="Source Han Sans SC"/>
              </a:rPr>
              <a:t> 720 </a:t>
            </a:r>
            <a:r>
              <a:rPr lang="zh-CN" sz="1050">
                <a:solidFill>
                  <a:srgbClr val="3A463F"/>
                </a:solidFill>
                <a:latin typeface="Source Han Sans SC"/>
                <a:ea typeface="Source Han Sans SC"/>
              </a:rPr>
              <a:t>万实缴；工商变更，场地交付入驻。</a:t>
            </a:r>
            <a:endParaRPr/>
          </a:p>
        </p:txBody>
      </p:sp>
      <p:sp>
        <p:nvSpPr>
          <p:cNvPr id="467" name="矩形: 圆角 466"/>
          <p:cNvSpPr/>
          <p:nvPr/>
        </p:nvSpPr>
        <p:spPr>
          <a:xfrm>
            <a:off x="6210300" y="3924300"/>
            <a:ext cx="5410200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68" name="矩形: 圆角 467"/>
          <p:cNvSpPr/>
          <p:nvPr/>
        </p:nvSpPr>
        <p:spPr>
          <a:xfrm>
            <a:off x="6362700" y="4267200"/>
            <a:ext cx="438150" cy="438150"/>
          </a:xfrm>
          <a:prstGeom prst="roundRect">
            <a:avLst>
              <a:gd name="adj" fmla="val 2171739"/>
            </a:avLst>
          </a:prstGeom>
          <a:gradFill>
            <a:gsLst>
              <a:gs pos="0">
                <a:srgbClr val="0F5C46"/>
              </a:gs>
              <a:gs pos="100000">
                <a:srgbClr val="0A2B4D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69" name="文本框 468" descr="{&quot;isTemplate&quot;:true,&quot;type&quot;:&quot;text&quot;}"/>
          <p:cNvSpPr txBox="1"/>
          <p:nvPr/>
        </p:nvSpPr>
        <p:spPr>
          <a:xfrm>
            <a:off x="6524625" y="4371975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DIN Alternate"/>
                <a:ea typeface="DIN Alternate"/>
              </a:rPr>
              <a:t>3</a:t>
            </a:r>
            <a:endParaRPr/>
          </a:p>
        </p:txBody>
      </p:sp>
      <p:sp>
        <p:nvSpPr>
          <p:cNvPr id="470" name="文本框 469" descr="{&quot;isTemplate&quot;:true,&quot;type&quot;:&quot;text&quot;}"/>
          <p:cNvSpPr txBox="1"/>
          <p:nvPr/>
        </p:nvSpPr>
        <p:spPr>
          <a:xfrm>
            <a:off x="6915150" y="4143375"/>
            <a:ext cx="45529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0F5C46"/>
                </a:solidFill>
                <a:latin typeface="Source Han Sans SC"/>
                <a:ea typeface="Source Han Sans SC"/>
              </a:rPr>
              <a:t>第三阶段</a:t>
            </a:r>
            <a:r>
              <a:rPr lang="en-US" sz="1238" b="1">
                <a:solidFill>
                  <a:srgbClr val="0F5C46"/>
                </a:solidFill>
                <a:latin typeface="Source Han Sans SC"/>
                <a:ea typeface="Source Han Sans SC"/>
              </a:rPr>
              <a:t> · </a:t>
            </a:r>
            <a:r>
              <a:rPr lang="zh-CN" sz="1238" b="1">
                <a:solidFill>
                  <a:srgbClr val="0F5C46"/>
                </a:solidFill>
                <a:latin typeface="Source Han Sans SC"/>
                <a:ea typeface="Source Han Sans SC"/>
              </a:rPr>
              <a:t>同步推进</a:t>
            </a:r>
            <a:endParaRPr/>
          </a:p>
        </p:txBody>
      </p:sp>
      <p:sp>
        <p:nvSpPr>
          <p:cNvPr id="471" name="文本框 470" descr="{&quot;isTemplate&quot;:true,&quot;type&quot;:&quot;text&quot;}"/>
          <p:cNvSpPr txBox="1"/>
          <p:nvPr/>
        </p:nvSpPr>
        <p:spPr>
          <a:xfrm>
            <a:off x="6915150" y="4352925"/>
            <a:ext cx="45529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050">
                <a:solidFill>
                  <a:srgbClr val="3A463F"/>
                </a:solidFill>
                <a:latin typeface="Source Han Sans SC"/>
                <a:ea typeface="Source Han Sans SC"/>
              </a:rPr>
              <a:t>以湖外为主体申报多工种省级鉴定资质；标准化考点改造；平台迭代；建立季度股东对账机制。</a:t>
            </a:r>
            <a:endParaRPr/>
          </a:p>
        </p:txBody>
      </p:sp>
      <p:sp>
        <p:nvSpPr>
          <p:cNvPr id="472" name="矩形: 圆角 471"/>
          <p:cNvSpPr/>
          <p:nvPr/>
        </p:nvSpPr>
        <p:spPr>
          <a:xfrm>
            <a:off x="6210300" y="5133975"/>
            <a:ext cx="5410200" cy="1114425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blurRad="133350" dist="38100" dir="5400000">
              <a:srgbClr val="0F5C46">
                <a:alpha val="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73" name="矩形: 圆角 472"/>
          <p:cNvSpPr/>
          <p:nvPr/>
        </p:nvSpPr>
        <p:spPr>
          <a:xfrm>
            <a:off x="6362700" y="5476875"/>
            <a:ext cx="438150" cy="438150"/>
          </a:xfrm>
          <a:prstGeom prst="roundRect">
            <a:avLst>
              <a:gd name="adj" fmla="val 2171739"/>
            </a:avLst>
          </a:prstGeom>
          <a:gradFill>
            <a:gsLst>
              <a:gs pos="0">
                <a:srgbClr val="0F5C46"/>
              </a:gs>
              <a:gs pos="100000">
                <a:srgbClr val="0A2B4D"/>
              </a:gs>
            </a:gsLst>
            <a:lin ang="2700000" scaled="1"/>
          </a:gradFill>
          <a:ln/>
        </p:spPr>
        <p:txBody>
          <a:bodyPr/>
          <a:lstStyle/>
          <a:p>
            <a:endParaRPr/>
          </a:p>
        </p:txBody>
      </p:sp>
      <p:sp>
        <p:nvSpPr>
          <p:cNvPr id="474" name="文本框 473" descr="{&quot;isTemplate&quot;:true,&quot;type&quot;:&quot;text&quot;}"/>
          <p:cNvSpPr txBox="1"/>
          <p:nvPr/>
        </p:nvSpPr>
        <p:spPr>
          <a:xfrm>
            <a:off x="6524625" y="5581650"/>
            <a:ext cx="123825" cy="2286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DIN Alternate"/>
                <a:ea typeface="DIN Alternate"/>
              </a:rPr>
              <a:t>4</a:t>
            </a:r>
            <a:endParaRPr/>
          </a:p>
        </p:txBody>
      </p:sp>
      <p:sp>
        <p:nvSpPr>
          <p:cNvPr id="475" name="文本框 474" descr="{&quot;isTemplate&quot;:true,&quot;type&quot;:&quot;text&quot;}"/>
          <p:cNvSpPr txBox="1"/>
          <p:nvPr/>
        </p:nvSpPr>
        <p:spPr>
          <a:xfrm>
            <a:off x="6915150" y="5353050"/>
            <a:ext cx="4552950" cy="190500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0F5C46"/>
                </a:solidFill>
                <a:latin typeface="Source Han Sans SC"/>
                <a:ea typeface="Source Han Sans SC"/>
              </a:rPr>
              <a:t>第四阶段</a:t>
            </a:r>
            <a:r>
              <a:rPr lang="en-US" sz="1238" b="1">
                <a:solidFill>
                  <a:srgbClr val="0F5C46"/>
                </a:solidFill>
                <a:latin typeface="Source Han Sans SC"/>
                <a:ea typeface="Source Han Sans SC"/>
              </a:rPr>
              <a:t> · </a:t>
            </a:r>
            <a:r>
              <a:rPr lang="zh-CN" sz="1238" b="1">
                <a:solidFill>
                  <a:srgbClr val="0F5C46"/>
                </a:solidFill>
                <a:latin typeface="Source Han Sans SC"/>
                <a:ea typeface="Source Han Sans SC"/>
              </a:rPr>
              <a:t>长期常态化</a:t>
            </a:r>
            <a:endParaRPr/>
          </a:p>
        </p:txBody>
      </p:sp>
      <p:sp>
        <p:nvSpPr>
          <p:cNvPr id="476" name="文本框 475" descr="{&quot;isTemplate&quot;:true,&quot;type&quot;:&quot;text&quot;}"/>
          <p:cNvSpPr txBox="1"/>
          <p:nvPr/>
        </p:nvSpPr>
        <p:spPr>
          <a:xfrm>
            <a:off x="6915150" y="5562600"/>
            <a:ext cx="4552950" cy="4667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/>
          <a:p>
            <a:pPr>
              <a:lnSpc>
                <a:spcPct val="145000"/>
              </a:lnSpc>
            </a:pPr>
            <a:r>
              <a:rPr lang="zh-CN" sz="1050">
                <a:solidFill>
                  <a:srgbClr val="3A463F"/>
                </a:solidFill>
                <a:latin typeface="Source Han Sans SC"/>
                <a:ea typeface="Source Han Sans SC"/>
              </a:rPr>
              <a:t>省内网点全面落地，对外输出标准化康养培养模式，拓展全国机构咨询与业务布局。</a:t>
            </a:r>
            <a:endParaRPr/>
          </a:p>
        </p:txBody>
      </p:sp>
      <p:sp>
        <p:nvSpPr>
          <p:cNvPr id="477" name="文本框 476" descr="{&quot;isTemplate&quot;:true,&quot;type&quot;:&quot;text&quot;}"/>
          <p:cNvSpPr txBox="1"/>
          <p:nvPr/>
        </p:nvSpPr>
        <p:spPr>
          <a:xfrm>
            <a:off x="5124450" y="6505575"/>
            <a:ext cx="1952625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叁竹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×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湖外</a:t>
            </a: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 </a:t>
            </a:r>
            <a:r>
              <a:rPr lang="zh-CN" sz="1050">
                <a:solidFill>
                  <a:srgbClr val="5C6B63"/>
                </a:solidFill>
                <a:latin typeface="Source Han Sans SC"/>
                <a:ea typeface="Source Han Sans SC"/>
              </a:rPr>
              <a:t>校企合作商业计划书</a:t>
            </a:r>
            <a:endParaRPr/>
          </a:p>
        </p:txBody>
      </p:sp>
      <p:sp>
        <p:nvSpPr>
          <p:cNvPr id="478" name="文本框 477" descr="{&quot;isTemplate&quot;:true,&quot;type&quot;:&quot;text&quot;}"/>
          <p:cNvSpPr txBox="1"/>
          <p:nvPr/>
        </p:nvSpPr>
        <p:spPr>
          <a:xfrm>
            <a:off x="11163300" y="6505575"/>
            <a:ext cx="457200" cy="16192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en-US" sz="1050">
                <a:solidFill>
                  <a:srgbClr val="5C6B63"/>
                </a:solidFill>
                <a:latin typeface="Source Han Sans SC"/>
                <a:ea typeface="Source Han Sans SC"/>
              </a:rPr>
              <a:t>26 / 27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{0} style={{ width: '1280px', height: '720px', fontFamily: &quot;'Source Han Sans SC', 'Microsoft YaHei', sans-serif&quot; }}&gt;&#10;  {/* 校园实景全屏背景 */}&#10;  &lt;Image src=&quot;assets/hero_gate.png&quot; style={{ position: 'absolute', top: 0, left: 0, width: '100%', height: '100%', objectFit: 'cover' }} /&gt;&#10;&#10;  {/* 深绿半透明蒙版 */}&#10;  &lt;Box style={{ position: 'absolute', top: 0, left: 0, right: 0, bottom: 0, background: 'linear-gradient(180deg, rgba(10,43,77,0.80) 0%, rgba(15,92,70,0.70) 60%, rgba(15,92,70,0.50) 100%)' }} /&gt;&#10;&#10;  {/* 弧形 wave */}&#10;  &lt;Box style={{ position: 'absolute', left: 0, right: 0, bottom: 0, height: 260, overflow: 'hidden' }}&gt;&#10;    &lt;svg width='1280' height='260' viewBox='0 0 1280 260' style={{ position: 'absolute', bottom: 0 }}&gt;&#10;      &lt;path d='M0,120 C320,40 960,200 1280,90 L1280,260 L0,260 Z' fill='rgba(10,43,77,0.45)' /&gt;&#10;      &lt;path d='M0,170 C360,90 920,230 1280,140 L1280,260 L0,260 Z' fill='rgba(10,43,77,0.35)' /&gt;&#10;    &lt;/svg&gt;&#10;  &lt;/Box&gt;&#10;&#10;  {/* 中央内容 */}&#10;  &lt;Box style={{ position: 'absolute', top: 0, left: 0, right: 0, bottom: 0, justifyContent: 'center', alignItems: 'center' }}&gt;&#10;    &lt;Box style={{ width: 96, height: 96, borderRadius: 999, background: 'rgba(255,255,255,0.15)', border: '3px solid rgba(255,255,255,0.35)', justifyContent: 'center', alignItems: 'center' }}&gt;&#10;      &lt;FAIcon name='handshake' style={{ fill: '#7FE3C0', width: 48, height: 48 }} /&gt;&#10;    &lt;/Box&gt;&#10;    &lt;Text style={{ color: '#FFFFFF', fontSize: 52, fontWeight: 'bold', textAlign: 'center', marginTop: 30, textShadow: '0 4px 18px rgba(0,0,0,0.35)' }}&gt;&#10;      共建校园康养产业闭环&#10;    &lt;/Text&gt;&#10;    &lt;Box style={{ width: 120, height: 6, borderRadius: 3, background: '#2E9E78', marginVertical: 26 }} /&gt;&#10;    &lt;Text style={{ color: 'rgba(255,255,255,0.92)', fontSize: 26, textAlign: 'center', letterSpacing: 1 }}&gt;&#10;      共享产教融合长期价值 · 实现校企双向共赢&#10;    &lt;/Text&gt;&#10;    &lt;Text style={{ color: 'rgba(255,255,255,0.85)', fontSize: 22, marginTop: 36 }}&gt;&#10;      叁竹职业培训学校　×　湖南外国语职业学院&#10;    &lt;/Text&gt;&#10;  &lt;/Box&gt;&#10;&#10;  &lt;Text style={{ position: 'absolute', bottom: 48, left: 0, right: 0, textAlign: 'center', color: 'rgba(255,255,255,0.65)', fontSize: 15 }}&gt;&#10;    感谢聆听 · 期待携手共启康养产教融合新篇章&#10;  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图片 479"/>
          <p:cNvPicPr>
            <a:picLocks noChangeAspect="1"/>
          </p:cNvPicPr>
          <p:nvPr/>
        </p:nvPicPr>
        <p:blipFill>
          <a:blip r:embed="rId2"/>
          <a:srcRect t="8894" b="889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81" name="矩形 48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2B4D">
                  <a:alpha val="80000"/>
                </a:srgbClr>
              </a:gs>
              <a:gs pos="60000">
                <a:srgbClr val="0F5C46">
                  <a:alpha val="70000"/>
                </a:srgbClr>
              </a:gs>
              <a:gs pos="100000">
                <a:srgbClr val="0F5C46">
                  <a:alpha val="50000"/>
                </a:srgbClr>
              </a:gs>
            </a:gsLst>
            <a:lin ang="5400000" scaled="1"/>
          </a:gradFill>
          <a:ln/>
        </p:spPr>
        <p:txBody>
          <a:bodyPr/>
          <a:lstStyle/>
          <a:p>
            <a:endParaRPr/>
          </a:p>
        </p:txBody>
      </p:sp>
      <p:pic>
        <p:nvPicPr>
          <p:cNvPr id="482" name="图形 48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381500"/>
            <a:ext cx="12192000" cy="2476500"/>
          </a:xfrm>
          <a:prstGeom prst="rect">
            <a:avLst/>
          </a:prstGeom>
          <a:ln/>
        </p:spPr>
      </p:pic>
      <p:sp>
        <p:nvSpPr>
          <p:cNvPr id="483" name="矩形: 圆角 482"/>
          <p:cNvSpPr/>
          <p:nvPr/>
        </p:nvSpPr>
        <p:spPr>
          <a:xfrm>
            <a:off x="5638800" y="2047875"/>
            <a:ext cx="914400" cy="914400"/>
          </a:xfrm>
          <a:prstGeom prst="roundRect">
            <a:avLst>
              <a:gd name="adj" fmla="val 1040625"/>
            </a:avLst>
          </a:prstGeom>
          <a:solidFill>
            <a:srgbClr val="FFFFFF">
              <a:alpha val="15000"/>
            </a:srgbClr>
          </a:solidFill>
          <a:ln w="38100">
            <a:solidFill>
              <a:srgbClr val="FFFFFF">
                <a:alpha val="35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84" name="图形 48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67400" y="2276475"/>
            <a:ext cx="457200" cy="457200"/>
          </a:xfrm>
          <a:prstGeom prst="rect">
            <a:avLst/>
          </a:prstGeom>
          <a:ln/>
        </p:spPr>
      </p:pic>
      <p:sp>
        <p:nvSpPr>
          <p:cNvPr id="485" name="文本框 484" descr="{&quot;isTemplate&quot;:true,&quot;type&quot;:&quot;text&quot;}"/>
          <p:cNvSpPr txBox="1"/>
          <p:nvPr/>
        </p:nvSpPr>
        <p:spPr>
          <a:xfrm>
            <a:off x="3619500" y="3248025"/>
            <a:ext cx="4953000" cy="600075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3900" b="1">
                <a:solidFill>
                  <a:srgbClr val="FFFFFF"/>
                </a:solidFill>
                <a:effectLst>
                  <a:outerShdw blurRad="171450" dist="38100" dir="5400000">
                    <a:srgbClr val="000000">
                      <a:alpha val="35000"/>
                    </a:srgbClr>
                  </a:outerShdw>
                </a:effectLst>
                <a:latin typeface="Source Han Sans SC"/>
                <a:ea typeface="Source Han Sans SC"/>
              </a:rPr>
              <a:t>共建校园康养产业闭环</a:t>
            </a:r>
            <a:endParaRPr/>
          </a:p>
        </p:txBody>
      </p:sp>
      <p:sp>
        <p:nvSpPr>
          <p:cNvPr id="486" name="矩形: 圆角 485"/>
          <p:cNvSpPr/>
          <p:nvPr/>
        </p:nvSpPr>
        <p:spPr>
          <a:xfrm>
            <a:off x="5524500" y="3848100"/>
            <a:ext cx="1143000" cy="57150"/>
          </a:xfrm>
          <a:prstGeom prst="roundRect">
            <a:avLst>
              <a:gd name="adj" fmla="val 50000"/>
            </a:avLst>
          </a:prstGeom>
          <a:solidFill>
            <a:srgbClr val="2E9E7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7" name="文本框 486" descr="{&quot;isTemplate&quot;:true,&quot;type&quot;:&quot;text&quot;}"/>
          <p:cNvSpPr txBox="1"/>
          <p:nvPr/>
        </p:nvSpPr>
        <p:spPr>
          <a:xfrm>
            <a:off x="3667125" y="3905250"/>
            <a:ext cx="4867275" cy="30480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950" spc="75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共享产教融合长期价值</a:t>
            </a:r>
            <a:r>
              <a:rPr lang="en-US" sz="1950" spc="75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950" spc="75">
                <a:solidFill>
                  <a:srgbClr val="FFFFFF">
                    <a:alpha val="92000"/>
                  </a:srgbClr>
                </a:solidFill>
                <a:latin typeface="Source Han Sans SC"/>
                <a:ea typeface="Source Han Sans SC"/>
              </a:rPr>
              <a:t>实现校企双向共赢</a:t>
            </a:r>
            <a:endParaRPr/>
          </a:p>
        </p:txBody>
      </p:sp>
      <p:sp>
        <p:nvSpPr>
          <p:cNvPr id="488" name="文本框 487" descr="{&quot;isTemplate&quot;:true,&quot;type&quot;:&quot;text&quot;}"/>
          <p:cNvSpPr txBox="1"/>
          <p:nvPr/>
        </p:nvSpPr>
        <p:spPr>
          <a:xfrm>
            <a:off x="4029075" y="4552950"/>
            <a:ext cx="4143375" cy="257175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00000"/>
              </a:lnSpc>
            </a:pPr>
            <a:r>
              <a:rPr lang="zh-CN" sz="1650">
                <a:solidFill>
                  <a:srgbClr val="FFFFFF">
                    <a:alpha val="85000"/>
                  </a:srgbClr>
                </a:solidFill>
                <a:latin typeface="Source Han Sans SC"/>
                <a:ea typeface="Source Han Sans SC"/>
              </a:rPr>
              <a:t>叁竹职业培训学校　×　湖南外国语职业学院</a:t>
            </a:r>
            <a:endParaRPr/>
          </a:p>
        </p:txBody>
      </p:sp>
      <p:sp>
        <p:nvSpPr>
          <p:cNvPr id="489" name="文本框 488" descr="{&quot;isTemplate&quot;:true,&quot;type&quot;:&quot;text&quot;}"/>
          <p:cNvSpPr txBox="1"/>
          <p:nvPr/>
        </p:nvSpPr>
        <p:spPr>
          <a:xfrm>
            <a:off x="-1" y="6229350"/>
            <a:ext cx="12191999" cy="171450"/>
          </a:xfrm>
          <a:prstGeom prst="rect">
            <a:avLst/>
          </a:prstGeom>
        </p:spPr>
        <p:txBody>
          <a:bodyPr wrap="none" lIns="0" tIns="0" rIns="0" bIns="0"/>
          <a:lstStyle/>
          <a:p>
            <a:pPr algn="ctr">
              <a:lnSpc>
                <a:spcPct val="100000"/>
              </a:lnSpc>
            </a:pPr>
            <a:r>
              <a:rPr lang="zh-CN" sz="1125" dirty="0">
                <a:solidFill>
                  <a:srgbClr val="FFFFFF">
                    <a:alpha val="65000"/>
                  </a:srgbClr>
                </a:solidFill>
                <a:latin typeface="Source Han Sans SC"/>
                <a:ea typeface="Source Han Sans SC"/>
              </a:rPr>
              <a:t>感谢聆听</a:t>
            </a:r>
            <a:r>
              <a:rPr lang="en-US" sz="1125" dirty="0">
                <a:solidFill>
                  <a:srgbClr val="FFFFFF">
                    <a:alpha val="65000"/>
                  </a:srgbClr>
                </a:solidFill>
                <a:latin typeface="Source Han Sans SC"/>
                <a:ea typeface="Source Han Sans SC"/>
              </a:rPr>
              <a:t> · </a:t>
            </a:r>
            <a:r>
              <a:rPr lang="zh-CN" sz="1125" dirty="0">
                <a:solidFill>
                  <a:srgbClr val="FFFFFF">
                    <a:alpha val="65000"/>
                  </a:srgbClr>
                </a:solidFill>
                <a:latin typeface="Source Han Sans SC"/>
                <a:ea typeface="Source Han Sans SC"/>
              </a:rPr>
              <a:t>期待携手共启康养产教融合新篇章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5087</Words>
  <Application>Microsoft Office PowerPoint</Application>
  <PresentationFormat>宽屏</PresentationFormat>
  <Paragraphs>377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2" baseType="lpstr">
      <vt:lpstr>DIN Alternate</vt:lpstr>
      <vt:lpstr>Source Han Sans SC</vt:lpstr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友宝 刘</cp:lastModifiedBy>
  <cp:revision>13</cp:revision>
  <dcterms:created xsi:type="dcterms:W3CDTF">2026-08-16T14:08:02Z</dcterms:created>
  <dcterms:modified xsi:type="dcterms:W3CDTF">2026-08-16T06:27:01Z</dcterms:modified>
</cp:coreProperties>
</file>