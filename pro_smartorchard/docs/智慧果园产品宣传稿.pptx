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notesSlides/notesSlide1.xml" Type="http://schemas.openxmlformats.org/officeDocument/2006/relationships/notesSlide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notesSlides/notesSlide23.xml" Type="http://schemas.openxmlformats.org/officeDocument/2006/relationships/notesSlide"/><Relationship Id="rId59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5.xml" Type="http://schemas.openxmlformats.org/officeDocument/2006/relationships/notesSlide"/><Relationship Id="rId61" Target="notesSlides/notesSlide26.xml" Type="http://schemas.openxmlformats.org/officeDocument/2006/relationships/notesSlide"/><Relationship Id="rId62" Target="notesSlides/notesSlide27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今天的产品发布会。今天，我将向大家隆重介绍一款专为苹果种植领域打造的革命性产品——智慧果园。它不仅仅是一个管理工具，更是一个懂苹果的智慧伙伴。我们的目标非常明确：通过科技的力量，让苹果种植变得更省心、更科学，最终帮助大家实现更赚钱的目标。接下来，让我们一起走进智慧果园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介绍将分为八个部分。首先，我们将深入分析当前苹果产业的市场现状与用户痛点。接着，会详细阐述我们产品的独特定位和核心架构。然后，我们将重点展示AI助手、核心功能矩阵以及我们的差异化亮点。最后，通过数据展示使用我们产品后的预期成效，并探讨合作模式。希望能让大家对智慧果园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看到，苹果产业的数字化浪潮已经到来。一方面，行业先行者已经通过部署智慧系统获得了显著的竞争优势，数字化投入呈现爆发式增长。另一方面，国家政策的大力支持和智能硬件的普及，为行业转型提供了前所未有的机遇。无论是大型集团、中型基地还是合作社，都在通过不同的数字化路径，实现成本降低、效率提升和品牌增值。这表明，数字化转型不再是选择题，而是必答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然而，在数字化转型的道路上，管理者们面临着三大核心困境。首先是“看不见”，关键数据分散成孤岛，决策只能凭感觉，风险巨大。其次是“管不住”，面对突发风险，预警滞后，往往错失最佳应对时机。最后是“算不清”，手工汇总报表耗时耗力还容易出错，管理决策缺乏准确的数据支持。这些痛点严重制约了果园的发展和盈利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而对于一线员工来说，挑战同样严峻。许多数字化工具因为操作复杂、网络不稳定、记录繁琐，而被他们贴上了“不好用、用不了、不想用”的标签。正如这位经验丰富的地块负责人所说，“每多一次点击，都是一次额外的负担”。如果工具不能为一线员工减负，反而成为生产力的枷锁，那么数字化转型就无从谈起。这正是我们产品设计的出发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面对这些痛点，我们的产品定位非常清晰：智慧果园，不是通用的ERP，而是真正懂苹果的种植专家。我们专注于苹果这一个品类，以科学的物候期模型和强大的AI大脑为核心，提供最专业的解决方案。更重要的是，我们坚持“一线不用，系统白搭”的设计哲学，将一线员工的体验放在首位，致力于打造他们真正爱用、易用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竞争力体现在六大差异化亮点上。从农资的全链路管理，到六大农业模型的科学决策支持；从7x24小时的AI智慧助手，到不可篡改的产品数字履历；再到分钟级响应的四层预警体系和高效的无人机巡园。这些功能共同构筑了我们强大的专业壁垒。与通用ERP不同，我们是真正扎根于苹果产业，用专业和AI赋能每一位种植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实现高效协同，我们构建了“四端一体”的协同架构。电脑端是管理者的“指挥中心”，负责计划和决策；移动端是一线员工的“执行前线”，负责任务执行和数据采集；数据大屏则是高层的“决策舱”，提供全局态势感知。通过数据的自动流转，实现了从编排决策到执行反馈的完整闭环，让管理变得前所未有的高效和透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看我们的决策舱——数据大屏。它以高清的果园实景为中心，让管理者仿佛身临其境。顶部的核心KPI一目了然，侧边的多维图表动态展示经营状况。更重要的是，它具备强大的预警提醒和向下钻取分析能力，让管理者不仅能实时掌握全局，还能深入洞察问题根源，真正做到运筹帷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电脑端作为指挥中心，提供了强大而全面的应用功能。从基础的企业管理、农事管理，到核心的农资管理、设备管理，再到高级的预警管理和产品追溯，覆盖了果园管理的方方面面。它就像一个强大的后台，为精细化管理提供了所有必要的工具和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而移动端，则是为一线员工量身打造的执行前线。我们坚持极简设计，做到了“首屏即任务”、“拍照即记录”，整个操作流程只需三步，不到10秒。特别针对果园弱网环境设计了离线优先功能，确保数据永不丢失。大字大按钮的设计，让员工即使戴着手套也能轻松操作。这才是真正为一线而生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消费升级的今天，信任就是价值。我们的产品追溯功能，为每一个苹果生成独一无二的数字履历。消费者扫码即可看到从开花到结果的全过程。这不仅能创造品牌溢价、满足政策合规，更能为品牌提供丰富的营销素材。无论是在商超货架、礼品盒还是电商平台，这个小小的二维码，都将成为连接生产者与消费者、构建品牌信任的坚实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还为每个果园配备了一位7x24小时在线的智慧顾问——AI大模型助手。它不仅能通过智能问答和AI视觉识别，像专家一样解答各种疑难杂症，还具备强大的交互体验。支持语音提问解放双手，智能推荐热门问题，关联知识帮助举一反三，甚至可以分享收藏，促进团队协作。有了它，每个果园都拥有了一位顶级的专家智囊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农事管理功能，构建了一个从计划到洞察的完整闭环。管理者在电脑端编排计划，任务自动下发到移动端；员工在田间执行并记录，数据自动上传汇总；系统自动生成报表，供管理者洞察分析，持续优化。这个闭环不仅将农事排程时间减少了60%以上，更将农事记录的完整率从不足30%提升到了80%以上，真正实现了管理的数字化革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管好农资，就是管好成本的一半。我们的农资全链路管理功能，覆盖了从采购申请到库存预警的每一个环节，形成了完整的管理闭环。通过安全库存预警和用量异常预警，系统能有效防止断供和浪费。最终，我们能将库存准确率从行业普遍的60%提升到95%以上，为您大幅降低成本，优化资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设备管理平台，就像为果园装上了智能感官，让果园能够“开口说话”。无论是监测环境的气象站、感知土壤的传感器，还是预警虫害的测报灯、远程监控的摄像头，以及精准灌溉的水肥设备，都能被统一接入和管理。这些智能设备收集的数据，为科学决策提供了源源不断的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建立了一套分钟级响应的四层预警体系，为您的果园构建了一张主动规避风险的安全网。无论是设备故障、极端天气，还是农事逾期、库存不足，系统都能在5分钟内通过多种渠道通知到您。相比传统管理模式动辄小时级的响应，我们的预警系统能为您争取宝贵的应对时间，将损失降到最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让我们再次聚焦产品追溯。消费者扫码后看到的，不仅仅是一串代码，而是一个完整、生动的故事。从产品的基础信息、基地实景，到关键的农事历程和权威的质检报告，每一个细节都在传递着品质和信任。特别是我们引入了区块链存证技术，确保所有数据真实不可篡改。这让每一个苹果，都拥有了独一无二的品牌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平台的专业核心，是强大的物候期模型。它能根据您果园的具体情况，精准判断物候期，并智能推送农事建议。更厉害的是，它能结合气象数据动态调整建议，并对农时偏差进行提醒。这彻底改变了传统“看天吃饭”的模式，让每一次农事操作都精准、高效，最终转化为实实在在的产量和品质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那么，使用智慧果园究竟能带来什么？我们用数据说话。农事排程时间减少75%，记录完整率提升167%，库存准确率提升58%，风险响应时间缩短超过90%。这些数字背后，是实实在在的价值提升：成本降低了，效率提高了，品质保障了。这不仅是管理的改善，更是盈利能力的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让我们快速预览一下系统的实际界面。首先是电脑端，这里是管理者的指挥中心。从首页的仪表盘，到农事计划的编排，再到农资库存、设备监控，每一个模块都设计得清晰、直观，功能强大，让复杂的管理工作变得井井有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再来看移动端，这是为一线员工打造的执行前线。界面设计极简，突出核心功能。无论是查看任务、记录农事，还是巡园打卡、AI对话，都做到了一目了然，轻松上手。我们坚信，只有一线员工真正爱用，数字化才能真正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再深入看一下一线操作的对比。记录农事，从过去繁琐的四步，简化为现在的三步；巡园打卡，从低效的多步操作，简化为一步确认。我们还提供了强大的离线能力，确保在任何网络环境下都能正常工作。我们的设计理念就是为一线员工减负，通过极致的简化，让他们真正感受到科技带来的便利，从而释放更大的生产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理论说再多，不如听听用户的真实声音。基地管理者张经理说，系统让他从繁琐的事务中解放出来；企业管理者李总称赞系统的预警能力让他在风险面前有了底气；而一线的王师傅则表示，这是他用过最简单、最好用的软件。这些真实的用户故事，是对我们产品价值最生动的诠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切强大功能的背后，是我们稳定、安全、可扩展的技术架构。我们采用先进的微服务架构，确保了系统的高可用和灵活性。同时，通过HTTPS加密、RBAC权限控制、全量操作审计和敏感数据加密存储等多重手段，为您的数据安全提供全方位的保障。选择我们，就是选择一份安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满足不同规模客户的需求，我们提供了灵活的合作方案。从适合小型农场的基础版，到满足中型企业需求的专业版，再到为大型集团定制的旗舰版，每一个版本都包含了强大的功能和完善的服务保障。我们承诺提供7x24小时的技术支持、定期的版本更新、全方位的数据安全保障和专业的培训赋能，确保您能最大化地发挥系统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的介绍到此结束，感谢大家的聆听。现在是问答环节，欢迎大家提问。如果您希望更深入地了解产品，或者想获取一份定制化的解决方案，欢迎扫描屏幕上的二维码，访问我们的官网或添加产品经理的微信。我们期待与您携手，共同开启苹果种植的智慧新篇章，让种植更省心、更科学、更赚钱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Relationship Id="rId4" Target="../media/image13.jpe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21.png" Type="http://schemas.openxmlformats.org/officeDocument/2006/relationships/image"/><Relationship Id="rId5" Target="../media/image22.jpeg" Type="http://schemas.openxmlformats.org/officeDocument/2006/relationships/image"/><Relationship Id="rId6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7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30.png" Type="http://schemas.openxmlformats.org/officeDocument/2006/relationships/image"/><Relationship Id="rId4" Target="../media/image29.png" Type="http://schemas.openxmlformats.org/officeDocument/2006/relationships/image"/><Relationship Id="rId5" Target="../media/image4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3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23.png" Type="http://schemas.openxmlformats.org/officeDocument/2006/relationships/image"/><Relationship Id="rId6" Target="../media/image36.png" Type="http://schemas.openxmlformats.org/officeDocument/2006/relationships/image"/><Relationship Id="rId7" Target="../media/image2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7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3.jpe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60.png" Type="http://schemas.openxmlformats.org/officeDocument/2006/relationships/image"/><Relationship Id="rId4" Target="../media/image6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68.jpeg" Type="http://schemas.openxmlformats.org/officeDocument/2006/relationships/image"/><Relationship Id="rId4" Target="../media/image69.jpeg" Type="http://schemas.openxmlformats.org/officeDocument/2006/relationships/image"/><Relationship Id="rId5" Target="../media/image70.jpeg" Type="http://schemas.openxmlformats.org/officeDocument/2006/relationships/image"/><Relationship Id="rId6" Target="../media/image71.png" Type="http://schemas.openxmlformats.org/officeDocument/2006/relationships/image"/><Relationship Id="rId7" Target="../media/image72.jpeg" Type="http://schemas.openxmlformats.org/officeDocument/2006/relationships/image"/><Relationship Id="rId8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35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84.jpeg" Type="http://schemas.openxmlformats.org/officeDocument/2006/relationships/image"/><Relationship Id="rId4" Target="../media/image85.jpeg" Type="http://schemas.openxmlformats.org/officeDocument/2006/relationships/image"/><Relationship Id="rId5" Target="../media/image86.png" Type="http://schemas.openxmlformats.org/officeDocument/2006/relationships/image"/><Relationship Id="rId6" Target="../media/image57.png" Type="http://schemas.openxmlformats.org/officeDocument/2006/relationships/image"/><Relationship Id="rId7" Target="../media/image87.png" Type="http://schemas.openxmlformats.org/officeDocument/2006/relationships/image"/><Relationship Id="rId8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5.svg" Type="http://schemas.openxmlformats.org/officeDocument/2006/relationships/image"/><Relationship Id="rId11" Target="../media/image96.png" Type="http://schemas.openxmlformats.org/officeDocument/2006/relationships/image"/><Relationship Id="rId12" Target="../media/image97.svg" Type="http://schemas.openxmlformats.org/officeDocument/2006/relationships/image"/><Relationship Id="rId13" Target="../media/image98.png" Type="http://schemas.openxmlformats.org/officeDocument/2006/relationships/image"/><Relationship Id="rId14" Target="../media/image99.svg" Type="http://schemas.openxmlformats.org/officeDocument/2006/relationships/image"/><Relationship Id="rId15" Target="../notesSlides/notesSlide21.xml" Type="http://schemas.openxmlformats.org/officeDocument/2006/relationships/notesSlide"/><Relationship Id="rId2" Target="../media/image3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media/image92.png" Type="http://schemas.openxmlformats.org/officeDocument/2006/relationships/image"/><Relationship Id="rId8" Target="../media/image93.sv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45.png" Type="http://schemas.openxmlformats.org/officeDocument/2006/relationships/image"/><Relationship Id="rId7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03.png" Type="http://schemas.openxmlformats.org/officeDocument/2006/relationships/image"/><Relationship Id="rId4" Target="../media/image104.svg" Type="http://schemas.openxmlformats.org/officeDocument/2006/relationships/image"/><Relationship Id="rId5" Target="../media/image105.svg" Type="http://schemas.openxmlformats.org/officeDocument/2006/relationships/image"/><Relationship Id="rId6" Target="../media/image106.svg" Type="http://schemas.openxmlformats.org/officeDocument/2006/relationships/image"/><Relationship Id="rId7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60.png" Type="http://schemas.openxmlformats.org/officeDocument/2006/relationships/image"/><Relationship Id="rId4" Target="../media/image26.png" Type="http://schemas.openxmlformats.org/officeDocument/2006/relationships/image"/><Relationship Id="rId5" Target="../media/image61.png" Type="http://schemas.openxmlformats.org/officeDocument/2006/relationships/image"/><Relationship Id="rId6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Relationship Id="rId5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09.png" Type="http://schemas.openxmlformats.org/officeDocument/2006/relationships/image"/><Relationship Id="rId4" Target="../media/image39.png" Type="http://schemas.openxmlformats.org/officeDocument/2006/relationships/image"/><Relationship Id="rId5" Target="../media/image108.png" Type="http://schemas.openxmlformats.org/officeDocument/2006/relationships/image"/><Relationship Id="rId6" Target="../media/image110.png" Type="http://schemas.openxmlformats.org/officeDocument/2006/relationships/image"/><Relationship Id="rId7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1.jpeg" Type="http://schemas.openxmlformats.org/officeDocument/2006/relationships/image"/><Relationship Id="rId3" Target="../media/image112.jpe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jpeg" Type="http://schemas.openxmlformats.org/officeDocument/2006/relationships/image"/><Relationship Id="rId7" Target="../notesSlides/notesSlide27.xml" Type="http://schemas.openxmlformats.org/officeDocument/2006/relationships/notesSlide"/><Relationship Id="rId8" Target="../media/image1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3818" r="3818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 · 懂苹果的种植管理平台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556000"/>
            <a:ext cx="12192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 spc="3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让苹果种植更省心 · 更科学 · 更赚钱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0" y="4953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588000"/>
            <a:ext cx="12192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版本号：V2.1 | 日期：2026年5月 | 智道易农科技有限公司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内容导航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032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市场洞察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794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洞悉行业趋势，直面种植痛点。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6830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191000" y="2032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产品定位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2794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定义我们的独特价值与核心优势。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413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921500" y="2032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四端协同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13500" y="2794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构建全方位、一体化的管理体系。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9535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1440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9652000" y="2032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04 AI大模型助手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2794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引入智慧大脑，赋能科学决策。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52500" y="444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1460500" y="4445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05 核心功能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207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深入解析平台的强大功能矩阵。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4925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3683000" y="444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4191000" y="4445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06 差异化亮点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683000" y="5207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展示我们与众不同的核心竞争力。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230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6413500" y="444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0" id="30"/>
          <p:cNvSpPr/>
          <p:nvPr/>
        </p:nvSpPr>
        <p:spPr>
          <a:xfrm rot="0" flipH="false" flipV="false">
            <a:off x="6921500" y="4445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07 预期成效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13500" y="5207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数据见证价值，量化管理提升。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9535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9144000" y="444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4" id="34"/>
          <p:cNvSpPr/>
          <p:nvPr/>
        </p:nvSpPr>
        <p:spPr>
          <a:xfrm rot="0" flipH="false" flipV="false">
            <a:off x="9652000" y="4445000"/>
            <a:ext cx="165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08 合作洽谈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144000" y="5207000"/>
            <a:ext cx="2095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携手共赢，开启智慧农业新篇章。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市场现状：数字化浪潮已至，传统果园面临转型拐点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6666" r="16666" t="0" b="0"/>
          <a:stretch>
            <a:fillRect/>
          </a:stretch>
        </p:blipFill>
        <p:spPr>
          <a:xfrm rot="0" flipH="false" flipV="false">
            <a:off x="952500" y="1841500"/>
            <a:ext cx="17780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921000" y="1841500"/>
            <a:ext cx="2794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行业布局与投入激增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● 头部领跑：头部果业、核心产区的行业头部企业已率先部署智慧果园系统，构筑竞争壁垒。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● 资本涌入：自2024年以来，行业数字化投入同比增长超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150%</a:t>
            </a: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，市场进入实质性投资期。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413500" y="1841500"/>
            <a:ext cx="17780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382000" y="1841500"/>
            <a:ext cx="2794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政策驱动与设备普及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● 政策红利：2024-2028年为国家农业数字化转型关键窗口期，政策扶持力度大。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● 基础完善：物联网智能硬件部署量同比增长超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r>
              <a:rPr lang="en-US" b="fals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，为精细化管理奠定坚实基础。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381500"/>
            <a:ext cx="2921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大型集团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投入模式：全面部署三端协同系统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核心成效：综合成本降低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18%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果品品质提升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15%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4381500"/>
            <a:ext cx="2921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中型基地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投入模式：聚焦核心场景，部署移动APP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核心成效：农事执行效率提升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生产记录完整率超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85%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4381500"/>
            <a:ext cx="2921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合作社联盟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投入模式：统一数字化平台进行管理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核心成效：建立全流程产品追溯体系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显著提升品牌影响力并获得</a:t>
            </a: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品牌溢价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用户痛点：管理者的烦恼：看不见、管不住、算不清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44700" y="2349500"/>
            <a:ext cx="736600" cy="736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302000"/>
            <a:ext cx="304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数据孤岛，决策凭感觉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68500" y="4064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445000"/>
            <a:ext cx="2921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产量、农资、人员、财务等核心数据分散在不同的表格、账本甚至个人脑中，无法进行有效的关联分析。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管理者难以获得全局视角，决策往往依赖经验而非数据，风险极高。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727700" y="2349500"/>
            <a:ext cx="736600" cy="736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3302000"/>
            <a:ext cx="304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预警滞后，风险难掌控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651500" y="4064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4445000"/>
            <a:ext cx="2921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面对极端天气或突发状况，传统预警方式往往是“小时级”的，缺乏实时性，信息传递链条过长。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等到信息层层传递到决策者，最佳处置时机已错过，造成不可挽回的经济损失。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12500" r="12499" t="0" b="0"/>
          <a:stretch>
            <a:fillRect/>
          </a:stretch>
        </p:blipFill>
        <p:spPr>
          <a:xfrm rot="0" flipH="false" flipV="false">
            <a:off x="9410700" y="2349500"/>
            <a:ext cx="736600" cy="736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3302000"/>
            <a:ext cx="304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手工汇总，耗时易出错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34500" y="4064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4445000"/>
            <a:ext cx="2921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生产报表需要人工手动统计、层层上报，不仅耗费大量人力，而且数据准确性难以保证。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管理者看到的报表往往是滞后、不完整的，无法及时反映真实的生产状况，影响判断。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用户痛点：一线的挑战 — 不好用 · 用不了 · 不想用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25391" b="25391"/>
          <a:stretch>
            <a:fillRect/>
          </a:stretch>
        </p:blipFill>
        <p:spPr>
          <a:xfrm rot="0" flipH="false" flipV="false">
            <a:off x="1016000" y="2032000"/>
            <a:ext cx="711200" cy="711200"/>
          </a:xfrm>
          <a:prstGeom prst="roundRect">
            <a:avLst>
              <a:gd name="adj" fmla="val 17857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2032000"/>
            <a:ext cx="203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操作复杂，学习成本高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048000"/>
            <a:ext cx="2921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APP设计复杂，充满专业术语与繁琐步骤，与一线员工的文化水平和使用习惯脱节。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系统最终“学不会就不用”，沦为摆设，投入成本全部浪费。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699000" y="2032000"/>
            <a:ext cx="711200" cy="711200"/>
          </a:xfrm>
          <a:prstGeom prst="roundRect">
            <a:avLst>
              <a:gd name="adj" fmla="val 17857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5588000" y="2032000"/>
            <a:ext cx="203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网络不稳，数据易丢失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3048000"/>
            <a:ext cx="2921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果园多位于偏远山区，网络信号弱是常态。传统APP无法在弱网环境下正常运行，现场记录无法提交。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频繁发生数据丢失，严重阻碍正常的农事管理。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382000" y="2032000"/>
            <a:ext cx="711200" cy="711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9271000" y="2032000"/>
            <a:ext cx="203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记录繁琐，影响生产效率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3048000"/>
            <a:ext cx="2921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在繁忙的农事活动中，要求员工打开手机、选择菜单、填写表单来记录，打断了工作节奏。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繁琐的操作降低生产效率，引发员工对数字化工具的强烈抵触情绪。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3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016000" y="55626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1778000" y="5461000"/>
            <a:ext cx="9271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“每多一次点击，一天多几十次操作。”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marL="0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来自一位有着十年经验的地块负责人的真实反馈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产品定位：我们不是通用ERP，我们是懂苹果的种植专家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06600"/>
            <a:ext cx="4318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智慧果园，垂直专业化管理系统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我们不是一个功能大而全的通用农业ERP，而是一个以</a:t>
            </a:r>
            <a:r>
              <a:rPr lang="en-US" b="tru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苹果物候期模型为核心引擎</a:t>
            </a: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，以</a:t>
            </a:r>
            <a:r>
              <a:rPr lang="en-US" b="tru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AI大模型为智慧大脑</a:t>
            </a: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的垂直专业化管理系统，深度适配苹果种植场景的专业工具。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419600"/>
            <a:ext cx="4318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“一线不用，系统白搭。”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我们将地块负责人的</a:t>
            </a:r>
            <a:r>
              <a:rPr lang="en-US" b="tru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极简操作体验</a:t>
            </a: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视为产品的“生死线”。产品设计的一切出发点，都是为了让一线员工用得顺手、方便，让数字化工具真正成为他们的得力助手。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5263" b="5263"/>
          <a:stretch>
            <a:fillRect/>
          </a:stretch>
        </p:blipFill>
        <p:spPr>
          <a:xfrm rot="0" flipH="false" flipV="false">
            <a:off x="6604000" y="1905000"/>
            <a:ext cx="4826000" cy="4318000"/>
          </a:xfrm>
          <a:prstGeom prst="roundRect">
            <a:avLst>
              <a:gd name="adj" fmla="val 4705"/>
            </a:avLst>
          </a:prstGeom>
          <a:noFill/>
          <a:ln w="25400" cmpd="sng" cap="flat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差异化亮点矩阵：六大核心优势，构筑专业壁垒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1905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1841500"/>
            <a:ext cx="228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农资全链路管理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覆盖从采购申请、审批、入库、领用到库存盘点的全程。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价值：库存准确率提升至95%以上，有效控制生产成本。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635500" y="1905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5270500" y="1841500"/>
            <a:ext cx="228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六大农业模型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集成生长、气象、病虫害、物候期、产量、价格六大预测模型。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价值：农事建议准确率达70%以上，为高品质果品打下坚实基础。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318500" y="1905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953500" y="1841500"/>
            <a:ext cx="228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AI智慧助手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集成专业知识库与图像识别，提供24小时在线问答与专家支持。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价值：随时随地获得专业指导，降低对专家依赖。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52500" y="41910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4000500"/>
            <a:ext cx="406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产品数字履历 | 全程溯源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为每一颗苹果建立从种植到采收的全程数字档案，提升品牌信任度与溢价能力，满足高端市场严苛需求。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81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413500" y="41910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000500"/>
            <a:ext cx="406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四层预警体系 | 分钟级响应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构建设备、气象、农事、库存全方位预警机制，实现风险可控，将生产与投资损失降到最低。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3975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524500"/>
            <a:ext cx="5080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❌ 通用ERP：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功能全面但水土不服，缺乏农业场景专业度。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5524500"/>
            <a:ext cx="4826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智慧果园：垂直深耕 · 专业懂行 · AI赋能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我们最懂苹果，也最懂您的需求。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四端协同架构：指挥中心 + 执行前线 + 决策舱 + 市场反馈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电脑端 · 应用中心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79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面向管理者，提供强大的计划编排、审批决策和报表分析能力，统筹全局工作。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699000" y="203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 · 执行前线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794000"/>
            <a:ext cx="279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面向一线员工，提供极简的任务执行、数据采集和现场记录工具，高效响应指令。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382000" y="203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9017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数据大屏 · 决策舱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794000"/>
            <a:ext cx="279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面向高层决策者，提供实时、直观的业务态势感知与核心指标监控，辅助科学决策。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/ 编排决策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5334000"/>
            <a:ext cx="2921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管理者在电脑端统一编排工作计划，一键下发至一线员工的移动端，确保指令精准传达。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5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/ 数据上云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35500" y="5334000"/>
            <a:ext cx="2921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一线员工移动端采集的任务数据，实时同步至云端并自动汇总分析，确保数据源头真实可靠。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/ 全局展示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5334000"/>
            <a:ext cx="2921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汇总后的业务核心数据在数据大屏实时呈现，让决策者随时掌握业务全貌，洞察发展趋势。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决策舱：运筹帷幄，尽在掌握的数据大屏实景中心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03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905000"/>
            <a:ext cx="4064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实景为中心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以高清果园航拍图为底图，营造沉浸式决策环境，将抽象数据与实体场景深度融合。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52500" y="330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175000"/>
            <a:ext cx="4064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KPI 环绕布局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顶部集中展示6大核心经营指标卡片，关键信息一目了然，无需翻查报表。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1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52500" y="4572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1651000" y="4445000"/>
            <a:ext cx="4064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多维图表可视化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侧边栏集成折线图、柱状图等多种图表形式，直观动态展示生产进度和经营状况趋势。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524500"/>
            <a:ext cx="2540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14400" y="5778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5651500"/>
            <a:ext cx="1714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预警动态提醒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异常信息醒目弹窗提示，风险及时响应。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29000" y="5524500"/>
            <a:ext cx="2540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3581400" y="5778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4127500" y="5651500"/>
            <a:ext cx="1714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向下钻取分析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支持层层下钻，探索数据背后的深层原因。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778000"/>
            <a:ext cx="5753100" cy="4889500"/>
          </a:xfrm>
          <a:prstGeom prst="roundRect">
            <a:avLst>
              <a:gd name="adj" fmla="val 3116"/>
            </a:avLst>
          </a:prstGeom>
          <a:solidFill>
            <a:srgbClr val="F3F4F6">
              <a:alpha val="95000"/>
            </a:srgbClr>
          </a:solidFill>
          <a:ln w="25400" cmpd="sng" cap="flat">
            <a:solidFill>
              <a:srgbClr val="228B22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38900" y="1778000"/>
            <a:ext cx="5613400" cy="4800600"/>
          </a:xfrm>
          <a:prstGeom prst="roundRect">
            <a:avLst>
              <a:gd name="adj" fmla="val 0"/>
            </a:avLst>
          </a:prstGeom>
          <a:blipFill rotWithShape="true">
            <a:blip r:embed="rId8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指挥中心：强大后台，赋能精细管理的电脑端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30400"/>
            <a:ext cx="16129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统一管理基地、地块信息。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29000" y="1778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619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4191000" y="19304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生产计划、农事记录与巡园。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0226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52500" y="32766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1750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农资管理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采购、组织、使用及库存管理。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30226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3619500" y="32766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4191000" y="31750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远程控制与实时监控。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2799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52500" y="45339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44323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预警管理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自定义规则，自动生成内报。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29000" y="42799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3619500" y="45339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4191000" y="44323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产品追溯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批量生成追溯码，支持自定义。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24500"/>
            <a:ext cx="241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952500" y="571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56134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采收管理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采收计划与分级产量统计。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29000" y="5524500"/>
            <a:ext cx="241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3619500" y="5715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7" id="27"/>
          <p:cNvSpPr/>
          <p:nvPr/>
        </p:nvSpPr>
        <p:spPr>
          <a:xfrm rot="0" flipH="false" flipV="false">
            <a:off x="4191000" y="5613400"/>
            <a:ext cx="1524000" cy="838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精细化的用户与权限管理。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23000" y="1778000"/>
            <a:ext cx="5651500" cy="4826000"/>
          </a:xfrm>
          <a:prstGeom prst="roundRect">
            <a:avLst>
              <a:gd name="adj" fmla="val 3421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28B22">
                <a:alpha val="40000"/>
              </a:srgbClr>
            </a:solidFill>
            <a:prstDash val="dash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34100" y="1752600"/>
            <a:ext cx="5930900" cy="4851400"/>
          </a:xfrm>
          <a:prstGeom prst="roundRect">
            <a:avLst>
              <a:gd name="adj" fmla="val 0"/>
            </a:avLst>
          </a:prstGeom>
          <a:blipFill rotWithShape="true">
            <a:blip r:embed="rId11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执行前线：极简设计，为一线而生的移动端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968500"/>
            <a:ext cx="1397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首屏即任务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打开APP，直接看到今日待办任务列表，无需多余点击。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365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3873500" y="1968500"/>
            <a:ext cx="1397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拍照即记录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3步完成一次农事记录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，告别手写和繁琐操作。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5778500" y="203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6286500" y="1968500"/>
            <a:ext cx="1397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离线优先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支持离线操作，网络恢复后自动同步，不断档。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683000"/>
            <a:ext cx="3238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52500" y="400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937000"/>
            <a:ext cx="2286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大字大按钮设计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专为田间户外强光和戴手套操作场景设计，交互更轻松。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254500" y="3683000"/>
            <a:ext cx="3238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4445000" y="400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5016500" y="3937000"/>
            <a:ext cx="2286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AI助手随行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内置农业知识问答，遇到病虫害或技术问题随时咨询。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334000"/>
            <a:ext cx="6731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461000"/>
            <a:ext cx="6350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核心操作流程：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1. 拍照记录现场</a:t>
            </a: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2. 选择地块/农事类型</a:t>
            </a: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3. 确认并提交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全流程仅需10秒，极大降低一线操作门槛。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48600" y="1778000"/>
            <a:ext cx="4254500" cy="4699000"/>
          </a:xfrm>
          <a:prstGeom prst="roundRect">
            <a:avLst>
              <a:gd name="adj" fmla="val 597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2159000"/>
            <a:ext cx="1397000" cy="101600"/>
          </a:xfrm>
          <a:prstGeom prst="roundRect">
            <a:avLst>
              <a:gd name="adj" fmla="val 62500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4800" y="1778000"/>
            <a:ext cx="1981200" cy="4699000"/>
          </a:xfrm>
          <a:prstGeom prst="roundRect">
            <a:avLst>
              <a:gd name="adj" fmla="val 0"/>
            </a:avLst>
          </a:prstGeom>
          <a:blipFill rotWithShape="true">
            <a:blip r:embed="rId8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083800" y="1778000"/>
            <a:ext cx="1981200" cy="4699000"/>
          </a:xfrm>
          <a:prstGeom prst="roundRect">
            <a:avLst>
              <a:gd name="adj" fmla="val 0"/>
            </a:avLst>
          </a:prstGeom>
          <a:blipFill rotWithShape="true">
            <a:blip r:embed="rId9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消费者信任：扫码见真章，构建品牌信任的桥梁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66800" y="20320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🎯 价值体现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800" y="2921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727200" y="2857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创造品牌溢价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可追溯的产品更具吸引力，能有效建立消费者信任，使其愿意为品质与安心支付更高价格。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66800" y="4064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727200" y="4000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满足政策合规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建立完善、透明的全链路追溯体系，不仅规避合规风险，更是食品企业未来发展的必备条件。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66800" y="5207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727200" y="5143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丰富营销素材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透明化的种植、加工过程本身就是最好的品牌故事，可多渠道传播，打造差异化竞争优势。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27800" y="20320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📍 扫码场景全覆盖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527800" y="2921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188200" y="2857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商超货架：增强临门一脚信心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消费者在购物现场即时扫码查验，消除购买顾虑，提升购买转化率。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527800" y="4064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188200" y="4000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礼品盒：提升送礼价值感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将“可追溯”作为高端礼品的核心卖点，彰显送礼者对品质与健康的极致追求。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527800" y="5207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188200" y="5143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电商平台：详情页的信任背书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在产品详情页嵌入追溯入口，直观展示全链路信息，有效解决线上“看不见摸不着”的信任痛点。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智慧顾问：您的7x24小时在线苹果专家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572000"/>
          </a:xfrm>
          <a:prstGeom prst="roundRect">
            <a:avLst>
              <a:gd name="adj" fmla="val 36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699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· CORE FEATURES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921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857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🧠 智能问答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覆盖苹果种植全周期的专业知识，提供精准答案，解决生产难题。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16000" y="3810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746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📷 AI 视觉识别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支持病害、作物、虫害等场景识别，手机随手一拍，即刻智能诊断。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16000" y="4699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1651000" y="4635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📂 专业分类检索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涵盖综合、植保、种植、育种、作物五大知识分类，快速定位所需信息。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016000" y="5588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5524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🧐 记忆与深度思考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自动保存问答历史，开启“深度思考”模式，可获得更全面的决策分析。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5207000" cy="46228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159000"/>
            <a:ext cx="4699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交互体验 · USER EXPERIENCE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477000" y="2921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2857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🗣️ 语音交互，解放双手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支持语音输入提问，适应田间忙碌场景，随时随地轻松对话。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477000" y="3810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7112000" y="3746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🔥 热门问题，一触直达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基于大数据分析，首页推荐当下种植热门问题，一键点击即可获取答案。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6477000" y="4699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7112000" y="4635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🔗 知识关联，举一反三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回答后自动推荐相关知识点，构建个人知识网络，触类旁通，不断学习。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477000" y="5588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5524500"/>
            <a:ext cx="4064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🤝 分享收藏，团队协作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优质问答一键分享和收藏，便于在种植团队内部共享知识与经验。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农事管理闭环：从计划到洞察，构建数字化革命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18796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415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计划编排 (电脑端)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765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管理者基于物候期模型制定年度、月度生产计划，并将其分解为具体的、可落地的农事任务。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572000" y="18796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5080000" y="18415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任务下发 (自动)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4765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系统根据预设规则，自动将任务精准推送给负责员工的移动APP，确保任务无缝覆盖。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191500" y="18796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699500" y="18415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任务执行 (移动端)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4765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一线员工在田间通过手机快速接收任务，高效完成作业记录，并实时反馈现场执行状态。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52500" y="39751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1460500" y="39370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数据上传 (自动)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5720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移动端数据实时同步到云端，系统自动完成数据清洗、整合与汇总，构建企业数字资产。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4572000" y="39751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5080000" y="39370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05 报表生成 (自动)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0" y="45720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基于汇总数据，系统自动生成经营分析、农事执行进度等各类报表，多维度呈现生产全貌。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8191500" y="39751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8699500" y="3937000"/>
            <a:ext cx="26035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06 洞察反馈 (电脑端)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4572000"/>
            <a:ext cx="304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管理者基于数据报表洞察生产瓶颈与薄弱环节，将分析结果反馈于下一轮计划编排，实现闭环优化。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778500"/>
            <a:ext cx="5334000" cy="889000"/>
          </a:xfrm>
          <a:prstGeom prst="roundRect">
            <a:avLst>
              <a:gd name="adj" fmla="val 17142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52500" y="5905500"/>
            <a:ext cx="2286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60% 以上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302000" y="5969000"/>
            <a:ext cx="2667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排程时间显著减少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096000" y="5778500"/>
            <a:ext cx="5334000" cy="889000"/>
          </a:xfrm>
          <a:prstGeom prst="roundRect">
            <a:avLst>
              <a:gd name="adj" fmla="val 17142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86500" y="5905500"/>
            <a:ext cx="2286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80% 以上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636000" y="5969000"/>
            <a:ext cx="2667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农事记录完整率大幅提升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农资全链路管理：成本的精细化管控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97100"/>
            <a:ext cx="177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全链路闭环流程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21000" y="1879600"/>
            <a:ext cx="8255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采购申请 → 多级审批 → 验收入库 → 库存管理 → 领用申请 → 使用记录 → 库存预警 → 触发新采购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37465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683000"/>
            <a:ext cx="3683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安全库存预警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设定库存水位线，当实际库存低于安全阈值时，系统自动推送提醒，防止断供或过量囤积。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429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477000" y="37465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3683000"/>
            <a:ext cx="3683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用量异常预警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基于地块面积与历史数据建立用量标准，当领用或使用量偏离标准范围时，即时预警以杜绝浪费。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143000" y="56007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2159000" y="5524500"/>
            <a:ext cx="8763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预期成效：通过全链路精细化管理，库存准确率可从传统模式的约</a:t>
            </a:r>
            <a:r>
              <a:rPr lang="en-US" b="true" i="false" strike="noStrike" u="none" sz="2200">
                <a:solidFill>
                  <a:srgbClr val="FFF396"/>
                </a:solidFill>
                <a:latin typeface="Noto Sans SC"/>
                <a:ea typeface="Noto Sans SC"/>
                <a:cs typeface="Noto Sans SC"/>
                <a:sym typeface="Noto Sans SC"/>
              </a:rPr>
              <a:t>60%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提升至</a:t>
            </a:r>
            <a:r>
              <a:rPr lang="en-US" b="true" i="false" strike="noStrike" u="none" sz="2600">
                <a:solidFill>
                  <a:srgbClr val="FFF396"/>
                </a:solidFill>
                <a:latin typeface="Noto Sans SC"/>
                <a:ea typeface="Noto Sans SC"/>
                <a:cs typeface="Noto Sans SC"/>
                <a:sym typeface="Noto Sans SC"/>
              </a:rPr>
              <a:t>95% 以上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，大幅降低损耗并优化资金占用。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设备管理：果园的智能感官，让果园“会说话”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21518" r="21518" t="0" b="0"/>
          <a:stretch>
            <a:fillRect/>
          </a:stretch>
        </p:blipFill>
        <p:spPr>
          <a:xfrm rot="0" flipH="false" flipV="false">
            <a:off x="914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184400" y="1981200"/>
            <a:ext cx="1752600" cy="200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气象站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实时监测环境数据，为农事决策和灾害预警提供科学依据。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3408" b="3408"/>
          <a:stretch>
            <a:fillRect/>
          </a:stretch>
        </p:blipFill>
        <p:spPr>
          <a:xfrm rot="0" flipH="false" flipV="false">
            <a:off x="4597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5867400" y="1981200"/>
            <a:ext cx="1752600" cy="200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土壤传感器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精准监测土壤温湿度、pH值、EC值，指导科学的精准灌溉和施肥。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31012" r="31012" t="0" b="0"/>
          <a:stretch>
            <a:fillRect/>
          </a:stretch>
        </p:blipFill>
        <p:spPr>
          <a:xfrm rot="0" flipH="false" flipV="false">
            <a:off x="8280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9550400" y="1981200"/>
            <a:ext cx="1752600" cy="200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虫情测报灯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自动识别并统计害虫种类与数量，为病虫害防治提供早期数据预警。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81500"/>
            <a:ext cx="52705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016000" y="48006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2286000" y="4572000"/>
            <a:ext cx="3492500" cy="171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监控设备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提供果园全区域的高清实时视频画面，便于管理者远程查看果园状态，实现全方位的安防与生产管理。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4381500"/>
            <a:ext cx="52705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15384" r="15384" t="0" b="0"/>
          <a:stretch>
            <a:fillRect/>
          </a:stretch>
        </p:blipFill>
        <p:spPr>
          <a:xfrm rot="0" flipH="false" flipV="false">
            <a:off x="6540500" y="4597400"/>
            <a:ext cx="1143000" cy="1651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874000" y="4572000"/>
            <a:ext cx="3429000" cy="171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水肥一体化设备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支持移动端远程控制与自动灌溉模式切换，按需精准供给水肥，实现资源的高效利用与成本降低。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预警管理：分钟级响应的安全网，主动规避风险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032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17145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设备预警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667000"/>
            <a:ext cx="2159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设备故障、离线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通知方式：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电话 + 系统弹窗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响应目标：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确保核心生产设备稳定运行，避免停机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671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657600" y="2032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102100" y="2006600"/>
            <a:ext cx="17145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气象预警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57600" y="2667000"/>
            <a:ext cx="2159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霜冻、暴雨、大风等极端天气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通知方式：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电话 + 短信 + APP推送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响应目标：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提前防范，最大程度减少自然灾害损失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722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362700" y="2032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807200" y="2006600"/>
            <a:ext cx="17145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农事预警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62700" y="2667000"/>
            <a:ext cx="2159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物候期关键节点、农事任务逾期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通知方式：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APP推送 + 系统消息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响应目标：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确保农事活动不误农时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773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067800" y="2032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9512300" y="2006600"/>
            <a:ext cx="17145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库存预警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67800" y="2667000"/>
            <a:ext cx="2159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农资、农药、农膜等库存低于安全线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通知方式：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APP推送 + 系统消息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响应目标：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保障果园生产资料持续供应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143000" y="5524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2032000" y="5461000"/>
            <a:ext cx="355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传统管理模式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平均响应时间：</a:t>
            </a:r>
            <a:r>
              <a:rPr lang="en-US" b="true" i="false" strike="noStrike" u="none" sz="2000">
                <a:solidFill>
                  <a:srgbClr val="FECACA"/>
                </a:solidFill>
                <a:latin typeface="Noto Sans SC"/>
                <a:ea typeface="Noto Sans SC"/>
                <a:cs typeface="Noto Sans SC"/>
                <a:sym typeface="Noto Sans SC"/>
              </a:rPr>
              <a:t>小时级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53975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477000" y="5524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7493000" y="5461000"/>
            <a:ext cx="355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智慧果园预警系统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平均响应时间：</a:t>
            </a:r>
            <a:r>
              <a:rPr lang="en-US" b="true" i="false" strike="noStrike" u="none" sz="2000">
                <a:solidFill>
                  <a:srgbClr val="FEF08A"/>
                </a:solidFill>
                <a:latin typeface="Noto Sans SC"/>
                <a:ea typeface="Noto Sans SC"/>
                <a:cs typeface="Noto Sans SC"/>
                <a:sym typeface="Noto Sans SC"/>
              </a:rPr>
              <a:t>分钟级 (&lt;5分钟)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品牌信任：每一个苹果，都有一个独一无二的故事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66800" y="20320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🔍 追溯信息全景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800" y="2921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727200" y="2857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产品与基地的真实呈现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清晰展示品种、产地、采收日期等基础信息，搭配果园实景图片，所见即所得，直观增强信任感。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66800" y="4064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727200" y="4000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农事历程与权威背书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时间轴形式呈现从开花到结果的关键农事操作；展示第三方机构出具的农药残留、糖度等质检报告，以数据立证品质。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66800" y="5207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727200" y="5143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区块链技术加持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引入区块链存证技术，显示“数据已上链，不可篡改”标识，从技术层面彻底解决信任痛点。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27800" y="20320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📱 消费者扫码体验示例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527800" y="2921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188200" y="2857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XX苹果数字履历 - 基础档案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品种：红富士 | 产地：陕西洛川 | 采收日期：2026.10.15，产地与品种的核心信息一目了然。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527800" y="4064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188200" y="4000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成长故事 - 关键农事节点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3月春剪 → 4月疏花 → 5月套袋 → 9月摘袋，清晰还原每一步精心照料，讲述产品背后的用心。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527800" y="5207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188200" y="5143500"/>
            <a:ext cx="3937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品质保障 - 权威质检报告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06266"/>
                </a:solidFill>
                <a:latin typeface="Noto Sans SC"/>
                <a:ea typeface="Noto Sans SC"/>
                <a:cs typeface="Noto Sans SC"/>
                <a:sym typeface="Noto Sans SC"/>
              </a:rPr>
              <a:t>农药残留未检出 | 糖度12.5°Bx | 等级特级，权威数据为产品品质背书，买得更放心。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专业引擎：把握农时，就是把握产量和品质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06600"/>
            <a:ext cx="4318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苹果物候期模型驱动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系统根据果园位置、品种和树龄，自动匹配最适合的物候期时间窗口。当果园进入某个物候期节点时，系统会自动推送该阶段的关键农事建议。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419600"/>
            <a:ext cx="4318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智能提醒与动态调整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模型会结合实时气象数据，动态调整农事建议。例如，若预测到花期有霜冻风险，会提前推送防霜冻预警。同时，系统会持续监测生长进度，对农时偏差进行及时提醒。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1905000"/>
            <a:ext cx="4826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858000" y="2413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620000" y="2413000"/>
            <a:ext cx="3556000" cy="342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“知天而作”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  <a:spcBef>
                <a:spcPts val="24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将传统依赖经验的“看天吃饭”，转变为基于科学模型的“知天而作”，确保每一项农事操作都在最佳的时间窗口内完成，从而最大化产量和品质。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预期成效：看得见的价值提升，可量化的管理改善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核心指标改善对比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794000"/>
            <a:ext cx="2095500" cy="1333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农事排程时间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从2小时/天到 &lt;30分钟/天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↓ 75%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667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19500" y="2794000"/>
            <a:ext cx="2095500" cy="1333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农事记录完整率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 &lt;30% 到 &gt;80%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↑ 167%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445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572000"/>
            <a:ext cx="2095500" cy="1333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农资库存准确率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从约60% 到 &gt;95%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↑ 58%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4445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19500" y="4572000"/>
            <a:ext cx="2095500" cy="1333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风险预警响应时间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从小时级 到 &lt;5分钟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↓ &gt;90%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0" r="0" t="11538" b="11538"/>
          <a:stretch>
            <a:fillRect/>
          </a:stretch>
        </p:blipFill>
        <p:spPr>
          <a:xfrm rot="0" flipH="false" flipV="false">
            <a:off x="6223000" y="1651000"/>
            <a:ext cx="24765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12299" r="12300" t="0" b="0"/>
          <a:stretch>
            <a:fillRect/>
          </a:stretch>
        </p:blipFill>
        <p:spPr>
          <a:xfrm rot="0" flipH="false" flipV="false">
            <a:off x="8953500" y="1651000"/>
            <a:ext cx="24765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223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937000"/>
            <a:ext cx="4953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商业价值解读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413500" y="457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4508500"/>
            <a:ext cx="1270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降本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精细化管理，降低生产和管理成本。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7874000" y="457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8318500" y="4508500"/>
            <a:ext cx="1270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增效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精准指导，提升劳动生产率和资源利用率。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398000" y="4572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9906000" y="4508500"/>
            <a:ext cx="1270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科学管理，显著提升优果率和果实品质。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系统预览：强大后台，一览无余的电脑端界面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32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首页仪表盘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79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为管理者提供一个总览全局的“驾驶舱”，关键指标一目了然，辅助高效决策。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34000" y="200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农事计划编排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279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甘特图形式可视化展示全年生产计划，任务分配清晰直观，执行进度高效追踪。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2032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017000" y="200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农资库存管理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18500" y="279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出入库全流程记录，实时掌握库存动态，自动预警库存水位，优化成本与供应。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9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572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651000" y="454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设备监控中心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533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对灌溉、温控等果园硬件设施进行集中联网监控，保障设备稳定运行，降低维护成本。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45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45000" y="419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45720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334000" y="454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采收记录统计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35500" y="533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详细记录批次、重量、等级等关键采收数据，多维度统计分析，为销售与生产复盘提供精准依据。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28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28000" y="419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18500" y="4572000"/>
            <a:ext cx="508000" cy="508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9017000" y="4546600"/>
            <a:ext cx="215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追溯码管理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18500" y="5334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支持按批次批量生成产品追溯码，关联全链路生产记录，让消费者买得放心。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系统预览：极简设计，轻松上手的移动端界面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98600"/>
            <a:ext cx="2095500" cy="3810000"/>
          </a:xfrm>
          <a:prstGeom prst="roundRect">
            <a:avLst>
              <a:gd name="adj" fmla="val 6060"/>
            </a:avLst>
          </a:prstGeom>
          <a:blipFill rotWithShape="true">
            <a:blip r:embed="rId3"/>
            <a:stretch>
              <a:fillRect l="0" r="0" t="0" b="0"/>
            </a:stretch>
          </a:blip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448300"/>
            <a:ext cx="20955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842000"/>
            <a:ext cx="20955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所有业务模块均数字化到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统一的系统上服务，操作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简便实用易懂。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92500" y="1498600"/>
            <a:ext cx="2171700" cy="3810000"/>
          </a:xfrm>
          <a:prstGeom prst="roundRect">
            <a:avLst>
              <a:gd name="adj" fmla="val 5847"/>
            </a:avLst>
          </a:prstGeom>
          <a:blipFill rotWithShape="true">
            <a:blip r:embed="rId4"/>
            <a:stretch>
              <a:fillRect l="0" r="0" t="0" b="0"/>
            </a:stretch>
          </a:blip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5448300"/>
            <a:ext cx="21717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记农事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5842000"/>
            <a:ext cx="21717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农事记录数字化，图文/视频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实时上传，历史数据随时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回溯源。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498600"/>
            <a:ext cx="2070100" cy="3810000"/>
          </a:xfrm>
          <a:prstGeom prst="roundRect">
            <a:avLst>
              <a:gd name="adj" fmla="val 6134"/>
            </a:avLst>
          </a:prstGeom>
          <a:blipFill rotWithShape="true">
            <a:blip r:embed="rId5"/>
            <a:stretch>
              <a:fillRect l="0" r="0" t="0" b="0"/>
            </a:stretch>
          </a:blip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5448300"/>
            <a:ext cx="20701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巡园打卡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5842000"/>
            <a:ext cx="20701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LBS位置精准打卡，隐患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问题一键上报，处理状态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实时追踪。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953500" y="1498600"/>
            <a:ext cx="2032000" cy="3810000"/>
          </a:xfrm>
          <a:prstGeom prst="roundRect">
            <a:avLst>
              <a:gd name="adj" fmla="val 6250"/>
            </a:avLst>
          </a:prstGeom>
          <a:blipFill rotWithShape="true">
            <a:blip r:embed="rId6"/>
            <a:stretch>
              <a:fillRect l="0" r="0" t="0" b="0"/>
            </a:stretch>
          </a:blip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953500" y="5448300"/>
            <a:ext cx="203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AI对话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5842000"/>
            <a:ext cx="2032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7x24小时农事顾问，智能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问答/专家知识库，辅助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科学决策。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一线友好：为一线员工减负，就是为生产力赋能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记录农事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2794000" cy="1079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手写→拍照→回办公室上传→录入系统 (繁琐)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拍照→选标签→提交 (仅3步)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巡园打卡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730500"/>
            <a:ext cx="2794000" cy="1079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手动签到→拍照→电话或微信汇报 (低效)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GPS自动定位→一键确认 (仅1步)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017000" y="20066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异常上报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1079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电话描述不清→等待技术员到场 (延误)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智慧果园：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拍照→选异常类型→提交 (仅3步)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强大的离线能力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5207000"/>
            <a:ext cx="2921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弱网/离线可正常操作，本地数据暂存，网络恢复后自动同步，确保数据不丢失。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5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极致简化设计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35500" y="5207000"/>
            <a:ext cx="2921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我们将复杂的管理逻辑隐藏在后台，为一线员工提供一个直观、便捷、可靠的操作界面。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4699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5207000"/>
            <a:ext cx="2921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“最好的工具是让使用者感觉不到它的存在。”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用户故事：智慧果园，在真实场景中创造价值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413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387600"/>
            <a:ext cx="2286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农事执行闭环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👤 基地管理者 · 张经理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4254500"/>
            <a:ext cx="2540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“以前每天花一两个小时打电话安排活儿，现在用‘智慧果园’排好计划，任务就自动发下去了。下午在外面办事，手机就能看进度，晚上日报也自动生成了，省了我太多事！”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699000" y="2413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5207000" y="2387600"/>
            <a:ext cx="2286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预警快速响应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1750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👤 企业管理者 · 李总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254500"/>
            <a:ext cx="2540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“有一次凌晨收到霜冻预警和设备离线报警，前后不到5分钟。这个系统真是给我们吃了颗定心丸，让我们在风险面前有了十足的底气。”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382000" y="24130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8890000" y="2387600"/>
            <a:ext cx="2286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一线极简操作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31750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👤 地块负责人 · 王师傅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4254500"/>
            <a:ext cx="2540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“我们平时在地里干活，最怕用那些复杂的软件。这‘智慧果园’就简单多了，打开就是干活，干完活拍个照点两下就提交了，完全不耽误手上的农活，挺好！”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技术保障：稳定、安全、可扩展的技术基石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800" y="20828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549400" y="2057400"/>
            <a:ext cx="3810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分层架构体系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8400" y="2984500"/>
            <a:ext cx="19812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集成Vue3, React Native, ECharts，实现高性能可视化展示。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81400" y="2984500"/>
            <a:ext cx="19812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统一API网关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统一认证入口，整合认证鉴权、流量监控及全链路监控能力。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68400" y="4635500"/>
            <a:ext cx="19812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微服务应用层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基于微服务架构拆分业务模块，实现独立部署、灵活扩展，保障系统高可用。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29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81400" y="4635500"/>
            <a:ext cx="19812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多元化数据层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融合MySQL、Redis、TimescaleDB及MinIO，适配业务、缓存、时序及对象存储场景。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527800" y="2082800"/>
            <a:ext cx="355600" cy="355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010400" y="2057400"/>
            <a:ext cx="3810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全方位安全保障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29400" y="2984500"/>
            <a:ext cx="19812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HTTPS全站加密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采用SSL/TLS协议对所有传输链路进行加密处理，有效防止数据在传输过程中被窃听或篡改。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42400" y="2984500"/>
            <a:ext cx="19812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RBAC权限体系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基于角色的访问控制模型，实现颗粒度的功能权限与数据权限隔离，确保分权分责。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29400" y="4635500"/>
            <a:ext cx="19812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全量操作审计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完整记录系统关键操作日志，支持日志的长期留存与追溯，满足合规与审计要求。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42400" y="4635500"/>
            <a:ext cx="19812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敏感数据加密存储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针对用户敏感个人信息及核心业务数据，实施端加密保护，规避数据库泄露风险。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合作模式：携手共赢，灵活的合作方案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30400"/>
            <a:ext cx="3302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730500"/>
            <a:ext cx="2921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适用规模：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1-3个基地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套餐价格：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25,000元/年/基地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包含内容：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核心功能模块、标准技术支持服务。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930400"/>
            <a:ext cx="3302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730500"/>
            <a:ext cx="2921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适用规模：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4-10个基地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套餐价格：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20,000元/年/基地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包含内容：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全功能模块、7x24小时优先支持、年度操作培训。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930400"/>
            <a:ext cx="3302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旗舰版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2730500"/>
            <a:ext cx="29210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适用规模：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10个以上基地（集团化）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套餐价格：</a:t>
            </a:r>
            <a:r>
              <a:rPr lang="en-US" b="true" i="false" strike="noStrike" u="none" sz="14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根据需求定制报价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包含内容：</a:t>
            </a: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专属客服团队、个性化定制开发、专家现场实施与培训。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527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5207000"/>
            <a:ext cx="177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7×24小时支持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随时响应您的业务需求，保障系统稳定运行。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556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746500" y="527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4318000" y="5207000"/>
            <a:ext cx="177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定期版本更新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持续优化系统功能，引入行业最佳实践。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540500" y="527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7112000" y="5207000"/>
            <a:ext cx="177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多重数据备份与容灾机制，确保数据资产万无一失。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17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207500" y="527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7" id="27"/>
          <p:cNvSpPr/>
          <p:nvPr/>
        </p:nvSpPr>
        <p:spPr>
          <a:xfrm rot="0" flipH="false" flipV="false">
            <a:off x="9779000" y="5207000"/>
            <a:ext cx="177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全方位培训赋能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提供操作手册、视频课程及现场指导，快速上手。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true">
            <a:blip r:embed="rId3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&amp; 联系我们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447800" y="2260600"/>
            <a:ext cx="2413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联系方式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2794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📧 邮箱：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user007a@126.com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📞 电话：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15111480531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🏢 地址：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长沙市枫林三路湘江智谷超算中心C区F栋308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5511800" y="2413000"/>
            <a:ext cx="1168400" cy="116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3810000"/>
            <a:ext cx="304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访问产品官网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扫描上方二维码，查看详细功能。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rcRect l="0" r="0" t="10742" b="10742"/>
          <a:stretch>
            <a:fillRect/>
          </a:stretch>
        </p:blipFill>
        <p:spPr>
          <a:xfrm rot="0" flipH="false" flipV="false">
            <a:off x="9194800" y="2413000"/>
            <a:ext cx="1168400" cy="116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3810000"/>
            <a:ext cx="304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添加产品经理微信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一对一咨询，获取定制化方案。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5461000"/>
            <a:ext cx="12192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让苹果种植更省心、更科学、更赚钱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智道易农科技有限公司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