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18288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智慧果园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Orchard Digital Management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懂苹果的种植管理平台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让苹果种植更省心、更科学、更赚钱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四端协同 · 全程数字 · 专为苹果种植企业打造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· 移动端 · 数据大屏 · H5消费者溯源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2026年05月  ·  智道易农科技有限公司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0" y="73152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1B6B3A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7315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🍎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NAVIGATION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市场洞察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行业趋势与用户痛点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核心价值与差异化优势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四端协同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PC·移动·大屏·H5架构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006840" y="128016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840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农事·农资·设备·预警·追溯·采收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18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43000" y="39776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AI与模型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智能助手·六大农业模型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3246120" y="3749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023360" y="39776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差异化亮点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02336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物候期·极简体验·区块链·无人机·VR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6126480" y="3749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03720" y="39776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372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数据说话·业务改善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381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9006840" y="3749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4400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784080" y="39776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合作洽谈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78408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技术架构·订阅方案·联系方式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018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市场洞察 — 行业趋势先行者已在路上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INSIGHTS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704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21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苹果种植面积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1704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14447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万吨（占全球40%+）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73552" y="2121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1704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14447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远低于工业/服务业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08192" y="2121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数字化渗透率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69680" y="10972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42832" y="11704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942832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0" y="14447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千亿级智慧农业市场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42832" y="2121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政策窗口期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行业先行者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32004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陕西洛川、山东烟台等核心产区龙头企业已率先部署智慧果园系统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2024年以来，苹果企业数字化投入同比增长超过 150%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国家农业数字化转型政策窗口期（2024-2028年），配套补贴力度加大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气象站、土壤传感器、虫情灯等智能设备部署量同比增长 80%+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果树种植数字化目标45%，当前仅11%，存在巨大增量空间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6517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同行案例对比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200400"/>
          <a:ext cx="5029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企业类型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数字化投入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核心成效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大型集团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全面部署三端系统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成本↓18%，品质↑15%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中型基地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移动端+设备监控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效率↑30%，完整率&gt;85%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合作社联盟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统一平台管理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溯源增强，品牌溢价↑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管理者的烦恼 — 企业管理视角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POINTS: MANAGERS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产量/农资/人员数据分散在不同系统，无法关联分析，决策缺乏依据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预警滞后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气象/虫情/设备预警响应为小时级，错失最佳处置窗口期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2396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DD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手工汇总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周报月报需人工整理，耗时且易出错，管理者看不到实时数据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库存失控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采购-使用-库存三段脱节，库存准确率仅约60%，浪费严重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3657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834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3400" y="44805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产品来源不可查，无法满足消费者溯源需求，品牌信任度低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239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DD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农事低效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3880" y="44805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依赖微信群+电话排农事，排程耗时2-4小时/次，执行反馈慢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一线的挑战 — 地块负责者视角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POINTS: FRONTLINE WORKERS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操作复杂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现有APP步骤多，学不会就不用，每多一次点击，一天多几十次操作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网络不稳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8745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山区信号弱，记录提交失败，数据丢失，严重影响工作连续性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✍️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2396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记录麻烦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18745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打字多、选项复杂，影响干活效率，农事记录完整率不足30%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"每多一次点击，一天多几十次操作"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地块负责者真实反馈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852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农事记录完整率 &lt;30%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现状基线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5852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排程耗时 2-4小时/次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6217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管理成本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5852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 ~60%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0" y="6217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资产流失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懂苹果的种植管理平台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POSITIONING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不是通用农业ERP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而是以苹果物候期模型为引擎，以AI为核心的垂直专业化管理系统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"一线不用，系统白搭"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以地块负责者的极简操作体验为生死线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核心动作≤3步完成，离线优先，大字大按钮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四端协同定位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指挥中心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776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编排决策·审批分析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5256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— 执行前线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52560" y="3776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任务执行·拍照记录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251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大屏端 — 决策舱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507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实时态势·全局监控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52560" y="4251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H5端 — 消费者溯源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2560" y="4507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扫码查看苹果履历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5394960"/>
            <a:ext cx="11430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806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通用ERP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设备厂商系统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AI问答平台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智慧果园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苹果专业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不懂苹果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只管设备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通用知识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垂直深耕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农事闭环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 部分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全链路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AI+模型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人工为主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无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 仅问答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双重赋能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六大核心优势 — 差异化亮点矩阵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DIFFERENTIATION MATRIX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0472" y="11612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90472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" y="16184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农资全链路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8562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采购→退货→使用→库存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库存准确率&gt;95%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1612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00984" y="16184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六大农业模型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00984" y="18562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生长/气象/病虫害/物候期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产量/价格预测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51192" y="11612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251192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81344" y="16184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AI智能助手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18562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智能问答+图像识别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24小时专业顾问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06840" y="10515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31552" y="11612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131552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61704" y="16184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区块链溯源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61704" y="18562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数据上链不可篡改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消费者信任度提升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90472" y="39044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490472" y="3904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20624" y="43616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四层预警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5994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农事/设备/气象/库存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分钟级响应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37947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0832" y="39044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370832" y="3904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🚁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00984" y="43616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无人机巡园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00984" y="45994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高空视角+AI识别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效率提升80%+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51192" y="39044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251192" y="3904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81344" y="43616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VR全景展示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81344" y="45994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360°沉浸式浏览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远程参观营销赋能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06840" y="37947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131552" y="39044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10131552" y="3904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061704" y="436168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综合健康指数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61704" y="4599432"/>
            <a:ext cx="25420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多模型加权评估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一目了然看全局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四端协同架构 — 指挥中心 + 执行前线 + 决策舱 + 消费者溯源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FOUR-END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指挥中心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计划编排 · 审批决策 · 报表分析 · 模型预测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基地/地块信息管理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农事计划编排与下达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农资采购审批与库存管理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设备监控与预警设置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产品追溯与采收管理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六大模型预测中心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234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— 执行前线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 · 拍照记录 · 巡园打卡 · AI助手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首屏即任务，今日待办一目了然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拍照即记录，3步完成农事记录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离线优先，弱网可用数据不丢失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AI助手随时咨询种植问题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模型快讯滚动展示关键信息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GIS地图+画地块+病虫害识别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94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大屏端 — 决策舱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 · 预警汇总 · 汇报展示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KPI卡片：人员/基地/地块/面积/产量/产值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实景为中心：航拍图+模型风险叠加层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综合健康指数：环形图+百分制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市场预测快报：价格曲线+最佳出售窗口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气象/土壤实时数据双卡片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预警动画弹窗+模型预测中心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794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H5端 — 消费者溯源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160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扫码查询 · 数字履历 · 区块链验真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零门槛访问：扫码直达，无需下载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苹果数字履历：品种/产地/种植过程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区块链存证徽章：一键核验真伪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种植时间轴：萌芽→采收全过程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质检证书展示：农药残留/有机认证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1000" dirty="0">
                <a:solidFill>
                  <a:srgbClr val="1F2937"/>
                </a:solidFill>
              </a:rPr>
              <a:t>气候环境数据：种植期间气象摘要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指挥中心 — PC端功能详解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DASHBOARD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6858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005840"/>
            <a:ext cx="4297680" cy="50292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146304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🏢 企业管理：基地/地块信息管理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🌱 农事管理：生产计划/农事记录/巡园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🧪 农资管理：采购/退货/使用/库存全链路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📡 设备管理：7类设备接入与监控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⚠️ 预警管理：四层预警体系+企业内报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🔍 产品追溯：追溯码+区块链存证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🍇 采收管理：计划/记录/采后处理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🧠 模型预测中心：六大农业分析模型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🚁 无人机巡园：航线规划+AI识别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🔮 VR全景展示：360°沉浸式浏览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⚙️ 系统设置：用户/角色/权限/数据备份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农事管理 &amp; 农资管理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FARMING &amp; MATERIAL MANAGEMENT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657600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187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生产计划编排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005840"/>
            <a:ext cx="3657600" cy="3182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4187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农事记录管理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05840"/>
            <a:ext cx="3657600" cy="31821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4187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日常巡园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4663440"/>
            <a:ext cx="3657600" cy="17190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农资库存管理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0" y="4663440"/>
            <a:ext cx="3657600" cy="17190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农资使用记录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4663440"/>
            <a:ext cx="3657600" cy="17190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设备监控 · 预警管理 · 产品追溯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· ALERT · TRACEABILITY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657600" cy="2450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设备监控总览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005840"/>
            <a:ext cx="365760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设备详情信息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05840"/>
            <a:ext cx="3657600" cy="2450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设备维护记录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3931920"/>
            <a:ext cx="3657600" cy="2450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设备预警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0" y="3931920"/>
            <a:ext cx="3657600" cy="2450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农事预警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3931920"/>
            <a:ext cx="3657600" cy="2450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溯源二维码管理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六大模型预测中心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PREDICTION CENTER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657600" cy="2450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生长模型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005840"/>
            <a:ext cx="365760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气象模型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05840"/>
            <a:ext cx="3657600" cy="2450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病虫害模型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3931920"/>
            <a:ext cx="3657600" cy="2450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物候期模型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0" y="3931920"/>
            <a:ext cx="3657600" cy="2450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产量预估模型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3931920"/>
            <a:ext cx="3657600" cy="2450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市场价格预测模型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— 采收管理 · 无人机巡园 · VR全景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HARVEST · DRONE · VR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657600" cy="2450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采收计划管理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005840"/>
            <a:ext cx="365760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采收记录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05840"/>
            <a:ext cx="3657600" cy="2450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0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采后处理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3931920"/>
            <a:ext cx="3657600" cy="2450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无人机巡园管理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0" y="3931920"/>
            <a:ext cx="3657600" cy="2450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VR基地全景展示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3931920"/>
            <a:ext cx="3657600" cy="2450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04672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区块链存证管理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执行前线 — 移动端功能详解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APP FEATURES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320040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02336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🎯 首屏即任务：打开直接看到今日待办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📸 拍照即记录：3步完成农事记录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📶 离线优先：弱网可用，数据不丢失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🔤 大字大按钮：适合田间操作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🤖 AI助手：随时咨询种植问题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40480" y="3749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02336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底部导航功能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23360" y="4206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首页：待办/天气/AI入口/环境数据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服务：记农事/巡园/画地块/识病虫/领农资/领标签/看计划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AI：智能问答/病害识别/作物识别/虫子识别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地块：地块列表/GIS地图/快速操作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</a:rPr>
              <a:t>我的：消息/地块/农资/标签/计划/提问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46720" y="1005840"/>
            <a:ext cx="3840480" cy="54864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模型快讯卡片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146304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21040" y="1508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生长模型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"当前95%地块进入膨大期，请关注水肥。"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229600" y="2267712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21040" y="23134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🐛 病虫害模型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"明日锈病风险中（指数65），建议喷施药剂。"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229600" y="3072384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21040" y="31181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市场价格模型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"预测下月价格上升3%，请留意销售。"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229600" y="3877056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21040" y="39227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🌤️ 气象模型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"后天霜冻概率70%，请注意防冻。"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229600" y="4681728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21040" y="47274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产量预估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"全园预估450吨，较去年+8%。"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229600" y="548640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321040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🚦 风险摘要</a:t>
            </a:r>
            <a:endParaRPr lang="en-US" sz="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红灯:0  黄灯:2  绿灯:6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— 界面展示（一）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UI SHOWCASE (1)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228600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005840"/>
            <a:ext cx="2286000" cy="5029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12080" y="1005840"/>
            <a:ext cx="2286000" cy="5029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巡果园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0" y="1005840"/>
            <a:ext cx="2286000" cy="5029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8096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服务中心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49840" y="1005840"/>
            <a:ext cx="1828800" cy="2926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49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记农事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— 界面展示（二）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UI SHOWCASE (2)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228600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AI智能助手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005840"/>
            <a:ext cx="2286000" cy="5029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病虫害识别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12080" y="1005840"/>
            <a:ext cx="2286000" cy="5029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模型预测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0" y="1005840"/>
            <a:ext cx="2286000" cy="5029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8096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农资管理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49840" y="1005840"/>
            <a:ext cx="1828800" cy="2926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49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设备监控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— 界面展示（三）模型·地图·特殊功能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UI SHOWCASE (3)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22860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生长阶段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005840"/>
            <a:ext cx="228600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病虫害风险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12080" y="1005840"/>
            <a:ext cx="228600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气象早知道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0" y="1005840"/>
            <a:ext cx="2286000" cy="2926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8096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产量估测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49840" y="1005840"/>
            <a:ext cx="1828800" cy="2926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49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价格预测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4320" y="4389120"/>
            <a:ext cx="2286000" cy="20116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7432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GIS地图</a:t>
            </a:r>
            <a:endParaRPr lang="en-US" sz="8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743200" y="4389120"/>
            <a:ext cx="2286000" cy="20116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2743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画地块</a:t>
            </a:r>
            <a:endParaRPr lang="en-US" sz="8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212080" y="4389120"/>
            <a:ext cx="2286000" cy="20116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21208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无人机巡园</a:t>
            </a:r>
            <a:endParaRPr lang="en-US" sz="8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80960" y="4389120"/>
            <a:ext cx="2286000" cy="20116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68096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VR全景</a:t>
            </a:r>
            <a:endParaRPr lang="en-US" sz="8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149840" y="4389120"/>
            <a:ext cx="1828800" cy="20116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01498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看计划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 — 农事管理全流程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FARMING MANAGEMENT LOOP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基地管理者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(PC端)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编排生产计划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物候期模板推荐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自动下发任务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移动端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3716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371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地块负责者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(移动端)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1031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拍照记录农事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3步完成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8346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巡园打卡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GPS自动定位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371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数据上卷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报表自动生成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1031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经营报表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日报/周报/月报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28346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洞察反馈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计划优化调整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65760" y="53949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排程时间减少 60%+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从2-4小时/次降至&lt;30分钟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53949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记录完整率 &gt;80%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48056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从&lt;30%提升至80%以上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53949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1248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3步完成核心操作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412480" y="5943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拍照→选标签→提交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独家优势 — 农资全链路管理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 FULL LIFECYCLE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7315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1F2937"/>
                </a:solidFill>
              </a:rPr>
              <a:t>采购申请 → 审批 → 入库 → 库存管理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1F2937"/>
                </a:solidFill>
              </a:rPr>
              <a:t>领用申请 → 使用记录 → 库存扣减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1F2937"/>
                </a:solidFill>
              </a:rPr>
              <a:t>退货管理 → 退款 → 库存调整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1F2937"/>
                </a:solidFill>
              </a:rPr>
              <a:t>用量异常预警（超标准20%自动预警）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→"/>
            </a:pPr>
            <a:r>
              <a:rPr lang="en-US" sz="1100" dirty="0">
                <a:solidFill>
                  <a:srgbClr val="1F2937"/>
                </a:solidFill>
              </a:rPr>
              <a:t>低于安全库存线自动提醒采购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0"/>
            <a:ext cx="3840480" cy="1170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农资出入库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46720" y="2743200"/>
            <a:ext cx="3840480" cy="1170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0" y="3913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退货管理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4572000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预期成效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5349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~60%  →  &gt;95%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29768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采购审批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97680" y="5349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线下/电话  →  在线审批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用量监控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046720" y="5349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无监控  →  异常自动预警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智能监控 — 7类设备管理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767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94767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🌡️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9019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温湿度/风速/降雨量/光照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815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78815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6110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土壤传感器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1104" y="19019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湿度/pH值/EC值/温度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2863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2863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0158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虫情灯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1584" y="19019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虫害识别与数量统计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47672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947672" y="3035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📹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0624" y="34930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监控设备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7307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实时视频/历史回放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8152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788152" y="3035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💧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261104" y="34930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水肥设备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61104" y="37307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远程控制/配方调整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46720" y="29260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28632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9628632" y="3035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01584" y="34930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工控设备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01584" y="3730752"/>
            <a:ext cx="34564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启停控制/参数调整</a:t>
            </a:r>
            <a:endParaRPr lang="en-US" sz="8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937760"/>
            <a:ext cx="3657600" cy="135331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65760" y="6291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设备监控总览</a:t>
            </a:r>
            <a:endParaRPr lang="en-US" sz="8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4937760"/>
            <a:ext cx="3657600" cy="135331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297680" y="6291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设备运行日志</a:t>
            </a:r>
            <a:endParaRPr lang="en-US" sz="8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4937760"/>
            <a:ext cx="3657600" cy="13533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229600" y="6291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设备维护记录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分钟级响应 — 四层预警体系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FOUR-LAYER ALERT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设备预警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触发条件：故障/离线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通知方式：电话+弹窗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气象预警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触发条件：霜冻/暴雨/高温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通知方式：电话+短信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农事预警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触发条件：物候期/逾期/病虫害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通知方式：APP推送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0972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0684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982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触发条件：低于安全线/用量异常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982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通知方式：APP推送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响应时间对比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现状：小时级响应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39496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94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目标：分钟级响应（&lt;5分钟）</a:t>
            </a:r>
            <a:endParaRPr lang="en-US" sz="14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4114800"/>
            <a:ext cx="2743200" cy="21762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21792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预警规则设置</a:t>
            </a:r>
            <a:endParaRPr lang="en-US" sz="8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4114800"/>
            <a:ext cx="2651760" cy="21762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235440" y="6291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企业内报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品牌信任 — 产品追溯+区块链存证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TRACEABILITY &amp; BLOCKCHAIN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消费者扫码体验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🍎 品种：红富士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📍 产地：陕西省洛川县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📅 采收日期：2026年10月15日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🌱 种植历程时间轴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   3月15日 春季修剪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   4月20日 疏花授粉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   5月25日 套袋保护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   9月10日 摘袋着色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✅ 质检报告：农药残留未检出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🔗 区块链存证：一键验真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097280"/>
            <a:ext cx="3017520" cy="2907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4005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溯源码管理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0" y="1097280"/>
            <a:ext cx="2926080" cy="2907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0" y="40050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4572000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溯源价值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097280" y="5029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品牌溢价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97280" y="5303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消费者愿意为可追溯产品买单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38328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33832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931920" y="5029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931920" y="5303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满足监管追溯要求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21792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📣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766560" y="5029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营销素材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66560" y="5303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透明种植过程提升品牌形象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05256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90525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9601200" y="5029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区块链防篡改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601200" y="5303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核心数据上链存证不可篡改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4572000"/>
            <a:ext cx="2743200" cy="17190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6576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H5消费者溯源页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专业引擎 — 苹果物候期模型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PHENOLOGY MODEL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物候期时间轴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休眠期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11月-2月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冬剪、清园、防寒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600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极端低温冻害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03911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39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萌芽期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039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3月-4月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039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春剪、追肥、病虫害防治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039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倒春寒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47802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78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花期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2478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4月-5月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478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疏花、授粉、防霜冻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24780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霜冻/降雨影响授粉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916936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169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幼果期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2916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5月-6月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916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疏果、套袋、追肥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29169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冰雹/虫害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35584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膨大期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7月-8月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追肥、灌溉、病虫害防治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33558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干旱/涝害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着色期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794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摘袋、铺反光膜、控水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降雨影响着色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23367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233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42336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10月-11月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4233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采收、分级、入库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0" y="42336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早霜/采收延迟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50292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模型驱动逻辑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486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根据品种+树龄自动匹配时间窗口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到达节点自动推送农事建议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气象数据联动调整建议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采收模块由成熟期物候自动激活</a:t>
            </a:r>
            <a:endParaRPr lang="en-US" sz="10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5029200"/>
            <a:ext cx="2743200" cy="126187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21792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物候期模型</a:t>
            </a:r>
            <a:endParaRPr lang="en-US" sz="800" dirty="0"/>
          </a:p>
        </p:txBody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5029200"/>
            <a:ext cx="2651760" cy="126187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9235440" y="6291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模型参数配置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一线友好 — 极简操作体验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SIMPLIFIED UX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858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核心操作对比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92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传统方式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智慧果园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记农事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手写→拍照→上传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拍照→选标签→提交（3步）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巡园打卡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手动打卡→拍照→汇报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GPS自动→一键确认（1步）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异常上报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电话描述→等处理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拍照→选类型→提交（3步）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领用农资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填表→签字→领用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在线申请→审批→领用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572000"/>
            <a:ext cx="685800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离线能力保障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0292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弱网/离线可正常操作核心功能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本地暂存数据≥7天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网络恢复后60秒内自动同步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图片压缩后上传，减少流量消耗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边缘计算：关键模型部署至本地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097280"/>
            <a:ext cx="2103120" cy="2907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4005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记农事-3步完成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66960" y="1097280"/>
            <a:ext cx="1920240" cy="29077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6696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巡园打卡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89520" y="4572000"/>
            <a:ext cx="4297680" cy="17190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89520" y="62910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故障排查自助引导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决策舱 — 数据可视化大屏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VISUALIZATION DASHBOARD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77724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00584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1097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大屏核心功能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1463040"/>
            <a:ext cx="3108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KPI卡片：8项核心指标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实景为中心：航拍图+叠加层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综合健康指数：环形图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市场预测快报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模型风险叠加层切换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预警动画弹窗3秒收入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气象/土壤双数据卡片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模型预测中心2x2弹窗</a:t>
            </a:r>
            <a:endParaRPr lang="en-US" sz="9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▶"/>
            </a:pPr>
            <a:r>
              <a:rPr lang="en-US" sz="950" dirty="0">
                <a:solidFill>
                  <a:srgbClr val="1F2937"/>
                </a:solidFill>
              </a:rPr>
              <a:t>支持16:9/21:9大屏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智慧顾问 — AI智能助手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🧠 智能问答：苹果种植全周期知识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🏷️ 分类检索：综合/植保/种植/育种/作物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📷 AI识别：病害/作物/虫子/随心拍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📜 历史记录：自动保存随时回顾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💭 深度思考：开启后回答更全面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🎤 语音输入：支持语音提问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专业知识覆盖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55448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病虫害防治：红蜘蛛/腐烂病/蚜虫/轮纹病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施肥管理：基肥/追肥/叶面喷肥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果园管理：套袋/疏果/修剪/授粉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品种特性：红富士/嘎啦/乔纳金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114800"/>
            <a:ext cx="2743200" cy="2267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6382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AI智能助手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4114800"/>
            <a:ext cx="2743200" cy="22677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6382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病害识别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4114800"/>
            <a:ext cx="2743200" cy="22677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6382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专家咨询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18320" y="4114800"/>
            <a:ext cx="2468880" cy="22677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0" y="6382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反馈与收藏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六大农业智能模型 — 懂苹果的决策引擎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SIX AGRICULTURAL MODELS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767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94767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9019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实时判断生长阶段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精准推荐农事操作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生长异常自动报警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815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78815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🌤️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6110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气象模型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1104" y="19019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7-14天精细预报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极端天气倒计时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苹果专属气象指数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28632" y="12070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2863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01584" y="16642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1584" y="19019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风险热力地图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防治建议卡片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减少20-30%农药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47672" y="39502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947672" y="3950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0624" y="44074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物候期模型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46451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物候期日历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农时偏差提醒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自动生成农事模板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3840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8152" y="39502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788152" y="3950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261104" y="44074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产量预估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61104" y="46451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分地块/品种预估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置信区间展示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精度目标±10%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28632" y="39502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9628632" y="3950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01584" y="4407408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价格预测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01584" y="4645152"/>
            <a:ext cx="34564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6个月价格趋势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最佳销售时窗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情景模拟分析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消费者信任 — 数字履历与H5溯源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 RESUME &amp; H5 TRACEABILITY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H5消费者溯源端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零门槛访问：扫码直达，无需下载App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绿色清新UI：#2e9e5a绿色主题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移动端自适应：完美适配各机型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区块链防篡改：一键验真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产品信息：品种/等级/产地/批次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种植时间轴：萌芽→采收全过程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质检证书：农药残留/有机认证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气候环境：种植期间气象摘要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097280"/>
            <a:ext cx="2743200" cy="2907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0" y="4005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H5消费者溯源页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9235440" y="10972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880" y="15544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基地认证上链</a:t>
            </a:r>
            <a:endParaRPr lang="en-US" sz="9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种植记录上链</a:t>
            </a:r>
            <a:endParaRPr lang="en-US" sz="9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关键农事存证</a:t>
            </a:r>
            <a:endParaRPr lang="en-US" sz="9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IoT数据快照</a:t>
            </a:r>
            <a:endParaRPr lang="en-US" sz="9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采收记录存证</a:t>
            </a:r>
            <a:endParaRPr lang="en-US" sz="9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</a:rPr>
              <a:t>质检报告Hash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4572000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消费者旅程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73736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96596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96596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查看信息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5468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8328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浏览时间轴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80060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核验区块链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8932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查看质检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0664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63524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763524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分享/收藏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82396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05256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905256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信任提升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241280" y="5029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469880" y="50292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2E9E5A"/>
          </a:solidFill>
          <a:ln/>
        </p:spPr>
      </p:sp>
      <p:sp>
        <p:nvSpPr>
          <p:cNvPr id="37" name="Text 34"/>
          <p:cNvSpPr/>
          <p:nvPr/>
        </p:nvSpPr>
        <p:spPr>
          <a:xfrm>
            <a:off x="10469880" y="5029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复购增强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科技赋能 — 无人机巡园 &amp; VR全景展示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DRONE PATROL &amp; VR PANORAMA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🚁 无人机巡园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航线规划：地图划定区域自动生成最优航线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实时回传：视频实时传输至PC端管理界面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AI识别：自动识别病虫害/长势异常/倒伏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报告生成：巡园后自动生成图文报告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任务联动：发现问题直接发起农事任务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效率提升80%+，全园无死角覆盖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572000"/>
            <a:ext cx="2743200" cy="17190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PC端无人机管理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4572000"/>
            <a:ext cx="2743200" cy="17190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移动端无人机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217920" y="10972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VR基地全景展示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15544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360°全景摄影技术，沉浸式数字化呈现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Web端免安装浏览，鼠标/触控拖拽探索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关键点位信息热点标注（设备/地块/作物）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移动端陀螺仪联动，转手机即探索全景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远程参观接待、品牌营销、政府汇报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大屏自动播放预设漫游路径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4572000"/>
            <a:ext cx="2743200" cy="17190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62910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PC端VR全景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5440" y="4572000"/>
            <a:ext cx="2468880" cy="17190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440" y="6291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移动端VR全景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 — 采收管理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HARVEST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7315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采收全流程闭环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基于物候期和果实成熟度制定采收计划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分配采收区域、班组和时间段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移动端采收人员接收任务通知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按分级记录产量（特级/一级/二级/等外）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采后处理：分拣→包装→入库→出库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与产品追溯模块双向联动，追溯码状态自动更新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0"/>
            <a:ext cx="3840480" cy="2450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0" y="3547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采收计划管理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4114800"/>
            <a:ext cx="3657600" cy="22677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采收记录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4114800"/>
            <a:ext cx="3657600" cy="22677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9768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采后处理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0" y="4114800"/>
            <a:ext cx="3657600" cy="22677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0" y="6382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追溯查询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 — 业务改善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农事排程时间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2-4小时/天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&lt;30分钟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1554480" cy="502920"/>
          </a:xfrm>
          <a:prstGeom prst="roundRect">
            <a:avLst>
              <a:gd name="adj" fmla="val 27273"/>
            </a:avLst>
          </a:prstGeom>
          <a:solidFill>
            <a:srgbClr val="2E9E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-75%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75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记录完整率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3774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&lt;30%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32004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&gt;80%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94760" y="3840480"/>
            <a:ext cx="1554480" cy="502920"/>
          </a:xfrm>
          <a:prstGeom prst="roundRect">
            <a:avLst>
              <a:gd name="adj" fmla="val 27273"/>
            </a:avLst>
          </a:prstGeom>
          <a:solidFill>
            <a:srgbClr val="1E88E5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+167%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3774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32004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&gt;95%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75120" y="3840480"/>
            <a:ext cx="1554480" cy="502920"/>
          </a:xfrm>
          <a:prstGeom prst="roundRect">
            <a:avLst>
              <a:gd name="adj" fmla="val 27273"/>
            </a:avLst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+58%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0684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068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0982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预警响应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89720" y="23774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0684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89720" y="32004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91897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&lt;5分钟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555480" y="3840480"/>
            <a:ext cx="1554480" cy="502920"/>
          </a:xfrm>
          <a:prstGeom prst="roundRect">
            <a:avLst>
              <a:gd name="adj" fmla="val 27273"/>
            </a:avLst>
          </a:prstGeom>
          <a:solidFill>
            <a:srgbClr val="E53935"/>
          </a:solidFill>
          <a:ln/>
        </p:spPr>
      </p:sp>
      <p:sp>
        <p:nvSpPr>
          <p:cNvPr id="44" name="Text 42"/>
          <p:cNvSpPr/>
          <p:nvPr/>
        </p:nvSpPr>
        <p:spPr>
          <a:xfrm>
            <a:off x="955548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&gt;90%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5029200"/>
            <a:ext cx="11430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综合价值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农资全链路：库存准确率&gt;95%，浪费大幅减少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AI+模型驱动：减少20-30%农药用量，科学决策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区块链溯源：品牌溢价，消费者信任度显著提升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🚁 无人机巡园：巡园效率提升80%+，全园无死角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 — 典型场景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28016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👨‍💼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基地管理者张经理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农事执行闭环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早晨在电脑端排布农事计划，任务自动下达到地块负责人；下午在田间用手机查看执行进度；晚上收到自动生成的日报。排程时间从4小时降至20分钟。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09728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28016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👔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4340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企业管理者李总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预警快速响应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32004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出差途中收到设备故障预警推送，电话通知基地处理，5分钟内收到处置反馈。再也不用担心出差时基地出问题不知情。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09728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0" y="128016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👷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地块负责人王师傅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一线极简操作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32004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打开APP直接看到今日任务，拍照记录农事3步完成，网络不好也能正常操作。再也不用回来补填纸质记录了。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技术保障 — 系统架构与安全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分层技术架构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(PC/大屏) / React Native (移动) / H5 Web (溯源)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E9E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22219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/ Java Spring Boot / RESTful API + GraphQL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437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8437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ML (农业模型) / TensorFlow Lite / LLM API (AI助手)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B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465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InfluxDB (IoT时序) + OSS (文件/图片)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08736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539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873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4087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(传感器) / 无人机SDK / WebRTC (视频)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联盟链节点 (溯源存证) / 智能合约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33095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30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94560" y="5330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 / 云服务器 / 边缘计算节点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15544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🔒 HTTPS全站加密 (TLS 1.3)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🔐 RBAC权限控制 + 操作审计日志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💾 每日全量+每小时增量备份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🛡️ 敏感数据加密存储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📱 移动端支持72小时离线作业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🌍 异地双备份，RTO≤4小时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非功能性指标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页面首屏加载≤3秒 (4G网络)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SLA 99.5% 可用性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500并发用户支撑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</a:rPr>
              <a:t>WCAG 2.1 AA可访问性标准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4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2000" cy="777240"/></a:xfrm><a:prstGeom prst="rect"><a:avLst></a:avLst></a:prstGeom><a:solidFill><a:srgbClr val="2E9E5A"/></a:solidFill><a:ln></a:ln></p:spPr></p:sp><p:sp><p:nvSpPr><p:cNvPr id="3" name="Text 1"></p:cNvPr><p:cNvSpPr/><p:nvPr></p:nvPr></p:nvSpPr><p:spPr><a:xfrm><a:off x="548640" y="109728"/><a:ext cx="9144000" cy="457200"/></a:xfrm><a:prstGeom prst="rect"><a:avLst></a:avLst></a:prstGeom><a:noFill/><a:ln></a:ln></p:spPr><p:txBody><a:bodyPr wrap="square" rtlCol="0" anchor="t"></a:bodyPr><a:lstStyle/><a:p><a:pPr algn="l" indent="0" marL="0"><a:lnSpc><a:spcPct val="120000"/></a:lnSpc><a:buNone/></a:pPr><a:r><a:rPr lang="en-US" sz="20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携手共赢 — 合作方案</a:t></a:r><a:endParaRPr lang="en-US" sz="2000" dirty="0"/></a:p></p:txBody></p:sp><p:sp><p:nvSpPr><p:cNvPr id="4" name="Text 2"></p:cNvPr><p:cNvSpPr/><p:nvPr></p:nvPr></p:nvSpPr><p:spPr><a:xfrm><a:off x="548640" y="475488"/><a:ext cx="9144000" cy="256032"/></a:xfrm><a:prstGeom prst="rect"><a:avLst></a:avLst></a:prstGeom><a:noFill/><a:ln></a:ln></p:spPr><p:txBody><a:bodyPr wrap="square" rtlCol="0" anchor="t"></a:bodyPr><a:lstStyle/><a:p><a:pPr algn="l" indent="0" marL="0"><a:lnSpc><a:spcPct val="120000"/></a:lnSpc><a:buNone/></a:pPr><a:r><a:rPr lang="en-US" sz="1000" dirty="0"><a:solidFill><a:srgbClr val="E8F5E9"/></a:solidFill><a:latin typeface="Microsoft YaHei" pitchFamily="34" charset="0"/><a:ea typeface="Microsoft YaHei" pitchFamily="34" charset="-122"/><a:cs typeface="Microsoft YaHei" pitchFamily="34" charset="-120"/></a:rPr><a:t>PRICING &amp; PARTNERSHIP</a:t></a:r><a:endParaRPr lang="en-US" sz="1000" dirty="0"/></a:p></p:txBody></p:sp><p:sp><p:nvSpPr><p:cNvPr id="5" name="Shape 3"></p:cNvPr><p:cNvSpPr/><p:nvPr></p:nvPr></p:nvSpPr><p:spPr><a:xfrm><a:off x="365760" y="1280160"/><a:ext cx="3566160" cy="4846320"/></a:xfrm><a:prstGeom prst="roundRect"><a:avLst><a:gd name="adj" fmla="val 2051"/></a:avLst></a:prstGeom><a:solidFill><a:srgbClr val="FFFFFF"/></a:solidFill><a:ln></a:ln><a:effectLst> <a:outerShdw sx="100000" sy="100000" kx="0" ky="0" algn="bl" rotWithShape="0" blurRad="76200" dist="25400" dir="16200000"> <a:srgbClr val="000000"> <a:alpha val="10000"/></a:srgbClr> </a:outerShdw></a:effectLst></p:spPr></p:sp><p:sp><p:nvSpPr><p:cNvPr id="6" name="Text 4"></p:cNvPr><p:cNvSpPr/><p:nvPr></p:nvPr></p:nvSpPr><p:spPr><a:xfrm><a:off x="502920" y="1463040"/><a:ext cx="3291840" cy="32004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800" b="1" dirty="0"><a:solidFill><a:srgbClr val="1E88E5"/></a:solidFill><a:latin typeface="Microsoft YaHei" pitchFamily="34" charset="0"/><a:ea typeface="Microsoft YaHei" pitchFamily="34" charset="-122"/><a:cs typeface="Microsoft YaHei" pitchFamily="34" charset="-120"/></a:rPr><a:t>基础版</a:t></a:r><a:endParaRPr lang="en-US" sz="1800" dirty="0"/></a:p></p:txBody></p:sp><p:sp><p:nvSpPr><p:cNvPr id="7" name="Text 5"></p:cNvPr><p:cNvSpPr/><p:nvPr></p:nvPr></p:nvSpPr><p:spPr><a:xfrm><a:off x="502920" y="1828800"/><a:ext cx="3291840" cy="36576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2200" b="1" dirty="0"><a:solidFill><a:srgbClr val="1F2937"/></a:solidFill><a:latin typeface="Microsoft YaHei" pitchFamily="34" charset="0"/><a:ea typeface="Microsoft YaHei" pitchFamily="34" charset="-122"/><a:cs typeface="Microsoft YaHei" pitchFamily="34" charset="-120"/></a:rPr><a:t>2万/年/基地</a:t></a:r><a:endParaRPr lang="en-US" sz="2200" dirty="0"/></a:p></p:txBody></p:sp><p:sp><p:nvSpPr><p:cNvPr id="8" name="Text 6"></p:cNvPr><p:cNvSpPr/><p:nvPr></p:nvPr></p:nvSpPr><p:spPr><a:xfrm><a:off x="502920" y="2240280"/><a:ext cx="3291840" cy="22860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000" dirty="0"><a:solidFill><a:srgbClr val="6B7280"/></a:solidFill><a:latin typeface="Microsoft YaHei" pitchFamily="34" charset="0"/><a:ea typeface="Microsoft YaHei" pitchFamily="34" charset="-122"/><a:cs typeface="Microsoft YaHei" pitchFamily="34" charset="-120"/></a:rPr><a:t>1-3个基地</a:t></a:r><a:endParaRPr lang="en-US" sz="1000" dirty="0"/></a:p></p:txBody></p:sp><p:sp><p:nvSpPr><p:cNvPr id="9" name="Shape 7"></p:cNvPr><p:cNvSpPr/><p:nvPr></p:nvPr></p:nvSpPr><p:spPr><a:xfrm><a:off x="640080" y="2560320"/><a:ext cx="3017520" cy="18288"/></a:xfrm><a:prstGeom prst="rect"><a:avLst></a:avLst></a:prstGeom><a:solidFill><a:srgbClr val="9CA3AF"/></a:solidFill><a:ln></a:ln></p:spPr></p:sp><p:sp><p:nvSpPr><p:cNvPr id="10" name="Text 8"></p:cNvPr><p:cNvSpPr/><p:nvPr></p:nvPr></p:nvSpPr><p:spPr><a:xfrm><a:off x="502920" y="2697480"/><a:ext cx="3291840" cy="2743200"/></a:xfrm><a:prstGeom prst="rect"><a:avLst></a:avLst></a:prstGeom><a:noFill/><a:ln></a:ln></p:spPr><p:txBody><a:bodyPr wrap="square" rtlCol="0" anchor="t"></a:bodyPr><a:lstStyle/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核心功能模块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基础技术支持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移动端APP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基础预警体系</a:t></a:r><a:endParaRPr lang="en-US" sz="1000" dirty="0"/></a:p></p:txBody></p:sp><p:sp><p:nvSpPr><p:cNvPr id="11" name="Shape 9"></p:cNvPr><p:cNvSpPr/><p:nvPr></p:nvPr></p:nvSpPr><p:spPr><a:xfrm><a:off x="4206240" y="1051560"/><a:ext cx="3566160" cy="5303520"/></a:xfrm><a:prstGeom prst="roundRect"><a:avLst><a:gd name="adj" fmla="val 2051"/></a:avLst></a:prstGeom><a:solidFill><a:srgbClr val="E8F5E9"/></a:solidFill><a:ln w="6350"><a:solidFill><a:srgbClr val="2E9E5A"/></a:solidFill><a:prstDash val="solid"/></a:ln><a:effectLst> <a:outerShdw sx="100000" sy="100000" kx="0" ky="0" algn="bl" rotWithShape="0" blurRad="76200" dist="25400" dir="16200000"> <a:srgbClr val="000000"> <a:alpha val="10000"/></a:srgbClr> </a:outerShdw></a:effectLst></p:spPr></p:sp><p:sp><p:nvSpPr><p:cNvPr id="12" name="Shape 10"></p:cNvPr><p:cNvSpPr/><p:nvPr></p:nvPr></p:nvSpPr><p:spPr><a:xfrm><a:off x="5120640" y="868680"/><a:ext cx="1737360" cy="320040"/></a:xfrm><a:prstGeom prst="roundRect"><a:avLst><a:gd name="adj" fmla="val 34286"/></a:avLst></a:prstGeom><a:solidFill><a:srgbClr val="2E9E5A"/></a:solidFill><a:ln></a:ln></p:spPr></p:sp><p:sp><p:nvSpPr><p:cNvPr id="13" name="Text 11"></p:cNvPr><p:cNvSpPr/><p:nvPr></p:nvPr></p:nvSpPr><p:spPr><a:xfrm><a:off x="5120640" y="868680"/><a:ext cx="1737360" cy="320040"/></a:xfrm><a:prstGeom prst="rect"><a:avLst></a:avLst></a:prstGeom><a:noFill/><a:ln></a:ln></p:spPr><p:txBody><a:bodyPr wrap="square" rtlCol="0" anchor="ctr"></a:bodyPr><a:lstStyle/><a:p><a:pPr algn="ctr" indent="0" marL="0"><a:lnSpc><a:spcPct val="120000"/></a:lnSpc><a:buNone/></a:pPr><a:r><a:rPr lang="en-US" sz="10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推荐</a:t></a:r><a:endParaRPr lang="en-US" sz="1000" dirty="0"/></a:p></p:txBody></p:sp><p:sp><p:nvSpPr><p:cNvPr id="14" name="Text 12"></p:cNvPr><p:cNvSpPr/><p:nvPr></p:nvPr></p:nvSpPr><p:spPr><a:xfrm><a:off x="4343400" y="1234440"/><a:ext cx="3291840" cy="32004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800" b="1" dirty="0"><a:solidFill><a:srgbClr val="2E9E5A"/></a:solidFill><a:latin typeface="Microsoft YaHei" pitchFamily="34" charset="0"/><a:ea typeface="Microsoft YaHei" pitchFamily="34" charset="-122"/><a:cs typeface="Microsoft YaHei" pitchFamily="34" charset="-120"/></a:rPr><a:t>专业版</a:t></a:r><a:endParaRPr lang="en-US" sz="1800" dirty="0"/></a:p></p:txBody></p:sp><p:sp><p:nvSpPr><p:cNvPr id="15" name="Text 13"></p:cNvPr><p:cNvSpPr/><p:nvPr></p:nvPr></p:nvSpPr><p:spPr><a:xfrm><a:off x="4343400" y="1600200"/><a:ext cx="3291840" cy="36576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2200" b="1" dirty="0"><a:solidFill><a:srgbClr val="1F2937"/></a:solidFill><a:latin typeface="Microsoft YaHei" pitchFamily="34" charset="0"/><a:ea typeface="Microsoft YaHei" pitchFamily="34" charset="-122"/><a:cs typeface="Microsoft YaHei" pitchFamily="34" charset="-120"/></a:rPr><a:t>1.5万/年/基地</a:t></a:r><a:endParaRPr lang="en-US" sz="2200" dirty="0"/></a:p></p:txBody></p:sp><p:sp><p:nvSpPr><p:cNvPr id="16" name="Text 14"></p:cNvPr><p:cNvSpPr/><p:nvPr></p:nvPr></p:nvSpPr><p:spPr><a:xfrm><a:off x="4343400" y="2011680"/><a:ext cx="3291840" cy="22860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000" dirty="0"><a:solidFill><a:srgbClr val="6B7280"/></a:solidFill><a:latin typeface="Microsoft YaHei" pitchFamily="34" charset="0"/><a:ea typeface="Microsoft YaHei" pitchFamily="34" charset="-122"/><a:cs typeface="Microsoft YaHei" pitchFamily="34" charset="-120"/></a:rPr><a:t>4-10个基地</a:t></a:r><a:endParaRPr lang="en-US" sz="1000" dirty="0"/></a:p></p:txBody></p:sp><p:sp><p:nvSpPr><p:cNvPr id="17" name="Shape 15"></p:cNvPr><p:cNvSpPr/><p:nvPr></p:nvPr></p:nvSpPr><p:spPr><a:xfrm><a:off x="4480560" y="2331720"/><a:ext cx="3017520" cy="18288"/></a:xfrm><a:prstGeom prst="rect"><a:avLst></a:avLst></a:prstGeom><a:solidFill><a:srgbClr val="9CA3AF"/></a:solidFill><a:ln></a:ln></p:spPr></p:sp><p:sp><p:nvSpPr><p:cNvPr id="18" name="Text 16"></p:cNvPr><p:cNvSpPr/><p:nvPr></p:nvPr></p:nvSpPr><p:spPr><a:xfrm><a:off x="4343400" y="2468880"/><a:ext cx="3291840" cy="2743200"/></a:xfrm><a:prstGeom prst="rect"><a:avLst></a:avLst></a:prstGeom><a:noFill/><a:ln></a:ln></p:spPr><p:txBody><a:bodyPr wrap="square" rtlCol="0" anchor="t"></a:bodyPr><a:lstStyle/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全功能模块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六大模型预测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优先技术支持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操作培训服务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AI智能助手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数据大屏</a:t></a:r><a:endParaRPr lang="en-US" sz="1000" dirty="0"/></a:p></p:txBody></p:sp><p:sp><p:nvSpPr><p:cNvPr id="19" name="Shape 17"></p:cNvPr><p:cNvSpPr/><p:nvPr></p:nvPr></p:nvSpPr><p:spPr><a:xfrm><a:off x="8046720" y="1280160"/><a:ext cx="3566160" cy="4846320"/></a:xfrm><a:prstGeom prst="roundRect"><a:avLst><a:gd name="adj" fmla="val 2051"/></a:avLst></a:prstGeom><a:solidFill><a:srgbClr val="FFFFFF"/></a:solidFill><a:ln></a:ln><a:effectLst> <a:outerShdw sx="100000" sy="100000" kx="0" ky="0" algn="bl" rotWithShape="0" blurRad="76200" dist="25400" dir="16200000"> <a:srgbClr val="000000"> <a:alpha val="10000"/></a:srgbClr> </a:outerShdw></a:effectLst></p:spPr></p:sp><p:sp><p:nvSpPr><p:cNvPr id="20" name="Text 18"></p:cNvPr><p:cNvSpPr/><p:nvPr></p:nvPr></p:nvSpPr><p:spPr><a:xfrm><a:off x="8183880" y="1463040"/><a:ext cx="3291840" cy="32004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800" b="1" dirty="0"><a:solidFill><a:srgbClr val="FB8C00"/></a:solidFill><a:latin typeface="Microsoft YaHei" pitchFamily="34" charset="0"/><a:ea typeface="Microsoft YaHei" pitchFamily="34" charset="-122"/><a:cs typeface="Microsoft YaHei" pitchFamily="34" charset="-120"/></a:rPr><a:t>旗舰版</a:t></a:r><a:endParaRPr lang="en-US" sz="1800" dirty="0"/></a:p></p:txBody></p:sp><p:sp><p:nvSpPr><p:cNvPr id="21" name="Text 19"></p:cNvPr><p:cNvSpPr/><p:nvPr></p:nvPr></p:nvSpPr><p:spPr><a:xfrm><a:off x="8183880" y="1828800"/><a:ext cx="3291840" cy="36576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2200" b="1" dirty="0"><a:solidFill><a:srgbClr val="1F2937"/></a:solidFill><a:latin typeface="Microsoft YaHei" pitchFamily="34" charset="0"/><a:ea typeface="Microsoft YaHei" pitchFamily="34" charset="-122"/><a:cs typeface="Microsoft YaHei" pitchFamily="34" charset="-120"/></a:rPr><a:t>定制报价</a:t></a:r><a:endParaRPr lang="en-US" sz="2200" dirty="0"/></a:p></p:txBody></p:sp><p:sp><p:nvSpPr><p:cNvPr id="22" name="Text 20"></p:cNvPr><p:cNvSpPr/><p:nvPr></p:nvPr></p:nvSpPr><p:spPr><a:xfrm><a:off x="8183880" y="2240280"/><a:ext cx="3291840" cy="228600"/></a:xfrm><a:prstGeom prst="rect"><a:avLst></a:avLst></a:prstGeom><a:noFill/><a:ln></a:ln></p:spPr><p:txBody><a:bodyPr wrap="square" rtlCol="0" anchor="t"></a:bodyPr><a:lstStyle/><a:p><a:pPr algn="ctr" indent="0" marL="0"><a:lnSpc><a:spcPct val="120000"/></a:lnSpc><a:buNone/></a:pPr><a:r><a:rPr lang="en-US" sz="1000" dirty="0"><a:solidFill><a:srgbClr val="6B7280"/></a:solidFill><a:latin typeface="Microsoft YaHei" pitchFamily="34" charset="0"/><a:ea typeface="Microsoft YaHei" pitchFamily="34" charset="-122"/><a:cs typeface="Microsoft YaHei" pitchFamily="34" charset="-120"/></a:rPr><a:t>10+个基地</a:t></a:r><a:endParaRPr lang="en-US" sz="1000" dirty="0"/></a:p></p:txBody></p:sp><p:sp><p:nvSpPr><p:cNvPr id="23" name="Shape 21"></p:cNvPr><p:cNvSpPr/><p:nvPr></p:nvPr></p:nvSpPr><p:spPr><a:xfrm><a:off x="8321040" y="2560320"/><a:ext cx="3017520" cy="18288"/></a:xfrm><a:prstGeom prst="rect"><a:avLst></a:avLst></a:prstGeom><a:solidFill><a:srgbClr val="9CA3AF"/></a:solidFill><a:ln></a:ln></p:spPr></p:sp><p:sp><p:nvSpPr><p:cNvPr id="24" name="Text 22"></p:cNvPr><p:cNvSpPr/><p:nvPr></p:nvPr></p:nvSpPr><p:spPr><a:xfrm><a:off x="8183880" y="2697480"/><a:ext cx="3291840" cy="2743200"/></a:xfrm><a:prstGeom prst="rect"><a:avLst></a:avLst></a:prstGeom><a:noFill/><a:ln></a:ln></p:spPr><p:txBody><a:bodyPr wrap="square" rtlCol="0" anchor="t"></a:bodyPr><a:lstStyle/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专属客户经理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定制开发服务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现场实施部署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无人机+VR模块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区块链溯源增强</a:t></a:r><a:endParaRPr lang="en-US" sz="1000" dirty="0"/></a:p><a:p><a:pPr marL="342900" indent="-342900"><a:lnSpc><a:spcPct val="140000"/></a:lnSpc><a:spcAft><a:spcPts val="400"/></a:spcAft><a:buSzPct val="100000"/><a:buChar char="&#x0000;"/></a:pPr><a:r><a:rPr lang="en-US" sz="1000" dirty="0"><a:solidFill><a:srgbClr val="1F2937"/></a:solidFill></a:rPr><a:t>✓ 模型定制调优</a:t></a:r><a:endParaRPr lang="en-US" sz="1000" dirty="0"/></a:p></p:txBody></p:sp><p:sp><p:nvSpPr><p:cNvPr id="25" name="Shape 23"></p:cNvPr><p:cNvSpPr/><p:nvPr></p:nvPr></p:nvSpPr><p:spPr><a:xfrm><a:off x="365760" y="6400800"/><a:ext cx="11430000" cy="320040"/></a:xfrm><a:prstGeom prst="roundRect"><a:avLst><a:gd name="adj" fmla="val 22857"/></a:avLst></a:prstGeom><a:solidFill><a:srgbClr val="FFFFFF"/></a:solidFill><a:ln></a:ln><a:effectLst> <a:outerShdw sx="100000" sy="100000" kx="0" ky="0" algn="bl" rotWithShape="0" blurRad="76200" dist="25400" dir="16200000"> <a:srgbClr val="000000"> <a:alpha val="10000"/></a:srgbClr> </a:outerShdw></a:effectLst></p:spPr></p:sp><p:sp><p:nvSpPr><p:cNvPr id="26" name="Text 24"></p:cNvPr><p:cNvSpPr/><p:nvPr></p:nvPr></p:nvSpPr><p:spPr><a:xfrm><a:off x="548640" y="6400800"/><a:ext cx="11064240" cy="320040"/></a:xfrm><a:prstGeom prst="rect"><a:avLst></a:avLst></a:prstGeom><a:noFill/><a:ln></a:ln></p:spPr><p:txBody><a:bodyPr wrap="square" rtlCol="0" anchor="ctr"></a:bodyPr><a:lstStyle/><a:p><a:pPr algn="ctr" indent="0" marL="0"><a:lnSpc><a:spcPct val="120000"/></a:lnSpc><a:buNone/></a:pPr><a:r><a:rPr lang="en-US" sz="1000" dirty="0"><a:solidFill><a:srgbClr val="4B5563"/></a:solidFill><a:latin typeface="Microsoft YaHei" pitchFamily="34" charset="0"/><a:ea typeface="Microsoft YaHei" pitchFamily="34" charset="-122"/><a:cs typeface="Microsoft YaHei" pitchFamily="34" charset="-120"/></a:rPr><a:t>服务保障：7×24小时技术支持  ·  定期版本更新  ·  数据备份与恢复  ·  操作培训服务</a:t></a:r><a:endParaRPr lang="en-US" sz="1000" dirty="0"/></a:p></p:txBody></p:sp></p:spTree></p:cSld><p:clrMapOvr><a:masterClrMapping/></p:clrMapOvr>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08960"/>
            <a:ext cx="12192000" cy="18288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问答环节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感谢您的聆听与关注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18288"/>
          </a:xfrm>
          <a:prstGeom prst="rect">
            <a:avLst/>
          </a:prstGeom>
          <a:solidFill>
            <a:srgbClr val="2E9E5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7589520" cy="2560320"/>
          </a:xfrm>
          <a:prstGeom prst="roundRect">
            <a:avLst>
              <a:gd name="adj" fmla="val 2857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566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 邮箱：user007a@126.com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40233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 电话：15111480531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4480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  地址：长沙市枫林三路湘江智谷超算中心C区F栋308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5029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🍎  智道易农科技有限公司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让苹果种植更省心、更科学、更赚钱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智慧果园产品宣传</dc:subject>
  <dc:creator>智道易农科技有限公司</dc:creator>
  <cp:lastModifiedBy>智道易农科技有限公司</cp:lastModifiedBy>
  <cp:revision>1</cp:revision>
  <dcterms:created xsi:type="dcterms:W3CDTF">2026-05-22T04:17:07Z</dcterms:created>
  <dcterms:modified xsi:type="dcterms:W3CDTF">2026-05-22T04:17:07Z</dcterms:modified>
</cp:coreProperties>
</file>