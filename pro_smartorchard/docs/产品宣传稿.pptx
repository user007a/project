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02.svg" ContentType="image/svg+xml"/>
  <Override PartName="/ppt/media/image107.svg" ContentType="image/svg+xml"/>
  <Override PartName="/ppt/media/image11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3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8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.svg" ContentType="image/svg+xml"/>
  <Override PartName="/ppt/media/image152.svg" ContentType="image/svg+xml"/>
  <Override PartName="/ppt/media/image154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.svg" ContentType="image/svg+xml"/>
  <Override PartName="/ppt/media/image170.svg" ContentType="image/svg+xml"/>
  <Override PartName="/ppt/media/image174.svg" ContentType="image/svg+xml"/>
  <Override PartName="/ppt/media/image176.svg" ContentType="image/svg+xml"/>
  <Override PartName="/ppt/media/image19.svg" ContentType="image/svg+xml"/>
  <Override PartName="/ppt/media/image23.svg" ContentType="image/svg+xml"/>
  <Override PartName="/ppt/media/image25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51" y="54"/>
      </p:cViewPr>
      <p:guideLst>
        <p:guide orient="horz" pos="168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大家好，欢迎参加智慧果园产品发布会。今天，我们将向大家展示一款专为苹果种植打造的数字化管理平台。我们的目标是，通过科技的力量，让苹果种植变得更省心、更科学、最终帮助果农们更赚钱。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八个部分。首先，我们将分析当前苹果产业的市场趋势和用户挑战。接着，会详细介绍我们的产品定位、三端协同架构、AI助手功能和核心功能模块。之后，我们会展示产品的差异化亮点和预期成效。最后，期待与各位的合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看到，数字化浪潮正以前所未有的速度席卷苹果产业。行业先行者已经通过数字化手段获得了显著的竞争优势，国家政策也在大力推动。同时，智能设备的普及为精准管理提供了可能。可以说，现在正是拥抱数字化的最佳时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然而，传统的管理模式正让管理者们陷入困境。数据孤岛让决策如同盲人摸象；预警滞后让风险防不胜防；繁琐的手工汇总则耗费了管理者大量精力。这些痛点，正是我们决心要解决的问题。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一线人员来说，工具的易用性至关重要。复杂的操作、不稳定的网络、繁琐的记录流程，都会让他们放弃使用系统。正如一位老果农所说，每多一次点击，都是在把他们推向传统方式。因此，我们坚信，一线不用，系统白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我们的定位非常明确：我们不是一个大而全的通用农业ERP，而是一个只专注于苹果的垂直专业化管理平台。我们以苹果物候期模型为核心引擎，以最终的采收为目标，进行全流程管理。我们的设计哲学始终是：一线不用，系统白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这一页展示了我们智慧果园系统的差异化亮点矩阵，旨在通过五大核心优势，为您构筑坚实的专业壁垒。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第一，“农资全链路管理”：这不仅仅是记账，而是覆盖全流程的精细化管理，能让您的库存准确率提升至95%以上，从源头控制成本。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第二，“物候期模型驱动”：系统比人更懂天时。它能根据您的苹果品种和树龄，自动算出最佳的农事窗口期，确保“不误农时”，为高品质打下基础。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第三，“AI智慧助手”：相当于给您请了一位24小时在线的农业专家，随时解决疑难杂症，还能识别病害，大大降低了对外部专家的依赖。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第四，“产品数字履历”：在这个看重品质和溯源的时代，我们为每一颗果子建立数字档案，这能显著提升您的品牌溢价能力。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第五，“四层预警体系”：无论是设备故障、极端天气还是农事延误，系统都能实现分钟级预警，把风险和损失降到最低。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相比之下，市面上的通用ERP水土不服，设备厂商系统信息是割裂的，通用AI无法提供精准建议。而我们，是真正懂行、懂苹果的专业垂直平台。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采用三端协同架构。电脑端是指挥中心，负责计划和决策；移动端是执行前线，负责任务执行和数据采集；数据大屏则是决策舱，实时展示果园宏观态势。这三者无缝协同，形成了一个高效的管理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在电脑端的指挥中心，管理者可以轻松进行企业管理、农事计划编排、农资管理、设备监控、预警配置、产品追溯、采收管理和系统设置。所有决策指令都从这里发出，真正做到运筹帷幄，尽在掌握。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移动端则为一线人员量身打造。我们坚持简单到极致的设计理念：首屏就是任务，拍照就能记录，离线也能操作，并且采用大字大按钮。整个记录过程只需三步，彻底告别繁琐，让科技真正服务于田间。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我们的AI助手是您的7x24小时智慧顾问。它不仅能回答各种专业问题，还能通过拍照识别病虫害。支持语音输入和历史记录，让您随时随地获得专业指导，相当于带了一位种植专家在身边。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功能之一是农事管理闭环。从管理者在电脑端制定计划，到系统自动下发任务，再到一线人员在移动端执行和记录，最后数据自动汇总生成报表供管理者分析决策。这个闭环极大地提升了管理效率，预计排程时间减少60%以上，记录完整率提升至80%以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我们的独家优势在于农资全链路管理。从采购申请到最终使用，每一个环节都数字化留痕，形成完整的管理闭环，避免了传统管理中的断点和盲区。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系统内置了双重“智能预警”功能：一是当库存水平低于预设的安全线时，自动触发补货提醒，保障生产资料不断供；二是用量异常预警，当农资的领用或施用量与标准数据偏差过大时，自动预警，有效防止浪费或管理疏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这一系列的管理动作，最终将带来显著的降本增效成果。我们预计，通过精细化管理，能将库存准确率从传统粗放模式下的约60%，大幅提升至95%以上，从而显著降低农资损耗成本并优化资金占用效率。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我们的平台能够接入多种主流智能设备，实现7x24小时的智能监控。无论是气象站、土壤传感器，还是虫情测报灯和水肥一体化设备，都能被统一管理，让您的果园真正“会说话”，提供精准的数据支持。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构建了四层立体防御体系，涵盖设备、气象、农事和库存四个维度。一旦触发预警，系统将通过电话、短信、APP推送等多种方式，在5分钟内通知到相关责任人。这让我们从被动救火转变为主动预防，将风险降到最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我们为每一颗苹果生成独一无二的数字身份证。消费者只需扫描二维码，就能看到从开花到采收的全过程信息，包括农事记录、用药情况和质检报告。这种透明化的展示，将极大地提升品牌信任度和溢价能力。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竞争力之一，是内置的动态物候期模型引擎。它不仅能根据品种和树龄智能匹配农事活动，还能结合实时气象数据进行动态调整，并主动提醒。这相当于将顶尖专家的种植经验固化到了系统中，赋能每一位果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大屏作为决策舱，让管理者可以一屏观全局。它以果园实景为中心，环绕展示关键经营数据，并能对预警信息进行醒目提醒。更重要的是，它支持向下钻取，让管理者可以从宏观到微观，深入探索数据背后的故事，真正实现数据驱动决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追溯不仅是品质的证明，更是品牌价值的重塑。它能创造品牌溢价，满足政策合规要求，更能成为您最有力的营销素材。无论是在商超货架、高端礼品盒还是电商详情页，一个小小的二维码，就能连接起田间与餐桌，建立起消费者的深度信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价值是实实在在、可以量化的。通过智慧果园平台，农事排程时间将减少75%，记录完整率提升超过167%，库存准确率提升至95%以上，风险预警响应时间缩短到5分钟以内。最终，这将转化为实实在在的商业价值：降本、增效、提质、溢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接下来，让我们快速预览一下电脑端指挥中心的界面。这里我们预留了六个截图框，您可以分别填充首页仪表盘、农事计划编排、农资库存管理、设备监控中心、采收记录统计和追溯码管理等核心页面的截图。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再来看移动端执行前线的界面。我们预留了一个手机样式的截图框，您可以在这里展示首页任务列表、记农事页面、巡园打卡页面以及AI助手对话界面等核心操作界面。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最后是数据大屏决策舱的预览。我们为您预留了一个全屏的截图框，您可以将完整的大屏主界面截图放置于此，直观展示全局态势尽在掌握的效果。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千遍，不如一个真实的故事。听听我们的用户怎么说。张经理说，他现在从繁琐的事务中解放出来，管理效率提升了好几倍。李总说，系统的全天候预警功能让他第一次对果园有了掌控感，不再提心吊胆。王师傅说，这个APP是他唯一愿意用的软件，因为它简单、实用。他们的故事，也是我们产品价值的缩影，也可能是您的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强大的功能背后，是稳定、安全、可扩展的技术架构。我们采用了业界主流的微服务架构和多种数据库组合，并提供了全方位的安全保障，包括HTTPS加密、RBAC权限控制、操作审计和敏感数据加密存储，确保您的数据安全无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提供灵活的合作方案，以满足不同规模客户的需求。从适合小型农场的基础版，到适合中型果园的专业版，再到为大型集团定制的旗舰版，我们都有相应的服务和价格。同时，我们承诺提供7×24小时技术支持、定期版本更新、数据安全备份和全面操作培训，确保您的投资物有所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各位的聆听。如果您对智慧果园平台感兴趣，欢迎通过屏幕上的联系方式与我们取得联系。您可以扫描左侧二维码访问官网，或扫描右侧二维码添加我们的项目顾问进行一对一咨询。期待与您携手，共同开启智慧种植的新篇章！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9.svg"/><Relationship Id="rId16" Type="http://schemas.openxmlformats.org/officeDocument/2006/relationships/image" Target="../media/image18.png"/><Relationship Id="rId15" Type="http://schemas.openxmlformats.org/officeDocument/2006/relationships/image" Target="../media/image17.svg"/><Relationship Id="rId14" Type="http://schemas.openxmlformats.org/officeDocument/2006/relationships/image" Target="../media/image16.png"/><Relationship Id="rId13" Type="http://schemas.openxmlformats.org/officeDocument/2006/relationships/image" Target="../media/image15.svg"/><Relationship Id="rId12" Type="http://schemas.openxmlformats.org/officeDocument/2006/relationships/image" Target="../media/image14.png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6.jpe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jpe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7.png"/><Relationship Id="rId3" Type="http://schemas.openxmlformats.org/officeDocument/2006/relationships/tags" Target="../tags/tag2.xml"/><Relationship Id="rId21" Type="http://schemas.openxmlformats.org/officeDocument/2006/relationships/notesSlide" Target="../notesSlides/notesSlide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image" Target="../media/image32.svg"/><Relationship Id="rId18" Type="http://schemas.openxmlformats.org/officeDocument/2006/relationships/image" Target="../media/image31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5.jpeg"/><Relationship Id="rId11" Type="http://schemas.openxmlformats.org/officeDocument/2006/relationships/tags" Target="../tags/tag18.xml"/><Relationship Id="rId10" Type="http://schemas.openxmlformats.org/officeDocument/2006/relationships/image" Target="../media/image34.sv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svg"/><Relationship Id="rId8" Type="http://schemas.openxmlformats.org/officeDocument/2006/relationships/image" Target="../media/image40.png"/><Relationship Id="rId7" Type="http://schemas.openxmlformats.org/officeDocument/2006/relationships/image" Target="../media/image11.svg"/><Relationship Id="rId6" Type="http://schemas.openxmlformats.org/officeDocument/2006/relationships/image" Target="../media/image1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0" Type="http://schemas.openxmlformats.org/officeDocument/2006/relationships/notesSlide" Target="../notesSlides/notesSlide8.xml"/><Relationship Id="rId3" Type="http://schemas.openxmlformats.org/officeDocument/2006/relationships/tags" Target="../tags/tag20.xml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9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image" Target="../media/image49.svg"/><Relationship Id="rId16" Type="http://schemas.openxmlformats.org/officeDocument/2006/relationships/image" Target="../media/image48.png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image" Target="../media/image47.svg"/><Relationship Id="rId10" Type="http://schemas.openxmlformats.org/officeDocument/2006/relationships/image" Target="../media/image46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svg"/><Relationship Id="rId20" Type="http://schemas.openxmlformats.org/officeDocument/2006/relationships/notesSlide" Target="../notesSlides/notesSlide9.xml"/><Relationship Id="rId2" Type="http://schemas.openxmlformats.org/officeDocument/2006/relationships/image" Target="../media/image50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2.png"/><Relationship Id="rId17" Type="http://schemas.openxmlformats.org/officeDocument/2006/relationships/image" Target="../media/image61.svg"/><Relationship Id="rId16" Type="http://schemas.openxmlformats.org/officeDocument/2006/relationships/image" Target="../media/image60.png"/><Relationship Id="rId15" Type="http://schemas.openxmlformats.org/officeDocument/2006/relationships/image" Target="../media/image59.svg"/><Relationship Id="rId14" Type="http://schemas.openxmlformats.org/officeDocument/2006/relationships/image" Target="../media/image58.png"/><Relationship Id="rId13" Type="http://schemas.openxmlformats.org/officeDocument/2006/relationships/image" Target="../media/image57.svg"/><Relationship Id="rId12" Type="http://schemas.openxmlformats.org/officeDocument/2006/relationships/image" Target="../media/image56.png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svg"/><Relationship Id="rId8" Type="http://schemas.openxmlformats.org/officeDocument/2006/relationships/image" Target="../media/image67.png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0.png"/><Relationship Id="rId12" Type="http://schemas.openxmlformats.org/officeDocument/2006/relationships/image" Target="../media/image69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3.png"/><Relationship Id="rId8" Type="http://schemas.openxmlformats.org/officeDocument/2006/relationships/tags" Target="../tags/tag44.xml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3" Type="http://schemas.openxmlformats.org/officeDocument/2006/relationships/notesSlide" Target="../notesSlides/notesSlide11.xml"/><Relationship Id="rId32" Type="http://schemas.openxmlformats.org/officeDocument/2006/relationships/slideLayout" Target="../slideLayouts/slideLayout12.xml"/><Relationship Id="rId31" Type="http://schemas.openxmlformats.org/officeDocument/2006/relationships/image" Target="../media/image86.svg"/><Relationship Id="rId30" Type="http://schemas.openxmlformats.org/officeDocument/2006/relationships/image" Target="../media/image85.png"/><Relationship Id="rId3" Type="http://schemas.openxmlformats.org/officeDocument/2006/relationships/tags" Target="../tags/tag41.xml"/><Relationship Id="rId29" Type="http://schemas.openxmlformats.org/officeDocument/2006/relationships/tags" Target="../tags/tag53.xml"/><Relationship Id="rId28" Type="http://schemas.openxmlformats.org/officeDocument/2006/relationships/image" Target="../media/image84.svg"/><Relationship Id="rId27" Type="http://schemas.openxmlformats.org/officeDocument/2006/relationships/image" Target="../media/image83.png"/><Relationship Id="rId26" Type="http://schemas.openxmlformats.org/officeDocument/2006/relationships/tags" Target="../tags/tag52.xml"/><Relationship Id="rId25" Type="http://schemas.openxmlformats.org/officeDocument/2006/relationships/image" Target="../media/image82.svg"/><Relationship Id="rId24" Type="http://schemas.openxmlformats.org/officeDocument/2006/relationships/image" Target="../media/image81.png"/><Relationship Id="rId23" Type="http://schemas.openxmlformats.org/officeDocument/2006/relationships/tags" Target="../tags/tag51.xml"/><Relationship Id="rId22" Type="http://schemas.openxmlformats.org/officeDocument/2006/relationships/image" Target="../media/image80.svg"/><Relationship Id="rId21" Type="http://schemas.openxmlformats.org/officeDocument/2006/relationships/image" Target="../media/image79.png"/><Relationship Id="rId20" Type="http://schemas.openxmlformats.org/officeDocument/2006/relationships/tags" Target="../tags/tag50.xml"/><Relationship Id="rId2" Type="http://schemas.openxmlformats.org/officeDocument/2006/relationships/tags" Target="../tags/tag40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image" Target="../media/image78.svg"/><Relationship Id="rId15" Type="http://schemas.openxmlformats.org/officeDocument/2006/relationships/image" Target="../media/image77.png"/><Relationship Id="rId14" Type="http://schemas.openxmlformats.org/officeDocument/2006/relationships/tags" Target="../tags/tag46.xml"/><Relationship Id="rId13" Type="http://schemas.openxmlformats.org/officeDocument/2006/relationships/image" Target="../media/image76.svg"/><Relationship Id="rId12" Type="http://schemas.openxmlformats.org/officeDocument/2006/relationships/image" Target="../media/image75.png"/><Relationship Id="rId11" Type="http://schemas.openxmlformats.org/officeDocument/2006/relationships/tags" Target="../tags/tag45.xml"/><Relationship Id="rId10" Type="http://schemas.openxmlformats.org/officeDocument/2006/relationships/image" Target="../media/image74.sv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image" Target="../media/image88.svg"/><Relationship Id="rId4" Type="http://schemas.openxmlformats.org/officeDocument/2006/relationships/image" Target="../media/image87.png"/><Relationship Id="rId39" Type="http://schemas.openxmlformats.org/officeDocument/2006/relationships/notesSlide" Target="../notesSlides/notesSlide12.x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77.xml"/><Relationship Id="rId36" Type="http://schemas.openxmlformats.org/officeDocument/2006/relationships/tags" Target="../tags/tag76.xml"/><Relationship Id="rId35" Type="http://schemas.openxmlformats.org/officeDocument/2006/relationships/image" Target="../media/image96.svg"/><Relationship Id="rId34" Type="http://schemas.openxmlformats.org/officeDocument/2006/relationships/image" Target="../media/image95.png"/><Relationship Id="rId33" Type="http://schemas.openxmlformats.org/officeDocument/2006/relationships/tags" Target="../tags/tag75.xml"/><Relationship Id="rId32" Type="http://schemas.openxmlformats.org/officeDocument/2006/relationships/tags" Target="../tags/tag74.xml"/><Relationship Id="rId31" Type="http://schemas.openxmlformats.org/officeDocument/2006/relationships/tags" Target="../tags/tag73.xml"/><Relationship Id="rId30" Type="http://schemas.openxmlformats.org/officeDocument/2006/relationships/tags" Target="../tags/tag72.xml"/><Relationship Id="rId3" Type="http://schemas.openxmlformats.org/officeDocument/2006/relationships/tags" Target="../tags/tag55.xml"/><Relationship Id="rId29" Type="http://schemas.openxmlformats.org/officeDocument/2006/relationships/image" Target="../media/image94.svg"/><Relationship Id="rId28" Type="http://schemas.openxmlformats.org/officeDocument/2006/relationships/image" Target="../media/image93.png"/><Relationship Id="rId27" Type="http://schemas.openxmlformats.org/officeDocument/2006/relationships/tags" Target="../tags/tag71.xml"/><Relationship Id="rId26" Type="http://schemas.openxmlformats.org/officeDocument/2006/relationships/tags" Target="../tags/tag70.xml"/><Relationship Id="rId25" Type="http://schemas.openxmlformats.org/officeDocument/2006/relationships/tags" Target="../tags/tag69.xml"/><Relationship Id="rId24" Type="http://schemas.openxmlformats.org/officeDocument/2006/relationships/tags" Target="../tags/tag68.xml"/><Relationship Id="rId23" Type="http://schemas.openxmlformats.org/officeDocument/2006/relationships/image" Target="../media/image92.svg"/><Relationship Id="rId22" Type="http://schemas.openxmlformats.org/officeDocument/2006/relationships/image" Target="../media/image91.png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54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image" Target="../media/image90.svg"/><Relationship Id="rId16" Type="http://schemas.openxmlformats.org/officeDocument/2006/relationships/image" Target="../media/image89.png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image" Target="../media/image9.svg"/><Relationship Id="rId10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2.svg"/><Relationship Id="rId6" Type="http://schemas.openxmlformats.org/officeDocument/2006/relationships/image" Target="../media/image101.png"/><Relationship Id="rId5" Type="http://schemas.openxmlformats.org/officeDocument/2006/relationships/image" Target="../media/image100.svg"/><Relationship Id="rId4" Type="http://schemas.openxmlformats.org/officeDocument/2006/relationships/image" Target="../media/image99.png"/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8.jpeg"/><Relationship Id="rId6" Type="http://schemas.openxmlformats.org/officeDocument/2006/relationships/image" Target="../media/image107.svg"/><Relationship Id="rId5" Type="http://schemas.openxmlformats.org/officeDocument/2006/relationships/image" Target="../media/image106.png"/><Relationship Id="rId4" Type="http://schemas.openxmlformats.org/officeDocument/2006/relationships/image" Target="../media/image105.jpeg"/><Relationship Id="rId3" Type="http://schemas.openxmlformats.org/officeDocument/2006/relationships/image" Target="../media/image104.jpeg"/><Relationship Id="rId2" Type="http://schemas.openxmlformats.org/officeDocument/2006/relationships/image" Target="../media/image103.jpe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svg"/><Relationship Id="rId8" Type="http://schemas.openxmlformats.org/officeDocument/2006/relationships/image" Target="../media/image113.png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5" Type="http://schemas.openxmlformats.org/officeDocument/2006/relationships/notesSlide" Target="../notesSlides/notesSlide1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18.svg"/><Relationship Id="rId12" Type="http://schemas.openxmlformats.org/officeDocument/2006/relationships/image" Target="../media/image117.png"/><Relationship Id="rId11" Type="http://schemas.openxmlformats.org/officeDocument/2006/relationships/image" Target="../media/image116.svg"/><Relationship Id="rId10" Type="http://schemas.openxmlformats.org/officeDocument/2006/relationships/image" Target="../media/image115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svg"/><Relationship Id="rId7" Type="http://schemas.openxmlformats.org/officeDocument/2006/relationships/image" Target="../media/image122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121.svg"/><Relationship Id="rId3" Type="http://schemas.openxmlformats.org/officeDocument/2006/relationships/image" Target="../media/image120.png"/><Relationship Id="rId2" Type="http://schemas.openxmlformats.org/officeDocument/2006/relationships/image" Target="../media/image119.jpe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7.svg"/><Relationship Id="rId11" Type="http://schemas.openxmlformats.org/officeDocument/2006/relationships/image" Target="../media/image126.png"/><Relationship Id="rId10" Type="http://schemas.openxmlformats.org/officeDocument/2006/relationships/image" Target="../media/image125.sv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4.png"/><Relationship Id="rId7" Type="http://schemas.openxmlformats.org/officeDocument/2006/relationships/image" Target="../media/image43.svg"/><Relationship Id="rId6" Type="http://schemas.openxmlformats.org/officeDocument/2006/relationships/image" Target="../media/image42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129.jpeg"/><Relationship Id="rId2" Type="http://schemas.openxmlformats.org/officeDocument/2006/relationships/image" Target="../media/image128.jpe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3.svg"/><Relationship Id="rId8" Type="http://schemas.openxmlformats.org/officeDocument/2006/relationships/image" Target="../media/image132.png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131.svg"/><Relationship Id="rId2" Type="http://schemas.openxmlformats.org/officeDocument/2006/relationships/image" Target="../media/image130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36.png"/><Relationship Id="rId11" Type="http://schemas.openxmlformats.org/officeDocument/2006/relationships/image" Target="../media/image135.svg"/><Relationship Id="rId10" Type="http://schemas.openxmlformats.org/officeDocument/2006/relationships/image" Target="../media/image134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svg"/><Relationship Id="rId8" Type="http://schemas.openxmlformats.org/officeDocument/2006/relationships/image" Target="../media/image143.png"/><Relationship Id="rId7" Type="http://schemas.openxmlformats.org/officeDocument/2006/relationships/image" Target="../media/image142.svg"/><Relationship Id="rId6" Type="http://schemas.openxmlformats.org/officeDocument/2006/relationships/image" Target="../media/image141.png"/><Relationship Id="rId5" Type="http://schemas.openxmlformats.org/officeDocument/2006/relationships/image" Target="../media/image140.svg"/><Relationship Id="rId4" Type="http://schemas.openxmlformats.org/officeDocument/2006/relationships/image" Target="../media/image139.png"/><Relationship Id="rId3" Type="http://schemas.openxmlformats.org/officeDocument/2006/relationships/image" Target="../media/image138.svg"/><Relationship Id="rId2" Type="http://schemas.openxmlformats.org/officeDocument/2006/relationships/image" Target="../media/image137.png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48.svg"/><Relationship Id="rId12" Type="http://schemas.openxmlformats.org/officeDocument/2006/relationships/image" Target="../media/image147.png"/><Relationship Id="rId11" Type="http://schemas.openxmlformats.org/officeDocument/2006/relationships/image" Target="../media/image146.svg"/><Relationship Id="rId10" Type="http://schemas.openxmlformats.org/officeDocument/2006/relationships/image" Target="../media/image145.png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4.svg"/><Relationship Id="rId8" Type="http://schemas.openxmlformats.org/officeDocument/2006/relationships/image" Target="../media/image153.png"/><Relationship Id="rId7" Type="http://schemas.openxmlformats.org/officeDocument/2006/relationships/image" Target="../media/image82.svg"/><Relationship Id="rId6" Type="http://schemas.openxmlformats.org/officeDocument/2006/relationships/image" Target="../media/image81.png"/><Relationship Id="rId5" Type="http://schemas.openxmlformats.org/officeDocument/2006/relationships/image" Target="../media/image152.svg"/><Relationship Id="rId4" Type="http://schemas.openxmlformats.org/officeDocument/2006/relationships/image" Target="../media/image151.png"/><Relationship Id="rId3" Type="http://schemas.openxmlformats.org/officeDocument/2006/relationships/image" Target="../media/image150.jpeg"/><Relationship Id="rId2" Type="http://schemas.openxmlformats.org/officeDocument/2006/relationships/image" Target="../media/image149.jpeg"/><Relationship Id="rId11" Type="http://schemas.openxmlformats.org/officeDocument/2006/relationships/notesSlide" Target="../notesSlides/notesSlide2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image" Target="../media/image155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62.png"/><Relationship Id="rId27" Type="http://schemas.openxmlformats.org/officeDocument/2006/relationships/notesSlide" Target="../notesSlides/notesSlide21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95.xml"/><Relationship Id="rId24" Type="http://schemas.openxmlformats.org/officeDocument/2006/relationships/tags" Target="../tags/tag94.xml"/><Relationship Id="rId23" Type="http://schemas.openxmlformats.org/officeDocument/2006/relationships/image" Target="../media/image159.png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8.xml"/><Relationship Id="rId19" Type="http://schemas.openxmlformats.org/officeDocument/2006/relationships/image" Target="../media/image158.png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image" Target="../media/image157.png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image" Target="../media/image156.png"/><Relationship Id="rId10" Type="http://schemas.openxmlformats.org/officeDocument/2006/relationships/tags" Target="../tags/tag84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2.png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image" Target="../media/image161.png"/><Relationship Id="rId4" Type="http://schemas.openxmlformats.org/officeDocument/2006/relationships/tags" Target="../tags/tag97.xml"/><Relationship Id="rId3" Type="http://schemas.openxmlformats.org/officeDocument/2006/relationships/image" Target="../media/image160.png"/><Relationship Id="rId2" Type="http://schemas.openxmlformats.org/officeDocument/2006/relationships/tags" Target="../tags/tag96.xml"/><Relationship Id="rId19" Type="http://schemas.openxmlformats.org/officeDocument/2006/relationships/notesSlide" Target="../notesSlides/notesSlide22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image" Target="../media/image70.png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6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0.svg"/><Relationship Id="rId6" Type="http://schemas.openxmlformats.org/officeDocument/2006/relationships/image" Target="../media/image89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88.svg"/><Relationship Id="rId2" Type="http://schemas.openxmlformats.org/officeDocument/2006/relationships/image" Target="../media/image87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6.svg"/><Relationship Id="rId4" Type="http://schemas.openxmlformats.org/officeDocument/2006/relationships/image" Target="../media/image165.png"/><Relationship Id="rId3" Type="http://schemas.openxmlformats.org/officeDocument/2006/relationships/image" Target="../media/image164.svg"/><Relationship Id="rId2" Type="http://schemas.openxmlformats.org/officeDocument/2006/relationships/image" Target="../media/image163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0.svg"/><Relationship Id="rId8" Type="http://schemas.openxmlformats.org/officeDocument/2006/relationships/image" Target="../media/image169.png"/><Relationship Id="rId7" Type="http://schemas.openxmlformats.org/officeDocument/2006/relationships/image" Target="../media/image166.svg"/><Relationship Id="rId6" Type="http://schemas.openxmlformats.org/officeDocument/2006/relationships/image" Target="../media/image165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168.svg"/><Relationship Id="rId2" Type="http://schemas.openxmlformats.org/officeDocument/2006/relationships/image" Target="../media/image167.png"/><Relationship Id="rId11" Type="http://schemas.openxmlformats.org/officeDocument/2006/relationships/notesSlide" Target="../notesSlides/notesSlide2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77.jpeg"/><Relationship Id="rId6" Type="http://schemas.openxmlformats.org/officeDocument/2006/relationships/image" Target="../media/image176.svg"/><Relationship Id="rId5" Type="http://schemas.openxmlformats.org/officeDocument/2006/relationships/image" Target="../media/image175.png"/><Relationship Id="rId4" Type="http://schemas.openxmlformats.org/officeDocument/2006/relationships/image" Target="../media/image174.svg"/><Relationship Id="rId3" Type="http://schemas.openxmlformats.org/officeDocument/2006/relationships/image" Target="../media/image173.png"/><Relationship Id="rId2" Type="http://schemas.openxmlformats.org/officeDocument/2006/relationships/image" Target="../media/image172.jpeg"/><Relationship Id="rId1" Type="http://schemas.openxmlformats.org/officeDocument/2006/relationships/image" Target="../media/image17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2032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 · 懂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苹果的种植管理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0" i="0" u="none" strike="noStrike" spc="300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让种植 更省心 · 更科学 · 更赚钱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953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bg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版本号：V2.3 | 日期：2026年5月 | </a:t>
            </a:r>
            <a:r>
              <a:rPr lang="zh-CN" altLang="en-US" sz="1600" b="0" i="0" u="none" strike="noStrike">
                <a:solidFill>
                  <a:schemeClr val="bg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智道易农科技有限公司</a:t>
            </a:r>
            <a:endParaRPr lang="zh-CN" altLang="en-US" sz="1600" b="0" i="0" u="none" strike="noStrike">
              <a:solidFill>
                <a:schemeClr val="bg1">
                  <a:alpha val="7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内容导航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市场洞察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行业趋势与用户挑战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深入剖析产业现状与痛点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产品定位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794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我们是谁，我们做什么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明确核心价值主张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032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三端协同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2794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指挥、执行与决策的闭环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构建高效的业务流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778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2032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652000" y="2032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AI助手功能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4000" y="2794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7x24小时的智慧种植顾问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全天候的技术支持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445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核心功能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覆盖种植全生命周期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打造全方位数字化工具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925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83000" y="4445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41910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差异化亮点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683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为什么选择我们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竞争优势深度解析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44450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9215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预期成效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135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数据驱动的业务价值提升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可量化的投入产出比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953500" y="4191000"/>
            <a:ext cx="24765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44000" y="44450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652000" y="4445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合作洽谈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0" y="5207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携手共赢</a:t>
            </a:r>
            <a:b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开启智慧农业新篇章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市场现状：行业趋势 · 先行者已在路上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 descr="C:/Users/Administrator/Pictures/Screenshots/屏幕截图 2026-05-21 162446.png屏幕截图 2026-05-21 162446"/>
          <p:cNvPicPr>
            <a:picLocks noChangeAspect="1"/>
          </p:cNvPicPr>
          <p:nvPr/>
        </p:nvPicPr>
        <p:blipFill>
          <a:blip r:embed="rId2"/>
          <a:srcRect l="16679" r="16679"/>
          <a:stretch>
            <a:fillRect/>
          </a:stretch>
        </p:blipFill>
        <p:spPr>
          <a:xfrm>
            <a:off x="952500" y="1841500"/>
            <a:ext cx="17780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21000" y="184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行业布局与投入激增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头部领跑：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核心产区的行业头部企业已率先部署智慧果园系统，构建新竞争壁垒。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资本涌入：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2024年以来行业数字化投入同比增长超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150%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，市场进入实质性投资期。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13500" y="1841500"/>
            <a:ext cx="17780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382000" y="184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政策驱动与设备普及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政策红利：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2024-2028年为国家农业数字化转型关键窗口期，政策扶持力度空前。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基建完善：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物联网智能硬件部署量同比增长超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</a:t>
            </a: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，为精细化管理奠定坚实基础。</a:t>
            </a:r>
            <a:endParaRPr lang="en-US" sz="12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381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大型集团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投入模式：全面部署三端协同系统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核心成效：综合成本降低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果品品质提升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15%</a:t>
            </a:r>
            <a:endParaRPr lang="en-US" sz="12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45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4381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中型基地</a:t>
            </a:r>
            <a:endParaRPr lang="en-US" sz="1100" dirty="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投入模式：聚焦核心场景，部署移动端APP</a:t>
            </a:r>
            <a:endParaRPr lang="en-US" sz="1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核心成效：农事执行效率提升</a:t>
            </a:r>
            <a:r>
              <a:rPr lang="en-US" sz="1200" b="1" i="0" u="none" strike="noStrike" dirty="0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30%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生产记录完整率超过</a:t>
            </a:r>
            <a:r>
              <a:rPr lang="en-US" sz="1200" b="1" i="0" u="none" strike="noStrike" dirty="0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85%</a:t>
            </a:r>
            <a:endParaRPr lang="en-US" sz="1200" b="1" i="0" u="none" strike="noStrike" dirty="0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419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18500" y="43815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合作社联盟</a:t>
            </a:r>
            <a:endParaRPr lang="en-US" sz="1100" dirty="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投入模式：统一数字化平台进行管理</a:t>
            </a:r>
            <a:endParaRPr lang="en-US" sz="1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核心成效：建立全流程产品追溯体系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显著提升品牌影响力并获得</a:t>
            </a: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品牌溢价</a:t>
            </a:r>
            <a:endParaRPr lang="en-US" sz="1200" b="1" i="0" u="none" strike="noStrike" dirty="0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用户痛点：管理者的烦恼：看不见、管不住、算不清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4700" y="2349500"/>
            <a:ext cx="736600" cy="736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30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数据孤岛，决策凭感觉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68500" y="4064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444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产量、农资、人员、财务等核心数据分散在不同的表格、账本甚至个人头脑中，无法进行有效的关联分析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管理者难以获得全局视角，决策往往依赖经验而非数据，风险极高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7700" y="2349500"/>
            <a:ext cx="736600" cy="736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3302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预警滞后，风险难掌控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51500" y="4064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444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面对极端天气或突发状况，传统预警方式响应速度慢，往往是“小时级”的，缺乏实时性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等到信息层层传递到决策者，最佳处置时机已错过，造成不可挽回的经济损失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19696" b="19696"/>
          <a:stretch>
            <a:fillRect/>
          </a:stretch>
        </p:blipFill>
        <p:spPr>
          <a:xfrm>
            <a:off x="8382000" y="2286000"/>
            <a:ext cx="2794000" cy="1270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255000" y="368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手工汇总，耗时易出错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34500" y="4318000"/>
            <a:ext cx="889000" cy="381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469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生产报表需要人工手动统计、层层上报，不仅耗费大量人力，而且数据准确性难以保证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后果：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管理者拿到的报表往往是滞后、不完整的，无法及时反映真实的生产状况，影响判断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用户痛点：一线的挑战 — 不好用 · 用不了 · 不想用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 descr="C:/Users/Administrator/Pictures/Screenshots/屏幕截图 2026-05-21 155717.png屏幕截图 2026-05-21 1557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25402" b="25402"/>
          <a:stretch>
            <a:fillRect/>
          </a:stretch>
        </p:blipFill>
        <p:spPr>
          <a:xfrm>
            <a:off x="1016000" y="2032000"/>
            <a:ext cx="711200" cy="711200"/>
          </a:xfrm>
          <a:prstGeom prst="roundRect">
            <a:avLst>
              <a:gd name="adj" fmla="val 178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905000" y="2032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操作复杂，学习成本高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952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【现状】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APP设计复杂，充满专业术语与繁琐步骤，与一线员工的文化水平和使用习惯脱节。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【后果】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系统最终“学不会就不用”，沦为摆设，投入成本全部浪费。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4445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4699000" y="2032000"/>
            <a:ext cx="711200" cy="711200"/>
          </a:xfrm>
          <a:prstGeom prst="roundRect">
            <a:avLst>
              <a:gd name="adj" fmla="val 178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5588000" y="2032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网络不稳，数据易丢失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635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【现状】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果园多位于偏远山区，网络信号弱是常态，传统APP无法在弱网环境下正常运行。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【后果】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现场记录无法提交，频繁发生数据丢失，严重阻碍正常的农事管理流程。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8128000" y="1778000"/>
            <a:ext cx="3302000" cy="3175000"/>
          </a:xfrm>
          <a:prstGeom prst="roundRect">
            <a:avLst>
              <a:gd name="adj" fmla="val 48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382000" y="2032000"/>
            <a:ext cx="711200" cy="711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9271000" y="2032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记录繁琐，影响生产效率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318500" y="3048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【现状】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在繁忙的农事活动中，要求员工打字、选择复杂选项来记录，打断工作节奏。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53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【后果】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繁琐的操作降低生产效率，引发员工对数字化工具的强烈抵触情绪。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55626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4610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“每多一次点击，一天多几十次操作。”</a:t>
            </a:r>
            <a:endParaRPr lang="en-US" sz="1100"/>
          </a:p>
          <a:p>
            <a:pPr indent="0" algn="r">
              <a:lnSpc>
                <a:spcPct val="125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来自一位有着十年经验的地块负责人的真实反馈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产品定位：我们不是通用ERP，我们是懂苹果的种植专家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0066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智慧果园，垂直专业化管理系统</a:t>
            </a:r>
            <a:endParaRPr lang="en-US" sz="1100" dirty="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不是一个功能大而全的通用农业ERP，而是一个以</a:t>
            </a:r>
            <a:r>
              <a:rPr lang="en-US" sz="13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苹果物候期模型为核心引擎</a:t>
            </a:r>
            <a:r>
              <a:rPr lang="en-US" sz="1300" b="0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，以</a:t>
            </a:r>
            <a:r>
              <a:rPr lang="en-US" altLang="zh-CN" sz="13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300" b="1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为核心的垂直专业化管理系统</a:t>
            </a:r>
            <a:r>
              <a:rPr lang="en-US" sz="1300" b="0" i="0" u="none" strike="noStrike" dirty="0" err="1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，深度适配苹果种植场景的专业工具</a:t>
            </a:r>
            <a:r>
              <a:rPr lang="en-US" sz="1300" b="0" i="0" u="none" strike="noStrike" dirty="0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4A4A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4191000"/>
            <a:ext cx="5334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1524000" y="4419600"/>
            <a:ext cx="431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“一线不用，系统白搭。”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我们将地块负责人的</a:t>
            </a:r>
            <a:r>
              <a:rPr lang="en-US" sz="1300" b="1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极简操作体验</a:t>
            </a:r>
            <a:r>
              <a:rPr lang="en-US" sz="1300" b="0" i="0" u="none" strike="noStrike">
                <a:solidFill>
                  <a:srgbClr val="4A4A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视为产品的“生死线”。产品设计的一切出发点，都是为了让一线员工用得顺手、方便，让数字化工具真正成为他们的得力助手。</a:t>
            </a:r>
            <a:endParaRPr lang="en-US" sz="1300" b="0" i="0" u="none" strike="noStrike">
              <a:solidFill>
                <a:srgbClr val="4A4A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2"/>
          <a:srcRect t="5263" b="5263"/>
          <a:stretch>
            <a:fillRect/>
          </a:stretch>
        </p:blipFill>
        <p:spPr>
          <a:xfrm>
            <a:off x="6604000" y="1905000"/>
            <a:ext cx="4826000" cy="4318000"/>
          </a:xfrm>
          <a:prstGeom prst="roundRect">
            <a:avLst>
              <a:gd name="adj" fmla="val 4705"/>
            </a:avLst>
          </a:prstGeom>
          <a:noFill/>
          <a:ln w="25400" cap="flat" cmpd="sng">
            <a:solidFill>
              <a:srgbClr val="2B2F3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差异化亮点矩阵：五大核心优势，构筑专业壁垒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05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41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农资全链路管理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覆盖从采购申请、审批、入库、领用到库存管理的全流程。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价值：库存准确率提升至95%以上，有效控制生产成本。</a:t>
            </a:r>
            <a:endParaRPr lang="en-US" sz="1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05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70500" y="1841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物候期模型驱动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基于品种和树龄，自动匹配最佳农事时间窗口，并推送农事建议。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价值：不误农时，为高品质果品打下坚实基础。</a:t>
            </a:r>
            <a:endParaRPr lang="en-US" sz="1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1905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953500" y="1841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智慧助手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集成专业知识库与图像识别，提供24小时在线问答与病害识别。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价值：随时随地获得专业指导，降低对专家依赖。</a:t>
            </a:r>
            <a:endParaRPr lang="en-US" sz="1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191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000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产品数字履历 | 全程溯源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为每一颗苹果建立从种植到采收的全程数字档案，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提升品牌信任度与溢价能力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，满足高端市场严苛需求。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810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4191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000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四层预警体系 | 分钟级响应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构建设备、气象、农事、库存全方位预警机制，实现风险可控，将果园生产与经营损失降到最低。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3975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16000" y="5588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通用ERP：功能全面但水土不服，缺乏农业场景专业度</a:t>
            </a:r>
            <a:b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设备厂商/通用AI：信息割裂或知识泛化，无法提供精准建议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68720" y="5524500"/>
            <a:ext cx="490728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智慧果园：垂直深耕 · 专业懂行 · AI赋能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我们最懂苹果，也最懂您的需求</a:t>
            </a:r>
            <a:endParaRPr lang="en-US" sz="12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三端协同架构：指挥中心 + 执行前线 + 决策舱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651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电脑端 · </a:t>
            </a: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中心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面向管理者，提供强大的计划编排、审批决策和报表分析能力，统筹全局工作。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334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 · 执行前线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99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面向一线员工，提供极简的任务执行、数据采集和现场记录工具，高效响应指令。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1778000"/>
            <a:ext cx="3302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9017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数据大屏 · 决策舱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面向高层决策者，提供实时、直观的全局态势感知与核心指标监控，辅助科学决策。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762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952500" y="469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编排决策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952500" y="533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管理者在电脑端统一编排工作计划，一键下发至一线员工的移动端，确保指令精准传达。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4445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4635500" y="469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数据上</a:t>
            </a:r>
            <a:r>
              <a:rPr lang="zh-CN" alt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</a:t>
            </a:r>
            <a:endParaRPr lang="zh-CN" altLang="en-US" sz="16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4635500" y="533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一线员工在移动端采集的任务数据，实时同步至云端并自动汇总分析，确保数据源头真实可靠。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8128000" y="4445000"/>
            <a:ext cx="3302000" cy="1778000"/>
          </a:xfrm>
          <a:prstGeom prst="roundRect">
            <a:avLst>
              <a:gd name="adj" fmla="val 4285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228B2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8318500" y="46990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全局展示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8318500" y="5334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汇总后的业务核心数据在数据大屏实时呈现，让决策者随时掌握业务全貌，洞察发展趋势。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电脑端功能：强大的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1610995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统一管理基地、地块信息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29000" y="177800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03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191000" y="1930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生产计划、农事记录与巡园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019425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273425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171825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采购、退货、使用及库存管理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29000" y="3019425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3273425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191000" y="3171825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远程控制与实时监控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27863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53263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43103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自定义规则，自动生成内报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429000" y="4278630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19500" y="453263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191000" y="443103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产品追溯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批量生成追溯码，支持自定义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524500"/>
            <a:ext cx="241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" y="5715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5613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采收管理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采收计划与分级产量统计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429000" y="5524500"/>
            <a:ext cx="2413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19500" y="5715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191000" y="5613400"/>
            <a:ext cx="1524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系统设置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精细化的用户与权限管理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23000" y="1778000"/>
            <a:ext cx="5652770" cy="4826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28B22">
                <a:alpha val="40000"/>
              </a:srgbClr>
            </a:solidFill>
            <a:prstDash val="dash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136640" y="1746885"/>
            <a:ext cx="5929630" cy="4856480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1500"/>
              </a:spcBef>
            </a:pPr>
            <a:endParaRPr lang="en-US" sz="1500" b="0" i="0" u="none" strike="noStrike">
              <a:solidFill>
                <a:srgbClr val="9696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移动端功能：极简的执行前线，为一线而生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9685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首屏即任务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打开APP，直接看到今日待办任务列表，无需多余点击。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175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203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873500" y="19685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拍照即记录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革命性的记录方式，</a:t>
            </a:r>
            <a:r>
              <a:rPr lang="en-US" sz="1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3步完成一次农事记录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，告别手写。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588000" y="1778000"/>
            <a:ext cx="2159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85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86500" y="1968500"/>
            <a:ext cx="139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离线优先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支持弱网/无网环境操作，网络恢复后自动同步，不断档。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3238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00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93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大字大按钮设计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专为田间户外强光和戴手套操作场景设计，交互更轻松。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254500" y="3683000"/>
            <a:ext cx="32385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450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16500" y="3937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助手随行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内置农业知识问答AI，遇到病虫害或技术问题随时咨询。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6731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461000"/>
            <a:ext cx="635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核心操作流程：</a:t>
            </a:r>
            <a:r>
              <a:rPr lang="en-US" sz="1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拍照记录现场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选择地块/农事类型</a:t>
            </a:r>
            <a:r>
              <a:rPr lang="en-US" sz="14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确认并提交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全流程仅需10秒，极大降低一线操作门槛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854315" y="1778000"/>
            <a:ext cx="4255135" cy="4699000"/>
          </a:xfrm>
          <a:prstGeom prst="roundRect">
            <a:avLst>
              <a:gd name="adj" fmla="val 592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1D5D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017000" y="2159000"/>
            <a:ext cx="1397000" cy="101600"/>
          </a:xfrm>
          <a:prstGeom prst="roundRect">
            <a:avLst>
              <a:gd name="adj" fmla="val 62500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925435" y="1778000"/>
            <a:ext cx="1980565" cy="4699635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3"/>
          <p:cNvSpPr/>
          <p:nvPr/>
        </p:nvSpPr>
        <p:spPr>
          <a:xfrm>
            <a:off x="10087610" y="1778000"/>
            <a:ext cx="1980565" cy="4699635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200" b="0" i="0" u="none" strike="noStrike">
              <a:solidFill>
                <a:srgbClr val="B4B4B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AI助手功能：您的7x24小时智慧顾问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4573905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 · CORE FEATURES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921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857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🧠 智能问答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覆盖苹果种植全周期的专业知识，提供精准答案，解决生产难题。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746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📷 AI 视觉识别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支持病害、作物、虫害等场景识别，手机随手一拍，即刻智能诊断。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69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635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📂 专业分类检索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涵盖综合、植保、种植、育种、作物五大知识分类，快速定位所需信息。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5588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524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🧐 记忆与深度思考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自动保存问答历史，开启“深度思考”模式，可获得更全面的决策分析。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223000" y="1778000"/>
            <a:ext cx="5207000" cy="462661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6477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交互体验 · USER EXPERIENCE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77000" y="2921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2857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🗣️ 语音交互，解放双手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支持语音输入提问，适应田间忙碌场景，随时随地轻松对话专家。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77000" y="3810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3746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🔥 热门问题，一键直达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基于大数据分析，首页推荐当下种植热门问题，一键点击即可获取答案。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77000" y="4699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4635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知识关联，举一反三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回答后自动推荐相关知识点，构建个人知识网络，触类旁通，不断学习。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477000" y="558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5524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🤝 分享收藏，团队协作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6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优质回答支持一键分享和收藏，便于在种植团队内部共享知识与经验。</a:t>
            </a:r>
            <a:endParaRPr lang="en-US" sz="1200" b="0" i="0" u="none" strike="noStrike">
              <a:solidFill>
                <a:srgbClr val="606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农事管理闭环：从计划到洞察，构建数字化革命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79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460500" y="1841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计划编排 (电脑端)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952500" y="2476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管理者基于种植标准制定年度、月度生产计划，并将其分解为具体的、可落地的农事任务。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3815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1879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080000" y="1841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任务下发 (自动)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572000" y="2476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系统根据预设规则，自动将任务精准推送至负责员工的移动端APP，确保任务无遗漏。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001000" y="16510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91500" y="1879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699500" y="1841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任务执行 (移动端)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191500" y="2476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一线员工在田间通过手机快速接收任务，高效完成作业记录，并实时反馈现场执行状态。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7620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52500" y="39751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1460500" y="3937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数据上</a:t>
            </a:r>
            <a:r>
              <a:rPr lang="zh-CN" alt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</a:t>
            </a: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(自动)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952500" y="4572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移动端数据实时同步到云端，系统自动完成数据清洗、整合与汇总，构建企业数字资产。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6"/>
            </p:custDataLst>
          </p:nvPr>
        </p:nvSpPr>
        <p:spPr>
          <a:xfrm>
            <a:off x="43815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72000" y="39751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30"/>
            </p:custDataLst>
          </p:nvPr>
        </p:nvSpPr>
        <p:spPr>
          <a:xfrm>
            <a:off x="5080000" y="3937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报表生成 (自动)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31"/>
            </p:custDataLst>
          </p:nvPr>
        </p:nvSpPr>
        <p:spPr>
          <a:xfrm>
            <a:off x="4572000" y="4572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基于汇总数据，系统自动生成经营分析、农事执行进度等各类报表，多维度呈现生产全貌。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32"/>
            </p:custDataLst>
          </p:nvPr>
        </p:nvSpPr>
        <p:spPr>
          <a:xfrm>
            <a:off x="8001000" y="3746500"/>
            <a:ext cx="3429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191500" y="39751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6"/>
            </p:custDataLst>
          </p:nvPr>
        </p:nvSpPr>
        <p:spPr>
          <a:xfrm>
            <a:off x="8699500" y="39370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洞察反馈 (电脑端)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37"/>
            </p:custDataLst>
          </p:nvPr>
        </p:nvSpPr>
        <p:spPr>
          <a:xfrm>
            <a:off x="8191500" y="4572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管理者基于数据报表洞察生产瓶颈与薄弱环节，将分析结果反哺于下一轮计划编排，实现闭环优化。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78500"/>
            <a:ext cx="5334000" cy="889000"/>
          </a:xfrm>
          <a:prstGeom prst="roundRect">
            <a:avLst>
              <a:gd name="adj" fmla="val 17142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52500" y="5905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 以上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302000" y="596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排程时间显著减少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096000" y="5778500"/>
            <a:ext cx="5334000" cy="889000"/>
          </a:xfrm>
          <a:prstGeom prst="roundRect">
            <a:avLst>
              <a:gd name="adj" fmla="val 17142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286500" y="59055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 以上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0" y="5969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农事记录完整率大幅提升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农资全链路管理：成本的精细化管控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971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全链路闭环流程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921000" y="1879600"/>
            <a:ext cx="825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采购申请 → 多级审批 → 验收入库 → 库存管理 → 领用申请 → 使用记录 → 库存预警 → 触发新采购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746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3683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安全库存预警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设定库存水位线，当实际库存低于安全阈值时，系统自动推送提醒，防止断供或过量囤积。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746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3683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用量异常预警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基于地块面积与历史数据建立用量标准，当领用或使用量偏离标准范围时，即时预警以杜绝浪费。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56007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159000" y="5524500"/>
            <a:ext cx="876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预期成效：通过全链路精细化管理，库存准确率可从传统模式的约</a:t>
            </a:r>
            <a:r>
              <a:rPr lang="en-US" sz="2400" b="1" i="0" u="none" strike="noStrike">
                <a:solidFill>
                  <a:srgbClr val="FFF3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60%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提升至</a:t>
            </a:r>
            <a:r>
              <a:rPr lang="en-US" sz="2800" b="1" i="0" u="none" strike="noStrike">
                <a:solidFill>
                  <a:srgbClr val="FFF3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95% 以上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，大幅降低损耗并优化资金占用。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设备管理：果园的智能感官，让果园“会说话”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1518" r="21518"/>
          <a:stretch>
            <a:fillRect/>
          </a:stretch>
        </p:blipFill>
        <p:spPr>
          <a:xfrm>
            <a:off x="914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184400" y="1981200"/>
            <a:ext cx="175260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气象站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实时监测环境数据，为农事决策和灾害预警提供科学依据。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t="3408" b="3408"/>
          <a:stretch>
            <a:fillRect/>
          </a:stretch>
        </p:blipFill>
        <p:spPr>
          <a:xfrm>
            <a:off x="4597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867400" y="1981200"/>
            <a:ext cx="175260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土壤传感器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精准监测土壤湿度、pH值、EC值，指导果园科学的精准灌溉和施肥。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28000" y="1778000"/>
            <a:ext cx="3302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31012" r="31012"/>
          <a:stretch>
            <a:fillRect/>
          </a:stretch>
        </p:blipFill>
        <p:spPr>
          <a:xfrm>
            <a:off x="8280400" y="1981200"/>
            <a:ext cx="1143000" cy="20066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9550400" y="1981200"/>
            <a:ext cx="175260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虫情测报灯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自动识别并统计害虫的种类与数量，为病虫害防治提供早期数据预警。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381500"/>
            <a:ext cx="52705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00600"/>
            <a:ext cx="1016000" cy="1016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286000" y="4572000"/>
            <a:ext cx="3492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监控设备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提供果园全区域的高清实时视频画面，便于管理者远程查看果园状态，实现全方位的安防与生产管理。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4381500"/>
            <a:ext cx="52705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l="15384" r="15384"/>
          <a:stretch>
            <a:fillRect/>
          </a:stretch>
        </p:blipFill>
        <p:spPr>
          <a:xfrm>
            <a:off x="6540500" y="4597400"/>
            <a:ext cx="1143000" cy="1651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7874000" y="4572000"/>
            <a:ext cx="342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水肥一体化设备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支持移动端远程控制与自动灌溉模式切换，按需精准供给水肥，实现资源的高效利用与生产成本降低。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预警管理：分钟级响应的安全网，主动规避风险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设备预警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15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触发条件：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设备故障、离线、数据异常波动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电话 + 系统弹窗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响应目标：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确保核心生产设备稳定运行，避免停机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671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032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02100" y="2006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气象预警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2667000"/>
            <a:ext cx="215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触发条件：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霜冻、暴雨、大风等极端恶劣天气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电话 + 短信 + APP推送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响应目标：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提前防范，最大程度减少自然灾害损失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722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2032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07200" y="2006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农事预警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62700" y="2667000"/>
            <a:ext cx="215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触发条件：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关键物候期节点提醒、农事任务逾期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APP推送 + 系统消息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响应目标：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科学指导农事，确保农事活动不误农时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877300" y="1778000"/>
            <a:ext cx="2540000" cy="3048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512300" y="20066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库存预警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2667000"/>
            <a:ext cx="215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触发条件：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化肥、农药、农膜等农资库存低于安全线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通知方式：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APP推送 + 系统消息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响应目标：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及时补货，保障果园生产资料持续供应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207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524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5461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传统管理模式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平均响应时间：</a:t>
            </a:r>
            <a:r>
              <a:rPr lang="en-US" sz="2000" b="1" i="0" u="none" strike="noStrike">
                <a:solidFill>
                  <a:srgbClr val="FECAC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小时级</a:t>
            </a:r>
            <a:endParaRPr lang="en-US" sz="2000" b="1" i="0" u="none" strike="noStrike">
              <a:solidFill>
                <a:srgbClr val="FECAC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0" y="5397500"/>
            <a:ext cx="127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5524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5461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智慧果园预警系统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平均响应时间：</a:t>
            </a:r>
            <a:r>
              <a:rPr lang="en-US" sz="2000" b="1" i="0" u="none" strike="noStrike">
                <a:solidFill>
                  <a:srgbClr val="FEF0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分钟级 (&lt; 5分钟)</a:t>
            </a:r>
            <a:endParaRPr lang="en-US" sz="2000" b="1" i="0" u="none" strike="noStrike">
              <a:solidFill>
                <a:srgbClr val="FEF0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产品追溯：构建品牌信任的桥梁，让消费者放心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851" b="7851"/>
          <a:stretch>
            <a:fillRect/>
          </a:stretch>
        </p:blipFill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445000" y="1905000"/>
            <a:ext cx="6985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6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159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207000" y="2133600"/>
            <a:ext cx="571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XX苹果 · 专属数字履历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99000" y="2730500"/>
            <a:ext cx="622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🌳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品种：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红富士（条红） | 📍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产地：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陕西省洛川县 XX 核心种植基地 | 📅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采收：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2026年10月15日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3683000"/>
            <a:ext cx="6477000" cy="1270000"/>
          </a:xfrm>
          <a:prstGeom prst="roundRect">
            <a:avLst>
              <a:gd name="adj" fmla="val 8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3873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3873500"/>
            <a:ext cx="5715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全流程农事记录 (关键节点)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89500" y="444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📅 03-15 春季修剪 | 04-20 疏花授粉，保坐果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444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📅 05-25 物理套袋防护 | 09-10 摘袋着色增亮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5207000"/>
            <a:ext cx="2032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6000" y="539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70500" y="5334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农药残留检测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未检出</a:t>
            </a:r>
            <a:endParaRPr lang="en-US" sz="1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921500" y="5207000"/>
            <a:ext cx="2032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8500" y="539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93000" y="5334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果实糖度检测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12.5°Bx (高甜)</a:t>
            </a:r>
            <a:endParaRPr 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144000" y="5207000"/>
            <a:ext cx="2032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1000" y="5397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715500" y="5334000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综合等级评定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特级果 A+</a:t>
            </a:r>
            <a:endParaRPr lang="en-US" sz="1400" b="1" i="0" u="none" strike="noStrike">
              <a:solidFill>
                <a:srgbClr val="EA580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苹果物候期模型：专业的种植引擎，让管理顺应自然节律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1028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[11月-2月] 休眠期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[3-4月] 萌芽期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[4-5月] 花期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[5-6月] 幼果期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[7-8月] 膨大期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[9月] 着色期</a:t>
            </a:r>
            <a:r>
              <a:rPr lang="en-US" sz="13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r>
              <a:rPr lang="en-US" sz="13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[10-11月] 采收期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68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889000" y="3810000"/>
            <a:ext cx="3048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关键节点：花期管理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精准把握授粉与防冻窗口期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368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t="5555" b="5555"/>
          <a:stretch>
            <a:fillRect/>
          </a:stretch>
        </p:blipFill>
        <p:spPr>
          <a:xfrm>
            <a:off x="4572000" y="3810000"/>
            <a:ext cx="3048000" cy="1524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5720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关键节点：套袋作业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依据幼果发育进度科学安排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3683000"/>
            <a:ext cx="3302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55000" y="387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模型驱动逻辑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4445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4419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智能匹配：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基于品种、树龄、地区，自动匹配时间窗口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5080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5054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主动推送：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关键节点自动发送农事建议与任务提醒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5715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99500" y="56896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动态调整：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结合实时气象数据，动态优化最佳执行时间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数据大屏实景中心：运筹帷幄的决策舱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05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实景为中心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以高清果园航拍图为底图，营造沉浸式决策环境，将抽象数据与实体场景深度融合。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302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175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KPI 环绕布局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顶部集中展示6大核心经营指标卡片，关键信息一目了然，无需翻查报表。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572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445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多维图表可视化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侧边栏集成折线图、柱状图等多种图表形式，直观动态展示生产进度和经营状况趋势。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24500"/>
            <a:ext cx="2540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" y="577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5651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预警动态提醒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异常信息醒目弹窗提示，风险及时响应。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29000" y="5524500"/>
            <a:ext cx="2540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81400" y="577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5651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向下钻取分析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支持层层下钻，探索数据背后的深层原因。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5749290" cy="4889500"/>
          </a:xfrm>
          <a:prstGeom prst="roundRect">
            <a:avLst>
              <a:gd name="adj" fmla="val 3116"/>
            </a:avLst>
          </a:prstGeom>
          <a:solidFill>
            <a:srgbClr val="F3F4F6">
              <a:alpha val="95000"/>
            </a:srgbClr>
          </a:solidFill>
          <a:ln w="25400" cap="flat" cmpd="sng">
            <a:solidFill>
              <a:srgbClr val="228B2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35725" y="1778000"/>
            <a:ext cx="5612130" cy="4799330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400" b="0" i="0" u="none" strike="noStrike">
              <a:solidFill>
                <a:srgbClr val="8080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数字履历亮点：从产品到品牌的价值升华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价值体现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92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272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创造品牌溢价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可追溯的产品更具吸引力，能有效建立消费者信任，使其愿意为品质与安心支付更高价格。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064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272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满足政策合规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建立完善、透明的全链路追溯体系，不仅规避合规风险，更是食品企业未来发展的必备条件。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520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272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丰富营销素材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透明化的种植、加工过程本身就是最好的品牌故事，可多渠道传播，打造差异化竞争优势。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27800" y="203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📍 扫码场景全覆盖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2921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88200" y="2857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商超货架：增强临门一脚信心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消费者在购物现场即时扫码查验，消除购买顾虑，提升购买转化率。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4064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88200" y="4000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礼品礼盒：提升送礼价值感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将“可追溯”作为高端礼品的核心卖点，彰显送礼者对品质与健康的极致追求。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27800" y="5207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88200" y="514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电商平台：详情页的信任背书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062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在产品详情页嵌入追溯入口，直观展示全链路信息，有效解决线上“看不见摸不着”的信任痛点。</a:t>
            </a:r>
            <a:endParaRPr lang="en-US" sz="1300" b="0" i="0" u="none" strike="noStrike">
              <a:solidFill>
                <a:srgbClr val="6062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预期成效：数据说话，见证业务改善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核心指标改善对比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43000" y="2794000"/>
            <a:ext cx="209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农事排程时间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现状：2小时/天 → 目标：&lt;30分钟/天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75%</a:t>
            </a:r>
            <a:endParaRPr lang="en-US" sz="2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667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619500" y="2794000"/>
            <a:ext cx="209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农事记录完整率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现状：&lt; 30% → 目标：&gt; 80%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167%</a:t>
            </a:r>
            <a:endParaRPr lang="en-US" sz="2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4572000"/>
            <a:ext cx="209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农资库存准确率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现状：~60% → 目标：&gt; 95%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↑ 58%</a:t>
            </a:r>
            <a:endParaRPr lang="en-US" sz="2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92500" y="4445000"/>
            <a:ext cx="2349500" cy="1587500"/>
          </a:xfrm>
          <a:prstGeom prst="roundRect">
            <a:avLst>
              <a:gd name="adj" fmla="val 64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DCFCE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19500" y="4572000"/>
            <a:ext cx="2095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风险预警响应时间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现状：小时级 → 目标：&lt; 5分钟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↓ &gt;90%</a:t>
            </a:r>
            <a:endParaRPr lang="en-US" sz="2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t="11538" b="11538"/>
          <a:stretch>
            <a:fillRect/>
          </a:stretch>
        </p:blipFill>
        <p:spPr>
          <a:xfrm>
            <a:off x="6223000" y="1651000"/>
            <a:ext cx="24765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l="12299" r="12300"/>
          <a:stretch>
            <a:fillRect/>
          </a:stretch>
        </p:blipFill>
        <p:spPr>
          <a:xfrm>
            <a:off x="8953500" y="1651000"/>
            <a:ext cx="2476500" cy="1905000"/>
          </a:xfrm>
          <a:prstGeom prst="roundRect">
            <a:avLst>
              <a:gd name="adj" fmla="val 8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223000" y="3810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393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商业价值解读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4572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4508500"/>
            <a:ext cx="88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降本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精细化管理，降低生产和管理成本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0" y="4572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191500" y="4508500"/>
            <a:ext cx="88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精准指导，提升劳动生产率和资源利用率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0500" y="4572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25000" y="4508500"/>
            <a:ext cx="88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科学管理，显著提升优果率和果实品质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电脑端：界面展示 · 指挥中心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762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889000" y="1256030"/>
            <a:ext cx="3048000" cy="456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首页仪表盘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4445000" y="177800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7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4445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4572000" y="1256030"/>
            <a:ext cx="3048000" cy="456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农事计划编排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8128000" y="177800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11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8128000" y="1778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8255000" y="1256665"/>
            <a:ext cx="3048000" cy="4559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农资库存管理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67995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15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762000" y="467995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889000" y="4273550"/>
            <a:ext cx="3048000" cy="266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设备监控中心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4445000" y="467995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19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4445000" y="467995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4572000" y="4272915"/>
            <a:ext cx="3048000" cy="267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采收记录统计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128000" y="4679950"/>
            <a:ext cx="3302000" cy="2032000"/>
          </a:xfrm>
          <a:prstGeom prst="roundRect">
            <a:avLst>
              <a:gd name="adj" fmla="val 5000"/>
            </a:avLst>
          </a:prstGeom>
          <a:blipFill rotWithShape="1">
            <a:blip r:embed="rId23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8128000" y="4679950"/>
            <a:ext cx="3302000" cy="508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8255000" y="4273550"/>
            <a:ext cx="3048000" cy="267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spcBef>
                <a:spcPts val="800"/>
              </a:spcBef>
            </a:pPr>
            <a:r>
              <a:rPr lang="en-US" sz="1600" b="1" i="0" u="none" strike="noStrike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追溯码管理</a:t>
            </a:r>
            <a:endParaRPr lang="en-US" sz="1600" b="1" i="0" u="none" strike="noStrike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移动端：界面展示 · 执行前线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497965"/>
            <a:ext cx="2091690" cy="3810000"/>
          </a:xfrm>
          <a:prstGeom prst="roundRect">
            <a:avLst>
              <a:gd name="adj" fmla="val 6153"/>
            </a:avLst>
          </a:prstGeom>
          <a:blipFill rotWithShape="1">
            <a:blip r:embed="rId3"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3492500" y="1497965"/>
            <a:ext cx="2165350" cy="3810000"/>
          </a:xfrm>
          <a:prstGeom prst="roundRect">
            <a:avLst>
              <a:gd name="adj" fmla="val 6153"/>
            </a:avLst>
          </a:prstGeom>
          <a:blipFill rotWithShape="1">
            <a:blip r:embed="rId5"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3531870" y="544449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记农事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3531870" y="5874385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农事记录数字化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图文/视频实时上传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历史数据随时回溯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223000" y="1497965"/>
            <a:ext cx="2066925" cy="3810000"/>
          </a:xfrm>
          <a:prstGeom prst="roundRect">
            <a:avLst>
              <a:gd name="adj" fmla="val 6153"/>
            </a:avLst>
          </a:prstGeom>
          <a:blipFill rotWithShape="1">
            <a:blip r:embed="rId9"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262370" y="544449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巡园打卡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305550" y="5836285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LBS位置精准打卡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隐患问题一键上报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处理状态实时追踪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8953500" y="1497965"/>
            <a:ext cx="2026920" cy="3810000"/>
          </a:xfrm>
          <a:prstGeom prst="roundRect">
            <a:avLst>
              <a:gd name="adj" fmla="val 6153"/>
            </a:avLst>
          </a:prstGeom>
          <a:blipFill rotWithShape="1">
            <a:blip r:embed="rId13"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8992870" y="544449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对话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9020810" y="5743575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7x24小时农事顾问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智能问答/专家知识库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辅助科学决策</a:t>
            </a:r>
            <a:endParaRPr lang="en-US" sz="1100"/>
          </a:p>
        </p:txBody>
      </p:sp>
      <p:sp>
        <p:nvSpPr>
          <p:cNvPr id="21" name="AutoShape 10"/>
          <p:cNvSpPr/>
          <p:nvPr>
            <p:custDataLst>
              <p:tags r:id="rId16"/>
            </p:custDataLst>
          </p:nvPr>
        </p:nvSpPr>
        <p:spPr>
          <a:xfrm>
            <a:off x="876935" y="544449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功能全</a:t>
            </a:r>
            <a:endParaRPr lang="zh-CN" altLang="en-US" sz="20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1"/>
          <p:cNvSpPr/>
          <p:nvPr>
            <p:custDataLst>
              <p:tags r:id="rId17"/>
            </p:custDataLst>
          </p:nvPr>
        </p:nvSpPr>
        <p:spPr>
          <a:xfrm>
            <a:off x="692785" y="5836285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zh-CN" altLang="en-US" sz="1300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所有业务板块均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</a:t>
            </a:r>
            <a:b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提供一系列的线上服务</a:t>
            </a:r>
            <a:b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操作简便</a:t>
            </a:r>
            <a:r>
              <a:rPr lang="en-US" altLang="zh-CN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实用</a:t>
            </a:r>
            <a:r>
              <a:rPr lang="en-US" altLang="zh-CN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易懂</a:t>
            </a:r>
            <a:endParaRPr lang="zh-CN" alt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大屏端：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动态数据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决策舱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49070"/>
            <a:ext cx="10668000" cy="5264150"/>
          </a:xfrm>
          <a:prstGeom prst="roundRect">
            <a:avLst>
              <a:gd name="adj" fmla="val 3750"/>
            </a:avLst>
          </a:prstGeom>
          <a:blipFill rotWithShape="1">
            <a:blip r:embed="rId2"/>
            <a:stretch>
              <a:fillRect/>
            </a:stretch>
          </a:blipFill>
          <a:ln w="38100" cap="flat" cmpd="sng">
            <a:solidFill>
              <a:srgbClr val="228B2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3302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典型用户场景：用户故事 — 智慧果园在真实场景中的应用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87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农事执行闭环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👤 基地管理者 · 张经理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4254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“以前每天花一两个小时打电话安排活儿，现在用‘智慧果园’排好计划，任务就自动发下去了。下午在外面办事，手机就能看进度，晚上日报表也自动生成好了，省了我太多事！”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2387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预警快速响应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👤 企业管理者 · 李总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4254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“有一次凌晨收到霜冻预警和设备离线报警，我立刻联系基地处理，前后不到5分钟。这个系统真是给我们吃了颗定心丸，让我们在风险面前有了十足的底气。”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2032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28000" y="2032000"/>
            <a:ext cx="3302000" cy="101600"/>
          </a:xfrm>
          <a:prstGeom prst="roundRect">
            <a:avLst>
              <a:gd name="adj" fmla="val 7500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41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0" y="2387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一线极简操作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3175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👤 地块负责人 · 王师傅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4064000"/>
            <a:ext cx="2794000" cy="1905000"/>
          </a:xfrm>
          <a:prstGeom prst="roundRect">
            <a:avLst>
              <a:gd name="adj" fmla="val 5333"/>
            </a:avLst>
          </a:prstGeom>
          <a:solidFill>
            <a:srgbClr val="F8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509000" y="4254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“我们平时在地里干活，最怕用那些复杂的软件。这个‘智慧果园’就简单多了，打开就是干活，干完活拍个照点两下就提交了，完全不耽误手上的农活，挺好！”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技术架构：稳定可靠的技术保障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82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49400" y="2057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68400" y="2984500"/>
            <a:ext cx="1981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Vue3、React Native 构建多端体验，引入 ECharts 实现高性能数据可视化展示。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29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81400" y="2984500"/>
            <a:ext cx="1981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统一API网关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提供全局流量入口，整合统一认证鉴权、流量限流熔断及全链路监控能力。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68400" y="4635500"/>
            <a:ext cx="198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微服务应用层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基于微服务架构拆分业务模块，实现独立部署、灵活扩展，保障系统高可用。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29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81400" y="4635500"/>
            <a:ext cx="198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多元化数据层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 MySQL、Redis、TimescaleDB 及 MinIO，适配关系型、缓存、时序及对象存储场景。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6E6E6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0828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10400" y="2057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全方位安全保障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629400" y="2984500"/>
            <a:ext cx="1981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 全站加密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SSL/TLS 协议对所有传输链路进行加密处理，有效防止数据在传输过程中被窃听或篡改。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890000" y="2794000"/>
            <a:ext cx="2286000" cy="1524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042400" y="2984500"/>
            <a:ext cx="1981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RBAC 权限体系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基于角色的访问控制模型，实现细粒度的功能权限与数据权限分离，确保权责分明。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29400" y="4635500"/>
            <a:ext cx="198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全量操作审计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完整记录系统关键操作日志，支持日志的长期留存与追溯，满足合规与审计要求。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890000" y="4445000"/>
            <a:ext cx="2286000" cy="1397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42400" y="4635500"/>
            <a:ext cx="198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敏感数据加密存储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针对用户敏感个人信息及核心业务数据，实施存储加密保护，规避数据库泄露风险。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合作模式：携手共赢，灵活的合作方案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304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30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适用规模：</a:t>
            </a:r>
            <a:r>
              <a:rPr lang="en-US" sz="13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1-3个基地</a:t>
            </a:r>
            <a:endParaRPr lang="en-US" sz="1100" dirty="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套餐价格：</a:t>
            </a:r>
            <a:r>
              <a:rPr lang="en-US" sz="1400" b="1" i="0" u="none" strike="noStrike" dirty="0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20,000元/年/</a:t>
            </a:r>
            <a:r>
              <a:rPr lang="en-US" sz="14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基地</a:t>
            </a:r>
            <a:endParaRPr lang="en-US" sz="1400" b="1" i="0" u="none" strike="noStrike" dirty="0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包含内容：</a:t>
            </a:r>
            <a:r>
              <a:rPr lang="en-US" sz="1200" b="0" i="0" u="none" strike="noStrike" dirty="0" err="1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核心功能模块、标准技术支持服务</a:t>
            </a:r>
            <a:endParaRPr lang="en-US" sz="1200" b="0" i="0" u="none" strike="noStrike" dirty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304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730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适用规模：</a:t>
            </a:r>
            <a:r>
              <a:rPr lang="en-US" sz="13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4-10个基地</a:t>
            </a:r>
            <a:endParaRPr lang="en-US" sz="1100" dirty="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套餐价格：</a:t>
            </a:r>
            <a:r>
              <a:rPr lang="en-US" sz="1400" b="1" i="0" u="none" strike="noStrike" dirty="0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25,000元/年/</a:t>
            </a:r>
            <a:r>
              <a:rPr lang="en-US" sz="1400" b="1" i="0" u="none" strike="noStrike" dirty="0" err="1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基地</a:t>
            </a:r>
            <a:endParaRPr lang="en-US" sz="1400" b="1" i="0" u="none" strike="noStrike" dirty="0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包含内容：</a:t>
            </a:r>
            <a:r>
              <a:rPr lang="en-US" sz="1200" b="0" i="0" u="none" strike="noStrike" dirty="0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全功能模块、7x24小时优先支持、年度操作培训</a:t>
            </a:r>
            <a:endParaRPr lang="en-US" sz="1200" b="0" i="0" u="none" strike="noStrike" dirty="0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228B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930400"/>
            <a:ext cx="330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旗舰版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7305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适用规模：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10个以上基地 (集团化)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套餐价格：</a:t>
            </a:r>
            <a:r>
              <a:rPr lang="en-US" sz="14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根据需求定制报价</a:t>
            </a:r>
            <a:endParaRPr lang="en-US" sz="1400" b="1" i="0" u="none" strike="noStrike">
              <a:solidFill>
                <a:srgbClr val="228B2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包含内容：</a:t>
            </a: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专属客服团队、个性化定制开发、专家现场实施与培训</a:t>
            </a:r>
            <a:endParaRPr lang="en-US" sz="12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27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7×24小时支持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随时响应您的业务需求，保障系统稳定运行。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556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5270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318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定期版本更新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持续优化系统功能，引入行业最佳实践。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5270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数据安全保障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多重数据备份与容灾机制，确保数据资产万无一失。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017000" y="4953000"/>
            <a:ext cx="2667000" cy="1397000"/>
          </a:xfrm>
          <a:prstGeom prst="roundRect">
            <a:avLst>
              <a:gd name="adj" fmla="val 909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5270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779000" y="5207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全方位培训赋能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提供操作手册、视频课程及现场指导，快速上手。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blipFill rotWithShape="1">
            <a:blip r:embed="rId2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QA&amp;联系我们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47800" y="22606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8B2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联系方式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048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📧 邮箱：user007a@126.com</a:t>
            </a:r>
            <a:endParaRPr lang="en-US" sz="1100" dirty="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📞 电话：15111480531</a:t>
            </a:r>
            <a:endParaRPr 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🏢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地址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长沙市枫林三路湘江智谷超算中心</a:t>
            </a:r>
            <a:r>
              <a:rPr lang="en-US" altLang="zh-CN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zh-CN" altLang="en-US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</a:t>
            </a:r>
            <a:r>
              <a:rPr lang="en-US" altLang="zh-CN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</a:t>
            </a:r>
            <a:r>
              <a:rPr lang="zh-CN" altLang="en-US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栋</a:t>
            </a:r>
            <a:r>
              <a:rPr lang="en-US" altLang="zh-CN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308</a:t>
            </a:r>
            <a:endParaRPr 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1800" y="2413000"/>
            <a:ext cx="1168400" cy="1168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访问产品官网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扫描上方二维码，查看详细功能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141641" y="2413000"/>
            <a:ext cx="1253639" cy="1596697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</a:t>
            </a:r>
            <a:r>
              <a:rPr lang="zh-CN" alt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经理微信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一对一咨询，获取定制化方案</a:t>
            </a:r>
            <a:endParaRPr lang="en-US" sz="1200" b="0" i="0" u="none" strike="noStrike" dirty="0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0" y="546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让苹果种植更省心、更科学、更赚钱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chemeClr val="bg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</a:t>
            </a:r>
            <a:r>
              <a:rPr lang="zh-CN" altLang="en-US" sz="1400" b="0" i="0" u="none" strike="noStrike">
                <a:solidFill>
                  <a:schemeClr val="bg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智道易农科技有限公司</a:t>
            </a:r>
            <a:endParaRPr lang="zh-CN" altLang="en-US" sz="1400" b="0" i="0" u="none" strike="noStrike">
              <a:solidFill>
                <a:schemeClr val="bg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25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4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5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6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7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8.xml><?xml version="1.0" encoding="utf-8"?>
<p:tagLst xmlns:p="http://schemas.openxmlformats.org/presentationml/2006/main">
  <p:tag name="KSO_WM_DIAGRAM_VIRTUALLY_FRAME" val="{&quot;height&quot;:360,&quot;left&quot;:60,&quot;top&quot;:140,&quot;width&quot;:420}"/>
</p:tagLst>
</file>

<file path=ppt/tags/tag1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2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0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1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2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3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4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5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6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7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8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39.xml><?xml version="1.0" encoding="utf-8"?>
<p:tagLst xmlns:p="http://schemas.openxmlformats.org/presentationml/2006/main">
  <p:tag name="KSO_WM_DIAGRAM_VIRTUALLY_FRAME" val="{&quot;height&quot;:350,&quot;left&quot;:60,&quot;top&quot;:140,&quot;width&quot;:840}"/>
</p:tagLst>
</file>

<file path=ppt/tags/tag40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1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2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3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4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5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6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7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8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49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50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51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52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53.xml><?xml version="1.0" encoding="utf-8"?>
<p:tagLst xmlns:p="http://schemas.openxmlformats.org/presentationml/2006/main">
  <p:tag name="KSO_WM_DIAGRAM_VIRTUALLY_FRAME" val="{&quot;height&quot;:364.3,&quot;left&quot;:60,&quot;top&quot;:140,&quot;width&quot;:840}"/>
</p:tagLst>
</file>

<file path=ppt/tags/tag54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55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56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57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58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59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0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1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2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3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4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5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6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7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8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69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0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1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2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3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7.xml><?xml version="1.0" encoding="utf-8"?>
<p:tagLst xmlns:p="http://schemas.openxmlformats.org/presentationml/2006/main">
  <p:tag name="KSO_WM_DIAGRAM_VIRTUALLY_FRAME" val="{&quot;height&quot;:310,&quot;left&quot;:60,&quot;top&quot;:130,&quot;width&quot;:840}"/>
</p:tagLst>
</file>

<file path=ppt/tags/tag78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79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0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1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2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3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4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5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6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7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8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89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0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1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2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3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4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5.xml><?xml version="1.0" encoding="utf-8"?>
<p:tagLst xmlns:p="http://schemas.openxmlformats.org/presentationml/2006/main">
  <p:tag name="KSO_WM_DIAGRAM_VIRTUALLY_FRAME" val="{&quot;height&quot;:430.3,&quot;left&quot;:60,&quot;top&quot;:98.2,&quot;width&quot;:840}"/>
</p:tagLst>
</file>

<file path=ppt/tags/tag96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97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98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99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100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101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102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103.xml><?xml version="1.0" encoding="utf-8"?>
<p:tagLst xmlns:p="http://schemas.openxmlformats.org/presentationml/2006/main">
  <p:tag name="KSO_WM_DIAGRAM_VIRTUALLY_FRAME" val="{&quot;height&quot;:390.3,&quot;left&quot;:60,&quot;top&quot;:140,&quot;width&quot;:840}"/>
</p:tagLst>
</file>

<file path=ppt/tags/tag104.xml><?xml version="1.0" encoding="utf-8"?>
<p:tagLst xmlns:p="http://schemas.openxmlformats.org/presentationml/2006/main">
  <p:tag name="KSO_WM_DIAGRAM_VIRTUALLY_FRAME" val="{&quot;height&quot;:390.3,&quot;left&quot;:60,&quot;top&quot;:140,&quot;width&quot;:840}"/>
</p:tagLst>
</file>

<file path=ppt/tags/tag105.xml><?xml version="1.0" encoding="utf-8"?>
<p:tagLst xmlns:p="http://schemas.openxmlformats.org/presentationml/2006/main">
  <p:tag name="KSO_WM_DIAGRAM_VIRTUALLY_FRAME" val="{&quot;height&quot;:390.3,&quot;left&quot;:60,&quot;top&quot;:140,&quot;width&quot;:840}"/>
</p:tagLst>
</file>

<file path=ppt/tags/tag106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ags/tag107.xml><?xml version="1.0" encoding="utf-8"?>
<p:tagLst xmlns:p="http://schemas.openxmlformats.org/presentationml/2006/main">
  <p:tag name="KSO_WM_DIAGRAM_VIRTUALLY_FRAME" val="{&quot;height&quot;:436.85,&quot;left&quot;:60,&quot;top&quot;:105.7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6597</Words>
  <Application>WPS 演示</Application>
  <PresentationFormat>宽屏</PresentationFormat>
  <Paragraphs>575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刘友宝</cp:lastModifiedBy>
  <cp:revision>22</cp:revision>
  <dcterms:created xsi:type="dcterms:W3CDTF">2026-05-21T07:52:00Z</dcterms:created>
  <dcterms:modified xsi:type="dcterms:W3CDTF">2026-05-22T03:18:13Z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>CFE959FA2CFE4857AF875F6E0B2526DB_12</vt:lpwstr>
  </property>
</Properties>
</file>