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8.svg" ContentType="image/svg+xml"/>
  <Override PartName="/ppt/media/image140.svg" ContentType="image/svg+xml"/>
  <Override PartName="/ppt/media/image142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.svg" ContentType="image/svg+xml"/>
  <Override PartName="/ppt/media/image151.svg" ContentType="image/svg+xml"/>
  <Override PartName="/ppt/media/image17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76.svg" ContentType="image/svg+xml"/>
  <Override PartName="/ppt/media/image178.svg" ContentType="image/svg+xml"/>
  <Override PartName="/ppt/media/image180.svg" ContentType="image/svg+xml"/>
  <Override PartName="/ppt/media/image182.svg" ContentType="image/svg+xml"/>
  <Override PartName="/ppt/media/image19.svg" ContentType="image/svg+xml"/>
  <Override PartName="/ppt/media/image194.svg" ContentType="image/svg+xml"/>
  <Override PartName="/ppt/media/image196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1.svg" ContentType="image/svg+xml"/>
  <Override PartName="/ppt/media/image213.svg" ContentType="image/svg+xml"/>
  <Override PartName="/ppt/media/image215.svg" ContentType="image/svg+xml"/>
  <Override PartName="/ppt/media/image217.svg" ContentType="image/svg+xml"/>
  <Override PartName="/ppt/media/image219.svg" ContentType="image/svg+xml"/>
  <Override PartName="/ppt/media/image221.svg" ContentType="image/svg+xml"/>
  <Override PartName="/ppt/media/image223.svg" ContentType="image/svg+xml"/>
  <Override PartName="/ppt/media/image225.svg" ContentType="image/svg+xml"/>
  <Override PartName="/ppt/media/image227.svg" ContentType="image/svg+xml"/>
  <Override PartName="/ppt/media/image229.svg" ContentType="image/svg+xml"/>
  <Override PartName="/ppt/media/image244.svg" ContentType="image/svg+xml"/>
  <Override PartName="/ppt/media/image246.svg" ContentType="image/svg+xml"/>
  <Override PartName="/ppt/media/image248.svg" ContentType="image/svg+xml"/>
  <Override PartName="/ppt/media/image250.svg" ContentType="image/svg+xml"/>
  <Override PartName="/ppt/media/image252.svg" ContentType="image/svg+xml"/>
  <Override PartName="/ppt/media/image270.svg" ContentType="image/svg+xml"/>
  <Override PartName="/ppt/media/image272.svg" ContentType="image/svg+xml"/>
  <Override PartName="/ppt/media/image27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86.svg" ContentType="image/svg+xml"/>
  <Override PartName="/ppt/media/image88.svg" ContentType="image/svg+xml"/>
  <Override PartName="/ppt/media/image9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  <p:sldMasterId id="2147483665" r:id="rId5"/>
    <p:sldMasterId id="2147483668" r:id="rId6"/>
    <p:sldMasterId id="2147483670" r:id="rId7"/>
    <p:sldMasterId id="2147483673" r:id="rId8"/>
    <p:sldMasterId id="2147483676" r:id="rId9"/>
    <p:sldMasterId id="2147483679" r:id="rId10"/>
    <p:sldMasterId id="2147483682" r:id="rId11"/>
    <p:sldMasterId id="2147483685" r:id="rId12"/>
  </p:sldMasterIdLst>
  <p:notesMasterIdLst>
    <p:notesMasterId r:id="rId14"/>
  </p:notesMasterIdLst>
  <p:sldIdLst>
    <p:sldId id="256" r:id="rId13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86" r:id="rId23"/>
    <p:sldId id="265" r:id="rId24"/>
    <p:sldId id="287" r:id="rId25"/>
    <p:sldId id="266" r:id="rId26"/>
    <p:sldId id="288" r:id="rId27"/>
    <p:sldId id="267" r:id="rId28"/>
    <p:sldId id="297" r:id="rId29"/>
    <p:sldId id="268" r:id="rId30"/>
    <p:sldId id="298" r:id="rId31"/>
    <p:sldId id="269" r:id="rId32"/>
    <p:sldId id="270" r:id="rId33"/>
    <p:sldId id="271" r:id="rId34"/>
    <p:sldId id="272" r:id="rId35"/>
    <p:sldId id="273" r:id="rId36"/>
    <p:sldId id="299" r:id="rId37"/>
    <p:sldId id="274" r:id="rId38"/>
    <p:sldId id="300" r:id="rId39"/>
    <p:sldId id="275" r:id="rId40"/>
    <p:sldId id="276" r:id="rId41"/>
    <p:sldId id="277" r:id="rId42"/>
    <p:sldId id="293" r:id="rId43"/>
    <p:sldId id="284" r:id="rId44"/>
    <p:sldId id="294" r:id="rId45"/>
    <p:sldId id="279" r:id="rId46"/>
    <p:sldId id="280" r:id="rId47"/>
    <p:sldId id="281" r:id="rId48"/>
    <p:sldId id="282" r:id="rId49"/>
    <p:sldId id="283" r:id="rId50"/>
    <p:sldId id="285" r:id="rId5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6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6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4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1" Type="http://schemas.openxmlformats.org/officeDocument/2006/relationships/slide" Target="slides/slide38.xml"/><Relationship Id="rId50" Type="http://schemas.openxmlformats.org/officeDocument/2006/relationships/slide" Target="slides/slide37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36.xml"/><Relationship Id="rId48" Type="http://schemas.openxmlformats.org/officeDocument/2006/relationships/slide" Target="slides/slide35.xml"/><Relationship Id="rId47" Type="http://schemas.openxmlformats.org/officeDocument/2006/relationships/slide" Target="slides/slide34.xml"/><Relationship Id="rId46" Type="http://schemas.openxmlformats.org/officeDocument/2006/relationships/slide" Target="slides/slide33.xml"/><Relationship Id="rId45" Type="http://schemas.openxmlformats.org/officeDocument/2006/relationships/slide" Target="slides/slide32.xml"/><Relationship Id="rId44" Type="http://schemas.openxmlformats.org/officeDocument/2006/relationships/slide" Target="slides/slide31.xml"/><Relationship Id="rId43" Type="http://schemas.openxmlformats.org/officeDocument/2006/relationships/slide" Target="slides/slide30.xml"/><Relationship Id="rId42" Type="http://schemas.openxmlformats.org/officeDocument/2006/relationships/slide" Target="slides/slide29.xml"/><Relationship Id="rId41" Type="http://schemas.openxmlformats.org/officeDocument/2006/relationships/slide" Target="slides/slide28.xml"/><Relationship Id="rId40" Type="http://schemas.openxmlformats.org/officeDocument/2006/relationships/slide" Target="slides/slide27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26.xml"/><Relationship Id="rId38" Type="http://schemas.openxmlformats.org/officeDocument/2006/relationships/slide" Target="slides/slide25.xml"/><Relationship Id="rId37" Type="http://schemas.openxmlformats.org/officeDocument/2006/relationships/slide" Target="slides/slide24.xml"/><Relationship Id="rId36" Type="http://schemas.openxmlformats.org/officeDocument/2006/relationships/slide" Target="slides/slide23.xml"/><Relationship Id="rId35" Type="http://schemas.openxmlformats.org/officeDocument/2006/relationships/slide" Target="slides/slide22.xml"/><Relationship Id="rId34" Type="http://schemas.openxmlformats.org/officeDocument/2006/relationships/slide" Target="slides/slide21.xml"/><Relationship Id="rId33" Type="http://schemas.openxmlformats.org/officeDocument/2006/relationships/slide" Target="slides/slide20.xml"/><Relationship Id="rId32" Type="http://schemas.openxmlformats.org/officeDocument/2006/relationships/slide" Target="slides/slide19.xml"/><Relationship Id="rId31" Type="http://schemas.openxmlformats.org/officeDocument/2006/relationships/slide" Target="slides/slide18.xml"/><Relationship Id="rId30" Type="http://schemas.openxmlformats.org/officeDocument/2006/relationships/slide" Target="slides/slide1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16.xml"/><Relationship Id="rId28" Type="http://schemas.openxmlformats.org/officeDocument/2006/relationships/slide" Target="slides/slide15.xml"/><Relationship Id="rId27" Type="http://schemas.openxmlformats.org/officeDocument/2006/relationships/slide" Target="slides/slide14.xml"/><Relationship Id="rId26" Type="http://schemas.openxmlformats.org/officeDocument/2006/relationships/slide" Target="slides/slide13.xml"/><Relationship Id="rId25" Type="http://schemas.openxmlformats.org/officeDocument/2006/relationships/slide" Target="slides/slide12.xml"/><Relationship Id="rId24" Type="http://schemas.openxmlformats.org/officeDocument/2006/relationships/slide" Target="slides/slide11.xml"/><Relationship Id="rId23" Type="http://schemas.openxmlformats.org/officeDocument/2006/relationships/slide" Target="slides/slide10.xml"/><Relationship Id="rId22" Type="http://schemas.openxmlformats.org/officeDocument/2006/relationships/slide" Target="slides/slide9.xml"/><Relationship Id="rId21" Type="http://schemas.openxmlformats.org/officeDocument/2006/relationships/slide" Target="slides/slide8.xml"/><Relationship Id="rId20" Type="http://schemas.openxmlformats.org/officeDocument/2006/relationships/slide" Target="slides/slide7.xml"/><Relationship Id="rId2" Type="http://schemas.openxmlformats.org/officeDocument/2006/relationships/theme" Target="theme/theme1.xml"/><Relationship Id="rId19" Type="http://schemas.openxmlformats.org/officeDocument/2006/relationships/slide" Target="slides/slide6.xml"/><Relationship Id="rId18" Type="http://schemas.openxmlformats.org/officeDocument/2006/relationships/slide" Target="slides/slide5.xml"/><Relationship Id="rId17" Type="http://schemas.openxmlformats.org/officeDocument/2006/relationships/slide" Target="slides/slide4.xml"/><Relationship Id="rId16" Type="http://schemas.openxmlformats.org/officeDocument/2006/relationships/slide" Target="slides/slide3.xml"/><Relationship Id="rId15" Type="http://schemas.openxmlformats.org/officeDocument/2006/relationships/slide" Target="slides/slide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今天的分享。我们今天要探讨的是一个正在深刻改变传统农业的话题——智慧果园。我们带来的，不仅仅是一个软件，更是一个“懂苹果”的种植管理平台。我们的目标非常明确：通过科技的力量，让苹果种植变得更省心、更科学，最终帮助大家更赚钱。这不仅是我们的口号，更是我们产品设计的核心价值主张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分享将分为七个部分。首先，我们将一同洞察当前苹果产业的巨大市场机遇与严峻的产业痛点。接着，我会详细介绍我们的整体解决方案，包括其独特的架构、核心优势以及创新的五端协同模式。之后，我们将深入剖析平台的“智慧大脑”——六大农业模型。我们还会展示如何通过智能硬件、区块链溯源和无人机巡检等手段提升效率。最后，我们将通过可量化的成效数据和客户证言来论证平台的价值，并探讨我们的合作模式与未来规划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巨大的变革浪潮中。一方面，国家政策大力扶持，从2024年到2026年，各项规划和资金支持密集出台，为数字化转型提供了前所未有的窗口期。另一方面，市场已经用真金白银投票，头部企业的数字化投入年增长率高达150%，智能硬件的部署也超过了80%。这清晰地表明，数字化不再是选择题，而是必答题。苹果产业的变革，已经刻不容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然而，机遇背后是严峻的挑战。我们深入调研发现，管理者和一线人员都面临着巨大的痛点。管理者们苦于数据孤岛、手工汇整和低效的农事管理，库存准确率甚至只有60%。而一线的兄弟们，则被复杂的操作、不稳定的网络和繁琐的记录流程所困扰。正如一位地块负责人所说：“每多一次点击，一天多几十次操作”，这不仅是效率问题，更是士气问题。这些痛点，正是我们产品要解决的核心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推出了“智慧果园”平台。请记住，我们不是一个通用的ERP，而是一个真正懂苹果的垂直平台。我们的核心是六大农业模型和AI大模型。这带来了什么价值？我们实现了效率的大幅提升，排程时间减少超过60%；数据记录完整率提升到80%以上；库存准确率从行业平均的60%提升到95%以上；风险预警响应时间缩短到5分钟以内；通过区块链溯源，我们帮助客户提升品牌溢价；更重要的是，我们的智能决策能将农事建议的准确率提升到70%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设计哲学非常简单：一线不用，系统白搭。因此，我们坚持“以人为本”，一切设计都围绕着一线地块负责人的需求。我们做到了拍照即记录，离线优先，并且在各种设备上都保持大字大按钮的极简风格。同时，我们给自己划下了五条不可妥协的技术红线：弱网必须可用，离线数据绝不丢失，核心操作不超过三步，启动必须秒级响应，数据必须高度一致。这是我们对用户的承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优势是系统性的，构建了竞品难以复制的护城河。这八大核心优势，从决策引擎到品牌营销，从硬件集成到一线体验，覆盖了果园管理的方方面面。与通用ERP和设备厂商的系统相比，我们的核心差异在于深刻的行业理解、完整的业务闭环、极致的一线易用性以及强大的AI决策支持。我们不仅是一个工具，更是一个懂苹果的智慧伙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实现全面的数字化管理，我们构建了独特的五端协同体系。以数据中心为核心，我们有面向管理者的电脑端指挥中心和大屏端决策舱，用于计划和监控；有面向一线员工的移动端执行前线，用于高效执行；还有面向消费者的H5端，用于建立信任。同时，我们的AI助手作为智慧顾问，贯穿始终，为所有角色提供智能支持。这五个端口协同工作，构成了一个完整的智慧果园生态系统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再来看移动端，这是我们产品的灵魂所在，因为它决定了数据采集的质量。我们深知一线员工的痛点，所以做到了“首屏即任务”，打开就是活。我们用“拍照”代替打字，核心操作不超过三步。即使在网络不好的地方，也能离线操作，数据绝不丢失。大字大按钮的设计，让员工戴着手套也能轻松使用。正是这种极致的易用性，保证了我们超过70%的一线使用率和80%以上的数据记录完整率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助手是一个24小时在线的智慧顾问。无论是深夜还是周末，员工都可以随时向它提问，或者拍下病虫害照片让它识别。这极大地提升了一线人员的专业能力和工作效率。同时，我们通过H5端将这种能力延伸到消费者。消费者扫描苹果上的二维码，就能看到一个完整的“数字果履历”，从开花到采摘，全程透明可追溯。这不仅是强大的营销工具，更是建立品牌信任、实现品牌溢价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作为整个系统的大脑，电脑端提供了全面的后台支撑。在这里，管理者可以进行企业管理、农事计划编排、农资管理、设备监控等一系列核心操作。我们还集成了预警中心、区块链溯源、模型中心等高级功能。可以说，电脑端是整个平台的指挥中心，为管理者提供了一个强大的工具，用于计划编排、审批决策和报表分析，真正做到运筹帷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，让我们深入了解平台的“智慧大脑”——六大农业模型。这六个模型覆盖了从生长、气象、病虫害到物候期、产量预估和市场价格的全过程。它们相互关联，协同工作，为不同角色的用户提供精准的决策支持。例如，生长模型告诉我们现在该做什么，病虫害模型预警风险，而产量和价格模型则指导我们如何实现收益最大化。这些模型的应用，使我们的农事建议准确率提升超过70%，风险预警提前24小时，产量预估误差控制在8%以内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来看生长模型和物候期模型。生长模型通过分析积温、水肥等数据，能精准判断果树处于哪个生长阶段，并给出相应的农事建议。物候期模型则更进一步，它能预测未来关键农时，比如开花、套袋的精确时间窗口。这两个模型结合，就像给果园配备了一位经验丰富的农艺师，帮助我们精准把握生产节奏，不错过任何一个关键农时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气象和病虫害模型，它们是果园的“风险雷达”。我们的气象模型能提供分钟级的精准预报，并针对苹果种植生成专属的气象指数，比如锈病发生指数。病虫害模型则能结合气象和虫情数据，提前预测病虫害风险，并在地图上以热力图的形式展示，同时给出精准的防治建议。这两个模型能将风险预警提前24小时以上，帮助我们将损失降到最低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产量预估和市场价格模型，它们是实现“以销定产”和利润最大化的关键。产量预估模型能在收获前几个月就精准预测产量，误差控制在8%以内，为销售计划提供可靠依据。市场价格模型则能预测未来的价格走势，帮助我们判断最佳的销售时机。这两个模型结合，让我们从被动的生产者，转变为主动的经营者，真正实现产销协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空谈不如实证。我们的六大模型已经在多个客户那里取得了显著成效。农事建议准确率超过70%，风险预警提前24小时，产量预估误差在8%以内。更重要的是，这些模型实实在在地帮助客户减少了15%以上的化肥农药使用，提升了8%以上的特级果率。在陕西洛川，一个基地的病虫害损失降低了20%；在山东烟台，一个合作社的霜冻损失降低了30%。这些数据证明了我们技术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除了内部管理，我们还利用前沿科技赋能品牌营销。通过区块链技术，我们为每一颗苹果建立了不可篡改的“数字身份证”。消费者扫码后，可以看到从种植到采收的全过程，包括区块链存证和权威质检报告。这带来了三大核心价值：提升品牌溢价、满足政策合规、丰富营销素材。一个透明、可信的品牌故事，是提升产品附加值的关键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引入了无人机进行高空AI巡检。管理者只需在电脑上规划好航线，无人机就能自动完成巡检任务。采集到的图像会由AI自动分析，发现缺苗、病害等异常情况，并立即推送到手机上。这种方式不仅实现了全园无死角覆盖，更将异常发现效率提升了80%以上，时间成本降低了60%。一个3000亩的基地，每周巡园时间从3天缩短到了4小时，效果非常显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农事管理模块，打通了从计划到执行的管理闭环。管理者在电脑端轻松编排计划，计划自动下发到一线员工的手机上。员工通过拍照完成记录，数据自动汇总生成报表。管理者再根据报表优化下一轮计划。这个闭环彻底解决了数据孤岛问题，确保了生产过程数据的完整采集，也让计划编排效率提升了60%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农资管理方面，我们实现了从采购到使用的全链路精细化管理。从采购申请、审批、入库，到库存预警、领用和使用记录，每一个环节都在线上完成。我们的系统不仅能自动进行库存预警，还能检测异常用量，防止浪费。通过这套体系，我们帮助客户将库存准确率从行业平均的60%大幅提升到了95%以上，极大地提升了农资管理的效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平台能够整合管理七大类智能设备，包括气象站、土壤传感器、水肥一体机等。通过统一的设备管理界面，您可以远程控制设备、实时监控状态、查看历史数据曲线，并记录设备的全生命周期维保信息。这实现了对所有硬件的统一监控与运维，让复杂的设备管理变得简单高效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营销创新方面，我们推出了“云认养”功能。消费者可以在线认养一棵果树，实时观看它的成长过程，甚至参与农事互动。这不仅能帮助您提前锁定销售、快速回笼资金，还能极大地增强用户粘性，形成口碑传播。更重要的是，认养价格通常可以比市场价高出30%到50%，实现显著的品牌溢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总结一下，我们的平台为客户带来了全面的业务改善。农事排程时间减少了75%，农资库存准确率提升了58%，预警响应时间更是提升了超过90%。我们实现了精准的产量预测，将农事记录完整率提升了167%，并通过数据驱动将农事建议准确率提升到70%以上。最终，这些改善都转化为了实实在在的品牌溢价。每一项指标的改善，都直接回应了我们最初发现的行业痛点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这样一套系统的投入产出如何呢？我们进行了详细的投资回报分析。投入主要包括系统部署、设备接入、培训和维护成本。而产出则体现在三个方面：成本节约、收益提升和效率提升。综合测算，我们的客户平均可以在18到24个月内收回投资，年化投资回报率可达40%到60%。这是一个非常值得的投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听听我们客户的声音。无论是集团负责人、基地管理者还是合作社理事长，都对我们的产品给予了高度评价。这证明了我们的产品是真正解决问题的。同时，我们不会停下脚步。这是我们未来的产品路线图，我们将支持更多水果品种，推出碳足迹核算和数字孪生功能，并对接金融保险服务。我们将持续进化，为客户创造更大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提供灵活的合作模式，以满足不同规模客户的需求。从适合起步阶段的基础版，到企业级首选的专业版，再到为大型集团定制的旗舰版，我们都有相应的解决方案。无论您选择哪个版本，我们都提供7x24小时的技术支持、定期的版本更新、完善的数据安全保障以及专业的培训服务。我们期待与您携手共赢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的分享到此结束。智慧果园的时代已经到来，这是一个千亿级的蓝海市场。现在就行动起来，抢占先机。您可以通过屏幕上的联系方式与我们取得联系，或者直接扫描二维码，添加我们的商务顾问，获取专属的定制方案。再次感谢大家的聆听，希望我们的平台能真正帮助您实现更省心、更科学、更赚钱的苹果种植。谢谢！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我的介绍到此结束，非常感谢大家的聆听。我们坚信，科技是推动农业发展的核心动力。期待能有机会与您携手，共同开启智慧农业的新篇章。谢谢大家！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7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1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3" Type="http://schemas.openxmlformats.org/officeDocument/2006/relationships/notesSlide" Target="../notesSlides/notesSlide2.xml"/><Relationship Id="rId42" Type="http://schemas.openxmlformats.org/officeDocument/2006/relationships/slideLayout" Target="../slideLayouts/slideLayout12.xml"/><Relationship Id="rId41" Type="http://schemas.openxmlformats.org/officeDocument/2006/relationships/tags" Target="../tags/tag33.xml"/><Relationship Id="rId40" Type="http://schemas.openxmlformats.org/officeDocument/2006/relationships/tags" Target="../tags/tag32.xml"/><Relationship Id="rId4" Type="http://schemas.openxmlformats.org/officeDocument/2006/relationships/image" Target="../media/image2.png"/><Relationship Id="rId39" Type="http://schemas.openxmlformats.org/officeDocument/2006/relationships/image" Target="../media/image9.png"/><Relationship Id="rId38" Type="http://schemas.openxmlformats.org/officeDocument/2006/relationships/tags" Target="../tags/tag31.xml"/><Relationship Id="rId37" Type="http://schemas.openxmlformats.org/officeDocument/2006/relationships/tags" Target="../tags/tag30.xml"/><Relationship Id="rId36" Type="http://schemas.openxmlformats.org/officeDocument/2006/relationships/tags" Target="../tags/tag29.xml"/><Relationship Id="rId35" Type="http://schemas.openxmlformats.org/officeDocument/2006/relationships/tags" Target="../tags/tag28.xml"/><Relationship Id="rId34" Type="http://schemas.openxmlformats.org/officeDocument/2006/relationships/image" Target="../media/image8.png"/><Relationship Id="rId33" Type="http://schemas.openxmlformats.org/officeDocument/2006/relationships/tags" Target="../tags/tag27.xml"/><Relationship Id="rId32" Type="http://schemas.openxmlformats.org/officeDocument/2006/relationships/tags" Target="../tags/tag26.xml"/><Relationship Id="rId31" Type="http://schemas.openxmlformats.org/officeDocument/2006/relationships/tags" Target="../tags/tag25.xml"/><Relationship Id="rId30" Type="http://schemas.openxmlformats.org/officeDocument/2006/relationships/tags" Target="../tags/tag24.xml"/><Relationship Id="rId3" Type="http://schemas.openxmlformats.org/officeDocument/2006/relationships/tags" Target="../tags/tag3.xml"/><Relationship Id="rId29" Type="http://schemas.openxmlformats.org/officeDocument/2006/relationships/image" Target="../media/image7.png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image" Target="../media/image6.png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tags" Target="../tags/tag2.xml"/><Relationship Id="rId19" Type="http://schemas.openxmlformats.org/officeDocument/2006/relationships/image" Target="../media/image5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4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2" Type="http://schemas.openxmlformats.org/officeDocument/2006/relationships/notesSlide" Target="../notesSlides/notesSlide3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19.svg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.png"/><Relationship Id="rId8" Type="http://schemas.openxmlformats.org/officeDocument/2006/relationships/image" Target="../media/image27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9.png"/><Relationship Id="rId1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39.png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8.png"/><Relationship Id="rId8" Type="http://schemas.openxmlformats.org/officeDocument/2006/relationships/image" Target="../media/image47.svg"/><Relationship Id="rId7" Type="http://schemas.openxmlformats.org/officeDocument/2006/relationships/image" Target="../media/image46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55.svg"/><Relationship Id="rId15" Type="http://schemas.openxmlformats.org/officeDocument/2006/relationships/image" Target="../media/image54.png"/><Relationship Id="rId14" Type="http://schemas.openxmlformats.org/officeDocument/2006/relationships/image" Target="../media/image53.svg"/><Relationship Id="rId13" Type="http://schemas.openxmlformats.org/officeDocument/2006/relationships/image" Target="../media/image52.png"/><Relationship Id="rId12" Type="http://schemas.openxmlformats.org/officeDocument/2006/relationships/image" Target="../media/image51.svg"/><Relationship Id="rId11" Type="http://schemas.openxmlformats.org/officeDocument/2006/relationships/image" Target="../media/image50.png"/><Relationship Id="rId10" Type="http://schemas.openxmlformats.org/officeDocument/2006/relationships/image" Target="../media/image49.svg"/><Relationship Id="rId1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69.png"/><Relationship Id="rId7" Type="http://schemas.openxmlformats.org/officeDocument/2006/relationships/image" Target="../media/image68.png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0" Type="http://schemas.openxmlformats.org/officeDocument/2006/relationships/notesSlide" Target="../notesSlides/notesSlide9.xml"/><Relationship Id="rId1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73.png"/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image" Target="../media/image70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0.png"/><Relationship Id="rId8" Type="http://schemas.openxmlformats.org/officeDocument/2006/relationships/image" Target="../media/image79.png"/><Relationship Id="rId7" Type="http://schemas.openxmlformats.org/officeDocument/2006/relationships/image" Target="../media/image78.png"/><Relationship Id="rId6" Type="http://schemas.openxmlformats.org/officeDocument/2006/relationships/image" Target="../media/image64.png"/><Relationship Id="rId5" Type="http://schemas.openxmlformats.org/officeDocument/2006/relationships/image" Target="../media/image61.png"/><Relationship Id="rId4" Type="http://schemas.openxmlformats.org/officeDocument/2006/relationships/image" Target="../media/image77.png"/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1" Type="http://schemas.openxmlformats.org/officeDocument/2006/relationships/notesSlide" Target="../notesSlides/notesSlide11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74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5.xml"/><Relationship Id="rId4" Type="http://schemas.openxmlformats.org/officeDocument/2006/relationships/image" Target="../media/image84.png"/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image" Target="../media/image8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90.svg"/><Relationship Id="rId5" Type="http://schemas.openxmlformats.org/officeDocument/2006/relationships/image" Target="../media/image89.png"/><Relationship Id="rId4" Type="http://schemas.openxmlformats.org/officeDocument/2006/relationships/image" Target="../media/image88.svg"/><Relationship Id="rId3" Type="http://schemas.openxmlformats.org/officeDocument/2006/relationships/image" Target="../media/image87.png"/><Relationship Id="rId2" Type="http://schemas.openxmlformats.org/officeDocument/2006/relationships/image" Target="../media/image86.svg"/><Relationship Id="rId1" Type="http://schemas.openxmlformats.org/officeDocument/2006/relationships/image" Target="../media/image85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94.png"/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image" Target="../media/image9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9.png"/><Relationship Id="rId8" Type="http://schemas.openxmlformats.org/officeDocument/2006/relationships/image" Target="../media/image108.png"/><Relationship Id="rId7" Type="http://schemas.openxmlformats.org/officeDocument/2006/relationships/image" Target="../media/image107.png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0" Type="http://schemas.openxmlformats.org/officeDocument/2006/relationships/slideLayout" Target="../slideLayouts/slideLayout19.xml"/><Relationship Id="rId1" Type="http://schemas.openxmlformats.org/officeDocument/2006/relationships/image" Target="../media/image10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6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15.svg"/><Relationship Id="rId5" Type="http://schemas.openxmlformats.org/officeDocument/2006/relationships/image" Target="../media/image114.png"/><Relationship Id="rId4" Type="http://schemas.openxmlformats.org/officeDocument/2006/relationships/image" Target="../media/image113.svg"/><Relationship Id="rId3" Type="http://schemas.openxmlformats.org/officeDocument/2006/relationships/image" Target="../media/image112.png"/><Relationship Id="rId2" Type="http://schemas.openxmlformats.org/officeDocument/2006/relationships/image" Target="../media/image111.svg"/><Relationship Id="rId1" Type="http://schemas.openxmlformats.org/officeDocument/2006/relationships/image" Target="../media/image110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.xml"/><Relationship Id="rId8" Type="http://schemas.openxmlformats.org/officeDocument/2006/relationships/image" Target="../media/image123.png"/><Relationship Id="rId7" Type="http://schemas.openxmlformats.org/officeDocument/2006/relationships/image" Target="../media/image122.png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image" Target="../media/image116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29.svg"/><Relationship Id="rId7" Type="http://schemas.openxmlformats.org/officeDocument/2006/relationships/image" Target="../media/image128.png"/><Relationship Id="rId6" Type="http://schemas.openxmlformats.org/officeDocument/2006/relationships/image" Target="../media/image127.svg"/><Relationship Id="rId5" Type="http://schemas.openxmlformats.org/officeDocument/2006/relationships/image" Target="../media/image126.png"/><Relationship Id="rId4" Type="http://schemas.openxmlformats.org/officeDocument/2006/relationships/image" Target="../media/image125.svg"/><Relationship Id="rId3" Type="http://schemas.openxmlformats.org/officeDocument/2006/relationships/image" Target="../media/image124.png"/><Relationship Id="rId2" Type="http://schemas.openxmlformats.org/officeDocument/2006/relationships/image" Target="../media/image41.svg"/><Relationship Id="rId10" Type="http://schemas.openxmlformats.org/officeDocument/2006/relationships/notesSlide" Target="../notesSlides/notesSlide17.xml"/><Relationship Id="rId1" Type="http://schemas.openxmlformats.org/officeDocument/2006/relationships/image" Target="../media/image6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37.svg"/><Relationship Id="rId7" Type="http://schemas.openxmlformats.org/officeDocument/2006/relationships/image" Target="../media/image136.png"/><Relationship Id="rId6" Type="http://schemas.openxmlformats.org/officeDocument/2006/relationships/image" Target="../media/image135.svg"/><Relationship Id="rId5" Type="http://schemas.openxmlformats.org/officeDocument/2006/relationships/image" Target="../media/image134.png"/><Relationship Id="rId4" Type="http://schemas.openxmlformats.org/officeDocument/2006/relationships/image" Target="../media/image133.svg"/><Relationship Id="rId3" Type="http://schemas.openxmlformats.org/officeDocument/2006/relationships/image" Target="../media/image132.png"/><Relationship Id="rId2" Type="http://schemas.openxmlformats.org/officeDocument/2006/relationships/image" Target="../media/image131.svg"/><Relationship Id="rId10" Type="http://schemas.openxmlformats.org/officeDocument/2006/relationships/notesSlide" Target="../notesSlides/notesSlide19.xml"/><Relationship Id="rId1" Type="http://schemas.openxmlformats.org/officeDocument/2006/relationships/image" Target="../media/image130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3.png"/><Relationship Id="rId8" Type="http://schemas.openxmlformats.org/officeDocument/2006/relationships/image" Target="../media/image142.svg"/><Relationship Id="rId7" Type="http://schemas.openxmlformats.org/officeDocument/2006/relationships/image" Target="../media/image141.png"/><Relationship Id="rId6" Type="http://schemas.openxmlformats.org/officeDocument/2006/relationships/image" Target="../media/image41.svg"/><Relationship Id="rId5" Type="http://schemas.openxmlformats.org/officeDocument/2006/relationships/image" Target="../media/image64.png"/><Relationship Id="rId4" Type="http://schemas.openxmlformats.org/officeDocument/2006/relationships/image" Target="../media/image140.svg"/><Relationship Id="rId3" Type="http://schemas.openxmlformats.org/officeDocument/2006/relationships/image" Target="../media/image139.png"/><Relationship Id="rId20" Type="http://schemas.openxmlformats.org/officeDocument/2006/relationships/notesSlide" Target="../notesSlides/notesSlide20.xml"/><Relationship Id="rId2" Type="http://schemas.openxmlformats.org/officeDocument/2006/relationships/image" Target="../media/image138.svg"/><Relationship Id="rId19" Type="http://schemas.openxmlformats.org/officeDocument/2006/relationships/slideLayout" Target="../slideLayouts/slideLayout12.xml"/><Relationship Id="rId18" Type="http://schemas.openxmlformats.org/officeDocument/2006/relationships/image" Target="../media/image151.svg"/><Relationship Id="rId17" Type="http://schemas.openxmlformats.org/officeDocument/2006/relationships/image" Target="../media/image150.png"/><Relationship Id="rId16" Type="http://schemas.openxmlformats.org/officeDocument/2006/relationships/image" Target="../media/image149.svg"/><Relationship Id="rId15" Type="http://schemas.openxmlformats.org/officeDocument/2006/relationships/image" Target="../media/image148.png"/><Relationship Id="rId14" Type="http://schemas.openxmlformats.org/officeDocument/2006/relationships/image" Target="../media/image147.svg"/><Relationship Id="rId13" Type="http://schemas.openxmlformats.org/officeDocument/2006/relationships/image" Target="../media/image146.png"/><Relationship Id="rId12" Type="http://schemas.openxmlformats.org/officeDocument/2006/relationships/image" Target="../media/image145.svg"/><Relationship Id="rId11" Type="http://schemas.openxmlformats.org/officeDocument/2006/relationships/image" Target="../media/image144.png"/><Relationship Id="rId10" Type="http://schemas.openxmlformats.org/officeDocument/2006/relationships/image" Target="../media/image11.svg"/><Relationship Id="rId1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1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56.png"/><Relationship Id="rId6" Type="http://schemas.openxmlformats.org/officeDocument/2006/relationships/image" Target="../media/image155.png"/><Relationship Id="rId5" Type="http://schemas.openxmlformats.org/officeDocument/2006/relationships/image" Target="../media/image42.png"/><Relationship Id="rId4" Type="http://schemas.openxmlformats.org/officeDocument/2006/relationships/image" Target="../media/image154.png"/><Relationship Id="rId3" Type="http://schemas.openxmlformats.org/officeDocument/2006/relationships/image" Target="../media/image153.png"/><Relationship Id="rId2" Type="http://schemas.openxmlformats.org/officeDocument/2006/relationships/image" Target="../media/image80.png"/><Relationship Id="rId1" Type="http://schemas.openxmlformats.org/officeDocument/2006/relationships/image" Target="../media/image152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5.png"/><Relationship Id="rId8" Type="http://schemas.openxmlformats.org/officeDocument/2006/relationships/image" Target="../media/image164.png"/><Relationship Id="rId7" Type="http://schemas.openxmlformats.org/officeDocument/2006/relationships/image" Target="../media/image163.png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3" Type="http://schemas.openxmlformats.org/officeDocument/2006/relationships/slideLayout" Target="../slideLayouts/slideLayout23.xml"/><Relationship Id="rId12" Type="http://schemas.openxmlformats.org/officeDocument/2006/relationships/image" Target="../media/image168.png"/><Relationship Id="rId11" Type="http://schemas.openxmlformats.org/officeDocument/2006/relationships/image" Target="../media/image167.png"/><Relationship Id="rId10" Type="http://schemas.openxmlformats.org/officeDocument/2006/relationships/image" Target="../media/image166.png"/><Relationship Id="rId1" Type="http://schemas.openxmlformats.org/officeDocument/2006/relationships/image" Target="../media/image157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7.png"/><Relationship Id="rId8" Type="http://schemas.openxmlformats.org/officeDocument/2006/relationships/image" Target="../media/image176.svg"/><Relationship Id="rId7" Type="http://schemas.openxmlformats.org/officeDocument/2006/relationships/image" Target="../media/image175.png"/><Relationship Id="rId6" Type="http://schemas.openxmlformats.org/officeDocument/2006/relationships/image" Target="../media/image174.svg"/><Relationship Id="rId5" Type="http://schemas.openxmlformats.org/officeDocument/2006/relationships/image" Target="../media/image173.png"/><Relationship Id="rId4" Type="http://schemas.openxmlformats.org/officeDocument/2006/relationships/image" Target="../media/image172.svg"/><Relationship Id="rId3" Type="http://schemas.openxmlformats.org/officeDocument/2006/relationships/image" Target="../media/image171.png"/><Relationship Id="rId2" Type="http://schemas.openxmlformats.org/officeDocument/2006/relationships/image" Target="../media/image170.svg"/><Relationship Id="rId16" Type="http://schemas.openxmlformats.org/officeDocument/2006/relationships/notesSlide" Target="../notesSlides/notesSlide22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182.svg"/><Relationship Id="rId13" Type="http://schemas.openxmlformats.org/officeDocument/2006/relationships/image" Target="../media/image181.png"/><Relationship Id="rId12" Type="http://schemas.openxmlformats.org/officeDocument/2006/relationships/image" Target="../media/image180.svg"/><Relationship Id="rId11" Type="http://schemas.openxmlformats.org/officeDocument/2006/relationships/image" Target="../media/image179.png"/><Relationship Id="rId10" Type="http://schemas.openxmlformats.org/officeDocument/2006/relationships/image" Target="../media/image178.svg"/><Relationship Id="rId1" Type="http://schemas.openxmlformats.org/officeDocument/2006/relationships/image" Target="../media/image169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1.png"/><Relationship Id="rId8" Type="http://schemas.openxmlformats.org/officeDocument/2006/relationships/image" Target="../media/image190.png"/><Relationship Id="rId7" Type="http://schemas.openxmlformats.org/officeDocument/2006/relationships/image" Target="../media/image189.png"/><Relationship Id="rId6" Type="http://schemas.openxmlformats.org/officeDocument/2006/relationships/image" Target="../media/image188.png"/><Relationship Id="rId5" Type="http://schemas.openxmlformats.org/officeDocument/2006/relationships/image" Target="../media/image187.png"/><Relationship Id="rId4" Type="http://schemas.openxmlformats.org/officeDocument/2006/relationships/image" Target="../media/image186.png"/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1" Type="http://schemas.openxmlformats.org/officeDocument/2006/relationships/slideLayout" Target="../slideLayouts/slideLayout25.xml"/><Relationship Id="rId10" Type="http://schemas.openxmlformats.org/officeDocument/2006/relationships/image" Target="../media/image192.png"/><Relationship Id="rId1" Type="http://schemas.openxmlformats.org/officeDocument/2006/relationships/image" Target="../media/image183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0.png"/><Relationship Id="rId8" Type="http://schemas.openxmlformats.org/officeDocument/2006/relationships/image" Target="../media/image199.svg"/><Relationship Id="rId7" Type="http://schemas.openxmlformats.org/officeDocument/2006/relationships/image" Target="../media/image198.png"/><Relationship Id="rId6" Type="http://schemas.openxmlformats.org/officeDocument/2006/relationships/image" Target="../media/image197.svg"/><Relationship Id="rId5" Type="http://schemas.openxmlformats.org/officeDocument/2006/relationships/image" Target="../media/image63.png"/><Relationship Id="rId4" Type="http://schemas.openxmlformats.org/officeDocument/2006/relationships/image" Target="../media/image196.svg"/><Relationship Id="rId3" Type="http://schemas.openxmlformats.org/officeDocument/2006/relationships/image" Target="../media/image195.png"/><Relationship Id="rId2" Type="http://schemas.openxmlformats.org/officeDocument/2006/relationships/image" Target="../media/image194.svg"/><Relationship Id="rId18" Type="http://schemas.openxmlformats.org/officeDocument/2006/relationships/notesSlide" Target="../notesSlides/notesSlide23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207.svg"/><Relationship Id="rId15" Type="http://schemas.openxmlformats.org/officeDocument/2006/relationships/image" Target="../media/image206.png"/><Relationship Id="rId14" Type="http://schemas.openxmlformats.org/officeDocument/2006/relationships/image" Target="../media/image205.svg"/><Relationship Id="rId13" Type="http://schemas.openxmlformats.org/officeDocument/2006/relationships/image" Target="../media/image204.png"/><Relationship Id="rId12" Type="http://schemas.openxmlformats.org/officeDocument/2006/relationships/image" Target="../media/image203.svg"/><Relationship Id="rId11" Type="http://schemas.openxmlformats.org/officeDocument/2006/relationships/image" Target="../media/image202.png"/><Relationship Id="rId10" Type="http://schemas.openxmlformats.org/officeDocument/2006/relationships/image" Target="../media/image201.svg"/><Relationship Id="rId1" Type="http://schemas.openxmlformats.org/officeDocument/2006/relationships/image" Target="../media/image193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6.png"/><Relationship Id="rId8" Type="http://schemas.openxmlformats.org/officeDocument/2006/relationships/image" Target="../media/image215.svg"/><Relationship Id="rId7" Type="http://schemas.openxmlformats.org/officeDocument/2006/relationships/image" Target="../media/image214.png"/><Relationship Id="rId6" Type="http://schemas.openxmlformats.org/officeDocument/2006/relationships/image" Target="../media/image213.svg"/><Relationship Id="rId5" Type="http://schemas.openxmlformats.org/officeDocument/2006/relationships/image" Target="../media/image212.png"/><Relationship Id="rId4" Type="http://schemas.openxmlformats.org/officeDocument/2006/relationships/image" Target="../media/image211.svg"/><Relationship Id="rId3" Type="http://schemas.openxmlformats.org/officeDocument/2006/relationships/image" Target="../media/image210.png"/><Relationship Id="rId24" Type="http://schemas.openxmlformats.org/officeDocument/2006/relationships/notesSlide" Target="../notesSlides/notesSlide24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229.svg"/><Relationship Id="rId21" Type="http://schemas.openxmlformats.org/officeDocument/2006/relationships/image" Target="../media/image228.png"/><Relationship Id="rId20" Type="http://schemas.openxmlformats.org/officeDocument/2006/relationships/image" Target="../media/image227.svg"/><Relationship Id="rId2" Type="http://schemas.openxmlformats.org/officeDocument/2006/relationships/image" Target="../media/image209.svg"/><Relationship Id="rId19" Type="http://schemas.openxmlformats.org/officeDocument/2006/relationships/image" Target="../media/image226.png"/><Relationship Id="rId18" Type="http://schemas.openxmlformats.org/officeDocument/2006/relationships/image" Target="../media/image225.svg"/><Relationship Id="rId17" Type="http://schemas.openxmlformats.org/officeDocument/2006/relationships/image" Target="../media/image224.png"/><Relationship Id="rId16" Type="http://schemas.openxmlformats.org/officeDocument/2006/relationships/image" Target="../media/image223.svg"/><Relationship Id="rId15" Type="http://schemas.openxmlformats.org/officeDocument/2006/relationships/image" Target="../media/image222.png"/><Relationship Id="rId14" Type="http://schemas.openxmlformats.org/officeDocument/2006/relationships/image" Target="../media/image221.svg"/><Relationship Id="rId13" Type="http://schemas.openxmlformats.org/officeDocument/2006/relationships/image" Target="../media/image220.png"/><Relationship Id="rId12" Type="http://schemas.openxmlformats.org/officeDocument/2006/relationships/image" Target="../media/image219.svg"/><Relationship Id="rId11" Type="http://schemas.openxmlformats.org/officeDocument/2006/relationships/image" Target="../media/image218.png"/><Relationship Id="rId10" Type="http://schemas.openxmlformats.org/officeDocument/2006/relationships/image" Target="../media/image217.svg"/><Relationship Id="rId1" Type="http://schemas.openxmlformats.org/officeDocument/2006/relationships/image" Target="../media/image208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6.png"/><Relationship Id="rId8" Type="http://schemas.openxmlformats.org/officeDocument/2006/relationships/image" Target="../media/image235.png"/><Relationship Id="rId7" Type="http://schemas.openxmlformats.org/officeDocument/2006/relationships/image" Target="../media/image100.png"/><Relationship Id="rId6" Type="http://schemas.openxmlformats.org/officeDocument/2006/relationships/image" Target="../media/image79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Relationship Id="rId3" Type="http://schemas.openxmlformats.org/officeDocument/2006/relationships/image" Target="../media/image232.png"/><Relationship Id="rId2" Type="http://schemas.openxmlformats.org/officeDocument/2006/relationships/image" Target="../media/image231.png"/><Relationship Id="rId11" Type="http://schemas.openxmlformats.org/officeDocument/2006/relationships/notesSlide" Target="../notesSlides/notesSlide25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3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6.xml"/><Relationship Id="rId7" Type="http://schemas.openxmlformats.org/officeDocument/2006/relationships/slideLayout" Target="../slideLayouts/slideLayout26.xml"/><Relationship Id="rId6" Type="http://schemas.openxmlformats.org/officeDocument/2006/relationships/image" Target="../media/image242.png"/><Relationship Id="rId5" Type="http://schemas.openxmlformats.org/officeDocument/2006/relationships/image" Target="../media/image241.png"/><Relationship Id="rId4" Type="http://schemas.openxmlformats.org/officeDocument/2006/relationships/image" Target="../media/image240.png"/><Relationship Id="rId3" Type="http://schemas.openxmlformats.org/officeDocument/2006/relationships/image" Target="../media/image239.png"/><Relationship Id="rId2" Type="http://schemas.openxmlformats.org/officeDocument/2006/relationships/image" Target="../media/image238.png"/><Relationship Id="rId1" Type="http://schemas.openxmlformats.org/officeDocument/2006/relationships/image" Target="../media/image237.pn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1.png"/><Relationship Id="rId8" Type="http://schemas.openxmlformats.org/officeDocument/2006/relationships/image" Target="../media/image250.svg"/><Relationship Id="rId7" Type="http://schemas.openxmlformats.org/officeDocument/2006/relationships/image" Target="../media/image249.png"/><Relationship Id="rId6" Type="http://schemas.openxmlformats.org/officeDocument/2006/relationships/image" Target="../media/image248.svg"/><Relationship Id="rId5" Type="http://schemas.openxmlformats.org/officeDocument/2006/relationships/image" Target="../media/image247.png"/><Relationship Id="rId4" Type="http://schemas.openxmlformats.org/officeDocument/2006/relationships/image" Target="../media/image246.svg"/><Relationship Id="rId3" Type="http://schemas.openxmlformats.org/officeDocument/2006/relationships/image" Target="../media/image245.png"/><Relationship Id="rId2" Type="http://schemas.openxmlformats.org/officeDocument/2006/relationships/image" Target="../media/image244.svg"/><Relationship Id="rId12" Type="http://schemas.openxmlformats.org/officeDocument/2006/relationships/notesSlide" Target="../notesSlides/notesSlide27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52.svg"/><Relationship Id="rId1" Type="http://schemas.openxmlformats.org/officeDocument/2006/relationships/image" Target="../media/image24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8.xml"/><Relationship Id="rId7" Type="http://schemas.openxmlformats.org/officeDocument/2006/relationships/slideLayout" Target="../slideLayouts/slideLayout28.xml"/><Relationship Id="rId6" Type="http://schemas.openxmlformats.org/officeDocument/2006/relationships/image" Target="../media/image258.png"/><Relationship Id="rId5" Type="http://schemas.openxmlformats.org/officeDocument/2006/relationships/image" Target="../media/image257.png"/><Relationship Id="rId4" Type="http://schemas.openxmlformats.org/officeDocument/2006/relationships/image" Target="../media/image256.png"/><Relationship Id="rId3" Type="http://schemas.openxmlformats.org/officeDocument/2006/relationships/image" Target="../media/image255.png"/><Relationship Id="rId2" Type="http://schemas.openxmlformats.org/officeDocument/2006/relationships/image" Target="../media/image254.png"/><Relationship Id="rId1" Type="http://schemas.openxmlformats.org/officeDocument/2006/relationships/image" Target="../media/image253.png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5.png"/><Relationship Id="rId8" Type="http://schemas.openxmlformats.org/officeDocument/2006/relationships/image" Target="../media/image264.png"/><Relationship Id="rId7" Type="http://schemas.openxmlformats.org/officeDocument/2006/relationships/image" Target="../media/image263.png"/><Relationship Id="rId6" Type="http://schemas.openxmlformats.org/officeDocument/2006/relationships/image" Target="../media/image59.png"/><Relationship Id="rId5" Type="http://schemas.openxmlformats.org/officeDocument/2006/relationships/image" Target="../media/image262.png"/><Relationship Id="rId4" Type="http://schemas.openxmlformats.org/officeDocument/2006/relationships/image" Target="../media/image261.png"/><Relationship Id="rId3" Type="http://schemas.openxmlformats.org/officeDocument/2006/relationships/image" Target="../media/image260.png"/><Relationship Id="rId2" Type="http://schemas.openxmlformats.org/officeDocument/2006/relationships/image" Target="../media/image259.png"/><Relationship Id="rId11" Type="http://schemas.openxmlformats.org/officeDocument/2006/relationships/notesSlide" Target="../notesSlides/notesSlide29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193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tags" Target="../tags/tag40.xml"/><Relationship Id="rId8" Type="http://schemas.openxmlformats.org/officeDocument/2006/relationships/image" Target="../media/image64.png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image" Target="../media/image266.png"/><Relationship Id="rId20" Type="http://schemas.openxmlformats.org/officeDocument/2006/relationships/notesSlide" Target="../notesSlides/notesSlide30.xml"/><Relationship Id="rId2" Type="http://schemas.openxmlformats.org/officeDocument/2006/relationships/tags" Target="../tags/tag35.xml"/><Relationship Id="rId19" Type="http://schemas.openxmlformats.org/officeDocument/2006/relationships/slideLayout" Target="../slideLayouts/slideLayout12.xml"/><Relationship Id="rId18" Type="http://schemas.openxmlformats.org/officeDocument/2006/relationships/tags" Target="../tags/tag47.xml"/><Relationship Id="rId17" Type="http://schemas.openxmlformats.org/officeDocument/2006/relationships/image" Target="../media/image268.png"/><Relationship Id="rId16" Type="http://schemas.openxmlformats.org/officeDocument/2006/relationships/tags" Target="../tags/tag46.xml"/><Relationship Id="rId15" Type="http://schemas.openxmlformats.org/officeDocument/2006/relationships/tags" Target="../tags/tag45.xml"/><Relationship Id="rId14" Type="http://schemas.openxmlformats.org/officeDocument/2006/relationships/tags" Target="../tags/tag44.xml"/><Relationship Id="rId13" Type="http://schemas.openxmlformats.org/officeDocument/2006/relationships/image" Target="../media/image267.png"/><Relationship Id="rId12" Type="http://schemas.openxmlformats.org/officeDocument/2006/relationships/tags" Target="../tags/tag43.xml"/><Relationship Id="rId11" Type="http://schemas.openxmlformats.org/officeDocument/2006/relationships/tags" Target="../tags/tag42.xml"/><Relationship Id="rId10" Type="http://schemas.openxmlformats.org/officeDocument/2006/relationships/tags" Target="../tags/tag41.xml"/><Relationship Id="rId1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1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275.jpeg"/><Relationship Id="rId6" Type="http://schemas.openxmlformats.org/officeDocument/2006/relationships/image" Target="../media/image274.svg"/><Relationship Id="rId5" Type="http://schemas.openxmlformats.org/officeDocument/2006/relationships/image" Target="../media/image273.png"/><Relationship Id="rId4" Type="http://schemas.openxmlformats.org/officeDocument/2006/relationships/image" Target="../media/image272.svg"/><Relationship Id="rId3" Type="http://schemas.openxmlformats.org/officeDocument/2006/relationships/image" Target="../media/image271.png"/><Relationship Id="rId2" Type="http://schemas.openxmlformats.org/officeDocument/2006/relationships/image" Target="../media/image270.svg"/><Relationship Id="rId1" Type="http://schemas.openxmlformats.org/officeDocument/2006/relationships/image" Target="../media/image269.png"/></Relationships>
</file>

<file path=ppt/slides/_rels/slide3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279.png"/><Relationship Id="rId3" Type="http://schemas.openxmlformats.org/officeDocument/2006/relationships/image" Target="../media/image278.png"/><Relationship Id="rId2" Type="http://schemas.openxmlformats.org/officeDocument/2006/relationships/image" Target="../media/image277.png"/><Relationship Id="rId1" Type="http://schemas.openxmlformats.org/officeDocument/2006/relationships/image" Target="../media/image276.png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3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283.png"/><Relationship Id="rId4" Type="http://schemas.openxmlformats.org/officeDocument/2006/relationships/image" Target="../media/image282.png"/><Relationship Id="rId3" Type="http://schemas.openxmlformats.org/officeDocument/2006/relationships/image" Target="../media/image144.png"/><Relationship Id="rId2" Type="http://schemas.openxmlformats.org/officeDocument/2006/relationships/image" Target="../media/image281.png"/><Relationship Id="rId1" Type="http://schemas.openxmlformats.org/officeDocument/2006/relationships/image" Target="../media/image2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32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懂苹果的种植管理平台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588000" y="342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4191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588000"/>
            <a:ext cx="1219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版本号：V2.3 | 日期：2026年05月 | 智道易农科技有限公司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内容导航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952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1079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778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市场洞察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千亿蓝海与产业痛点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>
            <p:custDataLst>
              <p:tags r:id="rId6"/>
            </p:custDataLst>
          </p:nvPr>
        </p:nvSpPr>
        <p:spPr>
          <a:xfrm>
            <a:off x="762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7"/>
            </p:custDataLst>
          </p:nvPr>
        </p:nvSpPr>
        <p:spPr>
          <a:xfrm>
            <a:off x="952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rcRect/>
          <a:stretch>
            <a:fillRect/>
          </a:stretch>
        </p:blipFill>
        <p:spPr>
          <a:xfrm>
            <a:off x="1079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>
            <p:custDataLst>
              <p:tags r:id="rId10"/>
            </p:custDataLst>
          </p:nvPr>
        </p:nvSpPr>
        <p:spPr>
          <a:xfrm>
            <a:off x="1778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解决方案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架构、优势与五端协同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762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2"/>
            </p:custDataLst>
          </p:nvPr>
        </p:nvSpPr>
        <p:spPr>
          <a:xfrm>
            <a:off x="952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rcRect/>
          <a:stretch>
            <a:fillRect/>
          </a:stretch>
        </p:blipFill>
        <p:spPr>
          <a:xfrm>
            <a:off x="1079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5"/>
            </p:custDataLst>
          </p:nvPr>
        </p:nvSpPr>
        <p:spPr>
          <a:xfrm>
            <a:off x="1778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智慧大脑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六大农业模型深度解析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6"/>
            </p:custDataLst>
          </p:nvPr>
        </p:nvSpPr>
        <p:spPr>
          <a:xfrm>
            <a:off x="762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>
            <p:custDataLst>
              <p:tags r:id="rId17"/>
            </p:custDataLst>
          </p:nvPr>
        </p:nvSpPr>
        <p:spPr>
          <a:xfrm>
            <a:off x="952500" y="5313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rcRect/>
          <a:stretch>
            <a:fillRect/>
          </a:stretch>
        </p:blipFill>
        <p:spPr>
          <a:xfrm>
            <a:off x="1079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>
            <p:custDataLst>
              <p:tags r:id="rId20"/>
            </p:custDataLst>
          </p:nvPr>
        </p:nvSpPr>
        <p:spPr>
          <a:xfrm>
            <a:off x="1778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智能装备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硬件、溯源与高效巡检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>
            <p:custDataLst>
              <p:tags r:id="rId21"/>
            </p:custDataLst>
          </p:nvPr>
        </p:nvSpPr>
        <p:spPr>
          <a:xfrm>
            <a:off x="6223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>
            <p:custDataLst>
              <p:tags r:id="rId22"/>
            </p:custDataLst>
          </p:nvPr>
        </p:nvSpPr>
        <p:spPr>
          <a:xfrm>
            <a:off x="6413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6540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>
            <p:custDataLst>
              <p:tags r:id="rId25"/>
            </p:custDataLst>
          </p:nvPr>
        </p:nvSpPr>
        <p:spPr>
          <a:xfrm>
            <a:off x="7239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业务闭环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从种植到营销的全链路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>
            <p:custDataLst>
              <p:tags r:id="rId26"/>
            </p:custDataLst>
          </p:nvPr>
        </p:nvSpPr>
        <p:spPr>
          <a:xfrm>
            <a:off x="6223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>
            <p:custDataLst>
              <p:tags r:id="rId27"/>
            </p:custDataLst>
          </p:nvPr>
        </p:nvSpPr>
        <p:spPr>
          <a:xfrm>
            <a:off x="6413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rcRect/>
          <a:stretch>
            <a:fillRect/>
          </a:stretch>
        </p:blipFill>
        <p:spPr>
          <a:xfrm>
            <a:off x="6540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>
            <p:custDataLst>
              <p:tags r:id="rId30"/>
            </p:custDataLst>
          </p:nvPr>
        </p:nvSpPr>
        <p:spPr>
          <a:xfrm>
            <a:off x="7239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价值论证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可量化的成效与客户证言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31"/>
            </p:custDataLst>
          </p:nvPr>
        </p:nvSpPr>
        <p:spPr>
          <a:xfrm>
            <a:off x="6223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>
            <p:custDataLst>
              <p:tags r:id="rId32"/>
            </p:custDataLst>
          </p:nvPr>
        </p:nvSpPr>
        <p:spPr>
          <a:xfrm>
            <a:off x="6413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rcRect/>
          <a:stretch>
            <a:fillRect/>
          </a:stretch>
        </p:blipFill>
        <p:spPr>
          <a:xfrm>
            <a:off x="6540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>
            <p:custDataLst>
              <p:tags r:id="rId35"/>
            </p:custDataLst>
          </p:nvPr>
        </p:nvSpPr>
        <p:spPr>
          <a:xfrm>
            <a:off x="7239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携手共赢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合作模式与未来规划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8" name="AutoShape 38"/>
          <p:cNvSpPr/>
          <p:nvPr>
            <p:custDataLst>
              <p:tags r:id="rId36"/>
            </p:custDataLst>
          </p:nvPr>
        </p:nvSpPr>
        <p:spPr>
          <a:xfrm>
            <a:off x="6223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FF8E1">
              <a:alpha val="100000"/>
            </a:srgbClr>
          </a:solidFill>
          <a:ln w="12700" cap="flat" cmpd="sng">
            <a:solidFill>
              <a:srgbClr val="FFA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>
            <p:custDataLst>
              <p:tags r:id="rId37"/>
            </p:custDataLst>
          </p:nvPr>
        </p:nvSpPr>
        <p:spPr>
          <a:xfrm>
            <a:off x="6413500" y="5313680"/>
            <a:ext cx="609600" cy="609600"/>
          </a:xfrm>
          <a:prstGeom prst="ellipse">
            <a:avLst/>
          </a:prstGeom>
          <a:solidFill>
            <a:srgbClr val="FFA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/>
          <a:srcRect/>
          <a:stretch>
            <a:fillRect/>
          </a:stretch>
        </p:blipFill>
        <p:spPr>
          <a:xfrm>
            <a:off x="6540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1" name="AutoShape 41"/>
          <p:cNvSpPr/>
          <p:nvPr>
            <p:custDataLst>
              <p:tags r:id="rId40"/>
            </p:custDataLst>
          </p:nvPr>
        </p:nvSpPr>
        <p:spPr>
          <a:xfrm>
            <a:off x="7239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交流互动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答疑与探讨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2" name="AutoShape 42"/>
          <p:cNvSpPr/>
          <p:nvPr>
            <p:custDataLst>
              <p:tags r:id="rId41"/>
            </p:custDataLst>
          </p:nvPr>
        </p:nvSpPr>
        <p:spPr>
          <a:xfrm>
            <a:off x="10033000" y="540258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A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互动环节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数字化浪潮已至，苹果产业亟待变革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核心洞察：产业数字化浪潮已至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641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行业先行者示范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全国各大苹果核心产区的龙头企业已率先部署智慧果园系统，构建竞争壁垒。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556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3530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投入爆发式增长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近三年来，苹果企业数字化投入同比增长超过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，转型意愿强烈。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445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419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智能硬件全面普及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气象站、土壤传感器、虫情灯等物联网设备部署量同比增长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3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08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AI大模型赋能决策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农业大模型技术日趋成熟，为种植管理提供精准的智能决策支持。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政策与投入双重驱动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5405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2024年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《数字农业农村发展规划》正式发布，明确转型路径。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899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3F2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1534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2025年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各地智慧农业示范项目启动，高额财政补贴落地。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7155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FFF3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7790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设立国家级农业数字化转型专项资金，扩大支持范围。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8F9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67500" y="4826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620000" y="4699000"/>
            <a:ext cx="3302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苹果企业数字化投入趋势 (2022-2026E)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随着政策红利释放与技术成熟，预计未来三年投入将持续保持高速增长态势，转型将从“尝鲜”走向“主流”。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管理者的烦恼 · 一线的挑战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🏢 企业管理者痛点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数据孤岛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生产/销售/财务数据分散，无法关联分析。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290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预警滞后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气象/虫情预警响应慢，错失良机，损失钱财。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9525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手工汇整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报表需手工整理，耗时费力且易出错。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290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质量担忧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产品来源不可靠，难以满足消费者溯源需求。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6510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农事低效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依赖传统经验，排班耗时长，流转超2-4小时/次。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34290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1275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库存失控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采用Excel管库存，库存准确率仅</a:t>
            </a:r>
            <a:r>
              <a:rPr lang="en-US" sz="11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60%</a:t>
            </a:r>
            <a:endParaRPr lang="en-US" sz="1100" b="1" i="0" u="none" strike="noStrike">
              <a:solidFill>
                <a:srgbClr val="D32F2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13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76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👷 一线人员痛点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755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操作复杂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现有APP步骤繁琐，上手门槛高，学会不敢干、不用。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88900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96520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网络不稳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山区/偏远地块4G信号弱，农事记录提交频繁失败。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135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1755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记录麻烦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手机打字慢，系统选择项多，严重影响田间干活效率。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8900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6520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决策无据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长期仅凭个人经验操作，缺乏科学依据和数据支撑。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762000" y="5588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1016000" y="5778500"/>
            <a:ext cx="990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“每多一次点击，一天多几十次操作”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地块负责人真实反馈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懂苹果的垂直平台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1397000"/>
          </a:xfrm>
          <a:prstGeom prst="roundRect">
            <a:avLst>
              <a:gd name="adj" fmla="val 1090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1016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不是通用农业 ERP 系统</a:t>
            </a:r>
            <a:endParaRPr lang="en-US" sz="1100"/>
          </a:p>
          <a:p>
            <a:pPr indent="0" algn="ctr">
              <a:lnSpc>
                <a:spcPct val="108000"/>
              </a:lnSpc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而是以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为引擎，以</a:t>
            </a:r>
            <a:r>
              <a:rPr lang="zh-CN" alt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精细管理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为核心的垂直专业化管理系统</a:t>
            </a:r>
            <a:endParaRPr lang="en-US" sz="2200" b="1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农事排程自动化，减少人工沟通成本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排程时间减少 60%+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45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270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数据完整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拍照即记录，离线不丢失，数据留存无忧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记录完整率提升至 80%+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953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农资全链路数字化管理，实时库存预警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库存数据准确率 &gt; 95%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病虫害、气象等风险，分秒级预警响应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风险预警响应 &lt; 5分钟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445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270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品质可溯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区块链全程溯源，构建消费者信任基石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助力品牌溢价显著提升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8953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决策智能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六大专业农业模型驱动，科学指导农事决策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 70%+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设计哲学：一线不用，系统白搭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445000"/>
          </a:xfrm>
          <a:prstGeom prst="roundRect">
            <a:avLst>
              <a:gd name="adj" fmla="val 3428"/>
            </a:avLst>
          </a:prstGeom>
          <a:solidFill>
            <a:srgbClr val="F9FBF9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· 以人为本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794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768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以“地块负责人”为中心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将一线用户的操作体验作为产品生命线，拒绝复杂逻辑。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3810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651000" y="3784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适应复杂的田间网络环境，断网不停工，操作零门槛。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495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651000" y="4927600"/>
            <a:ext cx="406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大字大按钮，五端协同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适配户外强光下的视觉体验，Web/APP/小程序等多端实时同步，数据同源。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778000"/>
            <a:ext cx="5080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技术红线 · 不可妥协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40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048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山区弱网可用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在信号极差环境，保证基础功能流畅运行。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207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715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离线数据不丢失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本地数据多重缓存，联网后自动无缝恢复。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024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8580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操作极简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核心高频动作，3步以内必须完成。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899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423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5979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秒级启动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移动端冷启动时间严格控制在2秒以内。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8298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9822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103378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数据高一致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多端数据一致达到99.5%以上。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八大核心优势，构建竞品无法复制的护城河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六大决策模型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核心决策引擎，真正懂农业，精准指导生产。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懂苹果生长规律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35306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177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4196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为每颗苹果提供不可篡改的“数字身份证”，全程透明。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提升消费者信任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992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9700" y="1778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882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AI大模型服务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提供24小时智能问答和图像识别，秒级解决种植难题。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24h 专业农事顾问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0678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58300" y="1778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568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农资全链路管理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从采购到使用，全流程精细化管理，杜绝农资浪费。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 15%+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3937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6510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无人机AI巡园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高空AI巡检，快速识别病虫害与长势，大幅降低人工成本。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80%+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35306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21100" y="39370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4196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VR全景漫游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360°沉浸式园区漫游，随时随地展示基地，提升品牌形象。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品牌营销利器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992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700" y="3937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882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四层风险预警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病虫害、气象、设备、库存全方位监测，变被动为主动。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生产风险全面可控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0678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58300" y="393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9568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极简一线操作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专为一线果农设计，离线可用，上手即用。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好用、爱用、常用</a:t>
            </a:r>
            <a:endParaRPr lang="en-US" sz="1100" b="1" i="0" u="none" strike="noStrike">
              <a:solidFill>
                <a:srgbClr val="2196F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62000" y="5842000"/>
            <a:ext cx="10871200" cy="889000"/>
          </a:xfrm>
          <a:prstGeom prst="roundRect">
            <a:avLst>
              <a:gd name="adj" fmla="val 1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89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通用ERP系统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不懂苹果，流程僵化，无农事闭环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3556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设备厂商系统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仅管设备数据，无农事指导与决策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223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传统人工管理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经验依赖大，效率低，无数据沉淀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890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智慧果园平台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 · 全链路 · AI决策 · 一线爱用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五端协同全景图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635500" y="2286000"/>
            <a:ext cx="2921000" cy="1651000"/>
          </a:xfrm>
          <a:prstGeom prst="roundRect">
            <a:avLst>
              <a:gd name="adj" fmla="val 923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588000" y="2476500"/>
            <a:ext cx="1778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E8F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统一调度 · 数据汇聚</a:t>
            </a:r>
            <a:endParaRPr lang="en-US" sz="1400" b="0" i="0" u="none" strike="noStrike">
              <a:solidFill>
                <a:srgbClr val="E8F5E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E8F5E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CENTER</a:t>
            </a:r>
            <a:endParaRPr lang="en-US" sz="1200" b="0" i="0" u="none" strike="noStrike">
              <a:solidFill>
                <a:srgbClr val="E8F5E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2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460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电脑端</a:t>
            </a:r>
            <a:r>
              <a:rPr lang="en-US" sz="1400" b="0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指挥中心 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核心功能：计划编排、审批决策、报表分析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460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400" b="0" i="0" u="none" strike="noStrike">
                <a:solidFill>
                  <a:srgbClr val="0277B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执行前线 ]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核心功能：任务执行、拍照记录、巡园打卡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699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07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</a:t>
            </a:r>
            <a:r>
              <a:rPr lang="en-US" sz="1400" b="0" i="0" u="none" strike="noStrike">
                <a:solidFill>
                  <a:srgbClr val="FF6F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决策舱 ]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699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核心功能：实时监控、预警汇总、汇报展示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509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699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207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H5端</a:t>
            </a:r>
            <a:r>
              <a:rPr lang="en-US" sz="1400" b="0" i="0" u="none" strike="noStrike">
                <a:solidFill>
                  <a:srgbClr val="9C27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消费者信任 ]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699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核心功能：产品溯源、品牌展示、互动营销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4953000"/>
            <a:ext cx="3556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508500" y="5207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5207000" y="5143500"/>
            <a:ext cx="2413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[ 智慧顾问 ]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提供智能问答、图像识别服务，双向赋能电脑端与移动端。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大屏端：管理者的决策舱 · 一屏掌控全局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核心设计逻辑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460500" y="2489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实景为中心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以高清果园航拍图为底图，叠加半透明速度罩、资金沉淀感。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4000500" y="2489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环绕布局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顶部整合8大核心指标，关键信息一目了然。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460500" y="3632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多维图表可视化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侧边栏集成趋势图、排行表，动态展示经营状况。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000500" y="3632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智能预警提醒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异常情况实时闪烁提示，快速响应风险事件。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1460500" y="4775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数据向下钻取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点击卡片即可穿透查看详细明细，洞察数据根源。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000500" y="4775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模型风险叠加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可切换显示病虫害热力图与产量预估，让预测直观可见。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207000" cy="825500"/>
          </a:xfrm>
          <a:prstGeom prst="roundRect">
            <a:avLst>
              <a:gd name="adj" fmla="val 18461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413500" y="1803400"/>
            <a:ext cx="482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👤 120人 | 🏡 8大基地 | 📏 12000亩 | 📦 1000万+ | 🛰️ 在线巡园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0485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果园全景视图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405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🟢 综合健康指数：92.5分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🟡 病虫害风险：低 | 🔵 物候期：膨大期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8900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95250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关键趋势看板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170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近7日工单：环比+12%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📉 产量预估：同比+5% | 📢 市场行情：看涨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DBA7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4770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实时预警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1条待处理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灌溉异常提醒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6EE7B7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0899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📅 最新农事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今日待办: 28项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施肥任务执行中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97155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☁️ 气象环境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温度: 24℃ | 湿度: 45%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适宜户外活动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855345" y="1114425"/>
            <a:ext cx="7429500" cy="558228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8917305" y="1114425"/>
            <a:ext cx="2274570" cy="150876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8926830" y="2741930"/>
            <a:ext cx="2265680" cy="171704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8967470" y="4685030"/>
            <a:ext cx="2225675" cy="19678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3485578" y="276129"/>
            <a:ext cx="4799171" cy="48215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</a:rPr>
              <a:t>智慧果园企业管理驾驶舱</a:t>
            </a:r>
            <a:endParaRPr sz="3200" b="1" i="0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移动端：一线人员的执行前线 · 田间好用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 · 七大核心特点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684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首屏即任务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打开直接看到今日待办，无需查找。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6449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3步完成农事记录，简单高效。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684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弱网环境也能操作，数据永不丢失。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适配田间场景，戴手套也能操作。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016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43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498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随时获得种植指导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2667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794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3149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模型快讯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滚动展示关键信息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445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4800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风险摘要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红绿灯高亮显示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核心操作 · 三步完成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934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6540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拍照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打开相机，拍摄现场实景。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0645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5217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81280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选择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快速关联地块与农事类型。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109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715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提交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确认信息，一键提交同步。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1791970"/>
            <a:ext cx="233743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243580" y="1791970"/>
            <a:ext cx="2428240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109335" y="1791970"/>
            <a:ext cx="247396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20810" y="1791970"/>
            <a:ext cx="238823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972687" y="598551"/>
            <a:ext cx="4217384" cy="578643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移动端·界面展示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AI助手与H5端：对内赋能，对外营销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66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· 24小时在线智慧顾问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66800" y="27940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3048000"/>
            <a:ext cx="558800" cy="558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81200" y="29210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智能问答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：覆盖苹果种植全周期知识（病虫害防治、施肥管理、果园管理、品种特性），随时随地答疑解惑。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66800" y="40005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9200" y="42545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81200" y="41275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：支持病害、作物、虫害的快速识别，只需随手一拍，即刻获取诊断与解决方案。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66800" y="5143500"/>
            <a:ext cx="4597400" cy="889000"/>
          </a:xfrm>
          <a:prstGeom prst="roundRect">
            <a:avLst>
              <a:gd name="adj" fmla="val 11428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9200" y="53086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981200" y="5308600"/>
            <a:ext cx="3429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语音输入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：支持语音提问，解放双手，操作更便捷。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527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专业知识覆盖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2794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731000" y="27686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病虫害防治：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红蜘蛛、腐烂病、蚜虫、轮纹病、炭疽叶枯病等常见病虫害的识别与防治方案。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27800" y="37465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7084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根据物候期精准匹配基肥、追肥、叶面肥配方，科学指导营养供给。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27800" y="4699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31000" y="46609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提供套袋、疏果、修剪、授粉、灌溉等标准化管理建议。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588000"/>
            <a:ext cx="76200" cy="6350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731000" y="5549900"/>
            <a:ext cx="4318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品种特性：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覆盖红富士、嘎啦、乔纳金等主流品种的特性及种植要点。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1743075"/>
            <a:ext cx="234632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329305" y="1743075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235700" y="1743075"/>
            <a:ext cx="226949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19540" y="1743075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972687" y="598551"/>
            <a:ext cx="4217384" cy="578643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AI</a:t>
            </a:r>
            <a:r>
              <a:rPr lang="zh-CN" altLang="en-US"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助手</a:t>
            </a: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端·界面展示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后台指挥中心 · 运筹帷幄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4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1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组织架构、人员权限管理，构建规范管理体系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4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71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生产计划编排、任务下发与全流程执行跟踪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95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4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71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采购、入库、库存、领用全流程闭环管理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49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8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425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集中汇聚风险预警，实现快速响应与处理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349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68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425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一物一码，全链路追溯码生成、管理和查询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49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8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425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智能与全景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无人机航线规划、VR全景管理及系统基础设置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4CAF50">
                  <a:alpha val="100000"/>
                </a:srgbClr>
              </a:gs>
              <a:gs pos="100000">
                <a:srgbClr val="388E3C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223000" y="2032000"/>
            <a:ext cx="5207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模型中心 · 六大智慧引擎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🌱 生长模型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模拟作物生长周期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优化栽培方案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🦠 病虫害模型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结合环境数据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提前预警病虫害风险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产量预估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综合多维因子分析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科学预测果园产量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⛅ 气象分析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实时对接气象数据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指导农事抗灾避灾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🌾 物候期模型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精准识别关键物候期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匹配最佳农事动作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市场预测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分析历史交易数据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预判市场价格趋势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3631" y="3671176"/>
            <a:ext cx="3668744" cy="27920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68" y="3664743"/>
            <a:ext cx="3416802" cy="280206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6253" y="900303"/>
            <a:ext cx="3578741" cy="25650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691" y="894064"/>
            <a:ext cx="3402901" cy="255098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5431" y="3667743"/>
            <a:ext cx="2266569" cy="281892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" y="3671982"/>
            <a:ext cx="2180108" cy="2789396"/>
          </a:xfrm>
          <a:prstGeom prst="rect">
            <a:avLst/>
          </a:prstGeom>
        </p:spPr>
      </p:pic>
      <p:pic>
        <p:nvPicPr>
          <p:cNvPr id="9" name="Picture 8" descr="C:/Users/Administrator/Desktop/图片1.png图片1"/>
          <p:cNvPicPr>
            <a:picLocks noChangeAspect="1"/>
          </p:cNvPicPr>
          <p:nvPr/>
        </p:nvPicPr>
        <p:blipFill>
          <a:blip r:embed="rId8"/>
          <a:srcRect l="9607" r="9607"/>
          <a:stretch>
            <a:fillRect/>
          </a:stretch>
        </p:blipFill>
        <p:spPr>
          <a:xfrm>
            <a:off x="9936480" y="901431"/>
            <a:ext cx="2255520" cy="2560062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902316"/>
            <a:ext cx="2166270" cy="25614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94321" y="143922"/>
            <a:ext cx="3974115" cy="38576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09000"/>
              </a:lnSpc>
              <a:spcBef>
                <a:spcPts val="0"/>
              </a:spcBef>
              <a:spcAft>
                <a:spcPts val="0"/>
              </a:spcAft>
            </a:pPr>
            <a:r>
              <a:rPr sz="2775" b="1" i="0">
                <a:solidFill>
                  <a:srgbClr val="070707"/>
                </a:solidFill>
                <a:latin typeface="Noto Sans SC" panose="020B0200000000000000" charset="-122"/>
                <a:ea typeface="Noto Sans SC" panose="020B0200000000000000" charset="-122"/>
              </a:rPr>
              <a:t>后台指挥中心·界面展示</a:t>
            </a:r>
            <a:endParaRPr sz="2775" b="1" i="0">
              <a:solidFill>
                <a:srgbClr val="070707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196131" y="946022"/>
            <a:ext cx="474821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CBD7E4"/>
                </a:solidFill>
                <a:latin typeface="Noto Sans SC" panose="020B0200000000000000" charset="-122"/>
                <a:ea typeface="Noto Sans SC" panose="020B0200000000000000" charset="-122"/>
              </a:rPr>
              <a:t>预警列表</a:t>
            </a:r>
            <a:endParaRPr sz="750" b="0" i="0">
              <a:solidFill>
                <a:srgbClr val="CBD7E4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837384" y="946022"/>
            <a:ext cx="298894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AB3C9"/>
                </a:solidFill>
                <a:latin typeface="Noto Sans SC" panose="020B0200000000000000" charset="-122"/>
                <a:ea typeface="Noto Sans SC" panose="020B0200000000000000" charset="-122"/>
              </a:rPr>
              <a:t>呼镜手</a:t>
            </a:r>
            <a:endParaRPr sz="750" b="0" i="0">
              <a:solidFill>
                <a:srgbClr val="9AB3C9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8552" y="1527714"/>
            <a:ext cx="386905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DAAB5"/>
                </a:solidFill>
                <a:latin typeface="Noto Sans SC" panose="020B0200000000000000" charset="-122"/>
                <a:ea typeface="Noto Sans SC" panose="020B0200000000000000" charset="-122"/>
              </a:rPr>
              <a:t>2156v5</a:t>
            </a:r>
            <a:endParaRPr sz="750" b="0" i="0">
              <a:solidFill>
                <a:srgbClr val="9DAAB5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89534" y="3730561"/>
            <a:ext cx="653605" cy="192881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7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BFBF0"/>
                </a:solidFill>
                <a:latin typeface="Noto Sans SC" panose="020B0200000000000000" charset="-122"/>
                <a:ea typeface="Noto Sans SC" panose="020B0200000000000000" charset="-122"/>
              </a:rPr>
              <a:t>风险中心</a:t>
            </a:r>
            <a:endParaRPr sz="1200" b="0" i="0">
              <a:solidFill>
                <a:srgbClr val="EBFBF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 · 智能决策引擎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667000"/>
          </a:xfrm>
          <a:prstGeom prst="roundRect">
            <a:avLst>
              <a:gd name="adj" fmla="val 38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651000"/>
          <a:ext cx="10414000" cy="28321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/>
                <a:gridCol w="2921000"/>
                <a:gridCol w="2921000"/>
                <a:gridCol w="2794000"/>
              </a:tblGrid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主要用户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生长模型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品种、积温、物候期、土壤水肥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当前物候期、精准农事建议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基地管理者、技术员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本地气象站数据、区域气象预报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未来72小时精准预报、极端天气概率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气象因子、虫情灯数据、历史发病数据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病虫害爆发风险等级、防治建议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基地管理者、植保员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物候期模型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历年观测记录、积温、品种特性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关键农时窗口预测、农时偏差提醒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产量预估模型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坐果率、疏果抽样、历史单产、气象胁迫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分地块预估产量、置信区间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市场价格预测模型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历史市场价格、供需政策、季节性因子、期货指数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未来1-6个月价格趋势、最佳销售窗口期建议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4826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农事建议准确率提升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4826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24小时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病虫害预警提前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482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产量预估误差控制在以内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:/Users/Administrator/Desktop/图片5.png图片5"/>
          <p:cNvPicPr>
            <a:picLocks noChangeAspect="1"/>
          </p:cNvPicPr>
          <p:nvPr/>
        </p:nvPicPr>
        <p:blipFill>
          <a:blip r:embed="rId2"/>
          <a:srcRect t="3646" b="3646"/>
          <a:stretch>
            <a:fillRect/>
          </a:stretch>
        </p:blipFill>
        <p:spPr>
          <a:xfrm>
            <a:off x="4191666" y="3854653"/>
            <a:ext cx="3789140" cy="2713328"/>
          </a:xfrm>
          <a:prstGeom prst="rect">
            <a:avLst/>
          </a:prstGeom>
        </p:spPr>
      </p:pic>
      <p:pic>
        <p:nvPicPr>
          <p:cNvPr id="4" name="Picture 3" descr="C:/Users/Administrator/Desktop/图片6.png图片6"/>
          <p:cNvPicPr>
            <a:picLocks noChangeAspect="1"/>
          </p:cNvPicPr>
          <p:nvPr/>
        </p:nvPicPr>
        <p:blipFill>
          <a:blip r:embed="rId3"/>
          <a:srcRect t="2217" b="2217"/>
          <a:stretch>
            <a:fillRect/>
          </a:stretch>
        </p:blipFill>
        <p:spPr>
          <a:xfrm>
            <a:off x="8266366" y="3857264"/>
            <a:ext cx="3482435" cy="2715441"/>
          </a:xfrm>
          <a:prstGeom prst="rect">
            <a:avLst/>
          </a:prstGeom>
        </p:spPr>
      </p:pic>
      <p:pic>
        <p:nvPicPr>
          <p:cNvPr id="5" name="Picture 4" descr="C:/Users/Administrator/Desktop/图片2.png图片2"/>
          <p:cNvPicPr>
            <a:picLocks noChangeAspect="1"/>
          </p:cNvPicPr>
          <p:nvPr/>
        </p:nvPicPr>
        <p:blipFill>
          <a:blip r:embed="rId4"/>
          <a:srcRect t="10680" b="10777"/>
          <a:stretch>
            <a:fillRect/>
          </a:stretch>
        </p:blipFill>
        <p:spPr>
          <a:xfrm>
            <a:off x="4172536" y="1158049"/>
            <a:ext cx="3815208" cy="2438685"/>
          </a:xfrm>
          <a:prstGeom prst="rect">
            <a:avLst/>
          </a:prstGeom>
        </p:spPr>
      </p:pic>
      <p:pic>
        <p:nvPicPr>
          <p:cNvPr id="6" name="Picture 5" descr="C:/Users/Administrator/Desktop/图片4.png图片4"/>
          <p:cNvPicPr>
            <a:picLocks noChangeAspect="1"/>
          </p:cNvPicPr>
          <p:nvPr/>
        </p:nvPicPr>
        <p:blipFill>
          <a:blip r:embed="rId5"/>
          <a:srcRect t="680" b="999"/>
          <a:stretch>
            <a:fillRect/>
          </a:stretch>
        </p:blipFill>
        <p:spPr>
          <a:xfrm>
            <a:off x="466773" y="3861530"/>
            <a:ext cx="3437189" cy="2699289"/>
          </a:xfrm>
          <a:prstGeom prst="rect">
            <a:avLst/>
          </a:prstGeom>
        </p:spPr>
      </p:pic>
      <p:pic>
        <p:nvPicPr>
          <p:cNvPr id="7" name="Picture 6" descr="C:/Users/Administrator/Desktop/图片3.png图片3"/>
          <p:cNvPicPr>
            <a:picLocks noChangeAspect="1"/>
          </p:cNvPicPr>
          <p:nvPr/>
        </p:nvPicPr>
        <p:blipFill>
          <a:blip r:embed="rId6"/>
          <a:srcRect t="8174" b="8174"/>
          <a:stretch>
            <a:fillRect/>
          </a:stretch>
        </p:blipFill>
        <p:spPr>
          <a:xfrm>
            <a:off x="8259984" y="1157579"/>
            <a:ext cx="3466814" cy="2471533"/>
          </a:xfrm>
          <a:prstGeom prst="rect">
            <a:avLst/>
          </a:prstGeom>
        </p:spPr>
      </p:pic>
      <p:pic>
        <p:nvPicPr>
          <p:cNvPr id="8" name="Picture 7" descr="C:/Users/Administrator/Desktop/图片1.png图片1"/>
          <p:cNvPicPr>
            <a:picLocks noChangeAspect="1"/>
          </p:cNvPicPr>
          <p:nvPr/>
        </p:nvPicPr>
        <p:blipFill>
          <a:blip r:embed="rId7"/>
          <a:srcRect t="10222" b="10317"/>
          <a:stretch>
            <a:fillRect/>
          </a:stretch>
        </p:blipFill>
        <p:spPr>
          <a:xfrm>
            <a:off x="467487" y="1161937"/>
            <a:ext cx="3418713" cy="2414049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0580" y="5414010"/>
            <a:ext cx="3735218" cy="11705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93115" y="355187"/>
            <a:ext cx="5093684" cy="51435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六大农业模型·界面展示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23388" y="2355151"/>
            <a:ext cx="150971" cy="9639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69000"/>
              </a:lnSpc>
              <a:spcBef>
                <a:spcPts val="0"/>
              </a:spcBef>
              <a:spcAft>
                <a:spcPts val="0"/>
              </a:spcAft>
            </a:pPr>
            <a:r>
              <a:rPr sz="450" b="0" i="0">
                <a:solidFill>
                  <a:srgbClr val="727379"/>
                </a:solidFill>
                <a:latin typeface="Noto Sans SC" panose="020B0200000000000000" charset="-122"/>
                <a:ea typeface="Noto Sans SC" panose="020B0200000000000000" charset="-122"/>
              </a:rPr>
              <a:t>特松</a:t>
            </a:r>
            <a:endParaRPr sz="450" b="0" i="0">
              <a:solidFill>
                <a:srgbClr val="727379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生长 &amp; 物候期模型：精准判断生长阶段，不错过每个农时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▍生长模型：精准判断，科学指导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2921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05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▌核心原理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通过实时监测积温、水肥等关键环境数据，结合不同苹果品种的生物学特性，利用算法精准判断果树所处的具体生长阶段（如萌芽期、花期、膨大期等）。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6500" y="46990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05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▌农事应用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自动生成农事建议看板，例如“当前95%地块进入膨大期，建议本周完成追肥”。通过对比实际与理论积温曲线，智能识别并预警生长是否超前或滞后。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▍物候期模型：预测窗口，把握农时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2921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366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▌预测逻辑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基于果园多年的历史物候观测数据与实时积温数据，建立预测模型，精准推算未来关键物候期（如开花、套袋、采收）的精确时间窗口。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67500" y="4699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366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▌决策支持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在时间轴上直观展示各物候期起止时间，并提前预警潜在的农时偏差风险，确保各项农事活动（如施肥、灌溉、采摘）都能锁定并在最佳窗口期内完成。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 &amp; 病虫害模型：72小时精准预警，将风险化解于未然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🌤️ 气象模型：精准预报，专属指数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F0F9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143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模型原理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融合本地气象站、雷达与国家级气象数据，打破传统预报局限，提供更贴合果园的本地化、分钟级精准天气预报。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143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核心应用价值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实时展示逐小时温度/降水变化曲线，对霜冻、冰雹等极端天气提供倒计时预警。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智能生成“苹果专属气象指数”，量化锈病发生概率、裂果风险等关键指标。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🐛 病虫害模型：风险预测，精准防治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04785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🧠 综合预测逻辑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结合实时气象条件、田间虫情监测站数据与历史发病记录，利用AI算法预测未来病虫害的发生与扩散风险。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477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EF2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落地应用场景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在GIS地图生成“红黄绿”三色地块级风险热力图，让风险分布一目了然。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自动生成针对性防治建议卡片，包含最佳施药窗口期与推荐药剂组合。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 &amp; 市场价格模型：以销定产，把握最佳销售窗口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产量预估模型：精准预测，指导销售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794000"/>
            <a:ext cx="508000" cy="508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模型原理：多源数据融合预测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整合前期坐果率调查、中期果径测量及历年产量数据，结合历史模型算法，实现对分地块、分等级苹果产量的精准量化预测。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应用价值：赋能销售计划制定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以可视化的仪表盘与对比图表展示预估结果，误差率严格控制在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的置信区间内，帮助销售团队提前锁定客户，科学制定分级销售与定价策略。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市场价格模型：预测走势，实现增值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2794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239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模型原理：机器学习动态推演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基于海量历史价格数据，融合实时市场供需、库存水平及宏观经济等多维因子，利用机器学习算法构建模型，动态推演未来市场价格变化趋势。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445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239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应用价值：精准锁定最佳卖点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输出未来6个月的价格预测曲线并与历史同期对比，系统自动计算并推荐</a:t>
            </a:r>
            <a:r>
              <a:rPr lang="en-US" sz="12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最佳销售时机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，避免盲目跟风，最大化每一批次苹果的销售利润。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数据验证：模型驱动的显著改善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模型提供建议被一线验证为有效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高达 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风险预警提前时间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为灾害应对争取宝贵缓冲时间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平均提前 24小时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预测精度达到行业领先水平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控制在 ±8%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化肥农药使用减量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精准施肥用药，减少农资浪费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 15%+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特级果率提升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全流程精细化管理，品质跃升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 8%+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案例：陕西洛川某大型基地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精准预警与防治病虫害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病虫害损失降低 20%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案例：山东烟台某合作社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气象模型预警霜冻风险并采取措施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霜冻损失降低 30%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降本增效与品质提升并行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全面提升果园综合收益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客户价值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从经验管理向数据化精准管理转型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实现可持续发展目标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 &amp; VR全景：科技赋能品牌，让每颗苹果都有“数字身份证”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三大核心价值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270000" y="3048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032000" y="2921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🛒 品牌溢价 · 提升购买意愿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建立透明信任关系，让消费者愿意为可追溯、高品质的农产品支付更高的价格。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3937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70000" y="4191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2032000" y="4064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政策合规 · 紧跟监管步伐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完善的溯源体系，轻松满足国家对农产品质量安全与全程追溯的要求。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5080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0000" y="5334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032000" y="5207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📣 营销素材 · 丰富品牌内涵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将真实的种植过程转化为可视化的营销素材，打造透明化、有温度的品牌形象。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5207000" cy="762000"/>
          </a:xfrm>
          <a:prstGeom prst="roundRect">
            <a:avLst>
              <a:gd name="adj" fmla="val 20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223000" y="1905000"/>
            <a:ext cx="520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📱 消费者扫码 · 产品数字履历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6675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71120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产品档案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品种：优选红富士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产地：生态果园核心产区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采收：当日鲜采，产地直发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9535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1440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95885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区块链存证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1440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所有关键节点与质检数据均已上链，确保数据真实、不可篡改。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6675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120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全流程种植日志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6675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春季修剪 → 疏花疏果 → 套袋保护 → 成熟期采摘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535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440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95885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权威质检报告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1440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农残检测：通过300+项严苛检测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糖度等级：糖度16°+，脆甜多汁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185" y="4124651"/>
            <a:ext cx="4539043" cy="243860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02" y="1426426"/>
            <a:ext cx="4249864" cy="255087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8060" y="4138707"/>
            <a:ext cx="4173751" cy="241763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019" y="1424155"/>
            <a:ext cx="2818923" cy="2547506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276" y="4126611"/>
            <a:ext cx="2893120" cy="2445829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3533" y="1428672"/>
            <a:ext cx="2371248" cy="254266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2320" y="1425206"/>
            <a:ext cx="1693830" cy="255026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421" y="4127215"/>
            <a:ext cx="1730025" cy="14353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5253" y="4134421"/>
            <a:ext cx="1037627" cy="148980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3502" y="5102066"/>
            <a:ext cx="1207970" cy="1012983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97097" y="5574705"/>
            <a:ext cx="1041272" cy="9937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4247" y="443960"/>
            <a:ext cx="8411337" cy="64293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09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区块链溯源&amp;VR全景·界面展示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5197" y="1495615"/>
            <a:ext cx="829437" cy="192881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7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CFDFE"/>
                </a:solidFill>
                <a:latin typeface="Noto Sans SC" panose="020B0200000000000000" charset="-122"/>
                <a:ea typeface="Noto Sans SC" panose="020B0200000000000000" charset="-122"/>
              </a:rPr>
              <a:t>VR全景漫游</a:t>
            </a:r>
            <a:endParaRPr sz="1200" b="0" i="0">
              <a:solidFill>
                <a:srgbClr val="FCFDFE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281856" y="1525428"/>
            <a:ext cx="1475612" cy="22498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1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消</a:t>
            </a:r>
            <a:r>
              <a:rPr lang="zh-CN"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费</a:t>
            </a:r>
            <a:r>
              <a:rPr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者扫码源页面</a:t>
            </a:r>
            <a:endParaRPr sz="1350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59347" y="4218908"/>
            <a:ext cx="1858137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9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消费者扫码源源页面</a:t>
            </a:r>
            <a:endParaRPr sz="1575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90021" y="4218908"/>
            <a:ext cx="1975294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产品数字屈历展示面</a:t>
            </a:r>
            <a:endParaRPr sz="1725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3768" y="4249483"/>
            <a:ext cx="1447800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深源管理后台</a:t>
            </a:r>
            <a:endParaRPr sz="1875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无人机巡园：高空AI巡检，效率提升80%+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5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70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PC规划路径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5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在电脑端后台，灵活规划无人机的自动巡检航线，支持自定义覆盖区域。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29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064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无人机自动执行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19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无人机按照预设航线精准起飞、自主完成全园巡检任务，最后自动返航降落。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AI识别异常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云端AI视觉模型自动分析图像，快速识别缺苗、作物倒伏、病害斑块等异常。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017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07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推送至移动端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07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识别到的异常信息实时以告警形式，精准推送到管理者的手机端，及时响应。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" y="4127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 100%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打破地形限制，实现全园无死角、无遗漏的完整覆盖，消除盲区。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318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41275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080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异常发现效率 ↑80%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AI算法相比人工肉眼巡查，识别速度更快、准确率更高，大幅降低漏判率。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001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91500" y="4127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763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时间成本 ↓60%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替代传统人工徒步巡园方式，极大地释放人力资源，节省时间成本。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17777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52500" y="5524500"/>
            <a:ext cx="1028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预期成效：陕西洛川一个3000亩的大型基地，采用无人机巡园后，每周的巡园时间从原来的</a:t>
            </a:r>
            <a:r>
              <a:rPr lang="en-US" sz="18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3天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大幅缩短至</a:t>
            </a:r>
            <a:r>
              <a:rPr lang="en-US" sz="22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4小时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88" y="1488762"/>
            <a:ext cx="3619214" cy="254297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962" y="1492862"/>
            <a:ext cx="3530441" cy="2540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933" y="1492968"/>
            <a:ext cx="3519963" cy="253532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73" y="4190904"/>
            <a:ext cx="3618224" cy="24327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0051" y="4195191"/>
            <a:ext cx="3522867" cy="242792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8724" y="4224111"/>
            <a:ext cx="3517106" cy="242723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7889" y="4840509"/>
            <a:ext cx="1020764" cy="1011269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1763" y="4848415"/>
            <a:ext cx="1012955" cy="99393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0057" y="4848423"/>
            <a:ext cx="975455" cy="9944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75544" y="693420"/>
            <a:ext cx="4182237" cy="450056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无人机巡园·界面展示</a:t>
            </a:r>
            <a:endParaRPr sz="32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核心业务闭环：农事管理，拒绝数据孤岛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从计划到执行的闭环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984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电脑端编排计划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管理者基于物候期模型和模板，轻松编排农事生产计划。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2984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640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移动端执行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计划自动下发到一线APP，员工通过“拍照即记录”轻松完成执行。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4762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报表自动生成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所有执行数据自动汇总，系统自动生成各类统计报表和分析图表。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19500" y="4762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0640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优化计划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管理者基于报表分析结果，优化下一轮的生产计划，形成持续改进的闭环。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477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关键功能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0" y="298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11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甘特图可视化编排，让生产进度一目了然。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1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44000" y="298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拍照记录，简单高效，还原生产现场真实情况。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04000" y="4762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日常巡园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GPS打卡，轨迹回放，确保巡园工作落实到位。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01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4762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965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采收管理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产量数据精准记录，实现生产成果的数字化管理。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独家优势：农资全链路管理，库存准确率升至95%+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7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采购申请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在线提交申请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41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0" y="1651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247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移动端或PC端审批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38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扫码或手动录入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EF3C7">
              <a:alpha val="100000"/>
            </a:srgbClr>
          </a:solidFill>
          <a:ln w="12700" cap="flat" cmpd="sng">
            <a:solidFill>
              <a:srgbClr val="F59E0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1651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8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库存预警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B4530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系统自动三色预警</a:t>
            </a:r>
            <a:endParaRPr lang="en-US" sz="1100" b="0" i="0" u="none" strike="noStrike">
              <a:solidFill>
                <a:srgbClr val="B4530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12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63000" y="165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19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领用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在线申请，确认出库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99695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4500" y="1651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0330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关联农事与地块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080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492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60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农资信息管理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对所有农资进行分类管理，设定安全库存水位线，保障供应。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7686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95600" y="3492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32766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采购管理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28956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支持采购申请、审批流转到最终入库的全程线上化，透明可追溯。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292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156200" y="34925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55372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51562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每一笔农资领用都关联具体地块和农事任务，清晰记录使用情况。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2898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16800" y="34925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7978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库存管理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4168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支持多仓库实时库存查询，库存不足时自动触发红/黄/绿三色预警。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504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677400" y="3492500"/>
            <a:ext cx="304800" cy="3048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100584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退货管理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96774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对于质量不合格或闲置的农资，支持在线发起退货流程，规范处理。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508000" y="5461000"/>
            <a:ext cx="11176000" cy="1143000"/>
          </a:xfrm>
          <a:prstGeom prst="roundRect">
            <a:avLst>
              <a:gd name="adj" fmla="val 13333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2" name="AutoShape 42"/>
          <p:cNvSpPr/>
          <p:nvPr/>
        </p:nvSpPr>
        <p:spPr>
          <a:xfrm>
            <a:off x="762000" y="56515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预期成效：库存准确率大幅提升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5842000" y="5588000"/>
            <a:ext cx="558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行业平均 60% ➔</a:t>
            </a:r>
            <a:r>
              <a:rPr lang="en-US" sz="3600" b="1" i="0" u="none" strike="noStrike">
                <a:solidFill>
                  <a:srgbClr val="FBBF2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95% +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设备管理：7类智能设备，统一监控与运维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全品类设备接入支持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环境监测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2603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30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3238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土壤传感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墒情检测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254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1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889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虫情测报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虫害预警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79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视频安防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2603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730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3238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水肥一体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4254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381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889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2032000" y="5207000"/>
            <a:ext cx="2921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286000" y="54102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2921000" y="53721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无人机设备：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大面积巡检与测绘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设备管理核心功能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79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31000" y="311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7493000" y="298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设备工控管理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远程控制设备启停，实时监控设备运行状态与异常告警。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77000" y="406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731000" y="438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493000" y="425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全生命周期档案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集中管理设备基础档案、安装位置、维护保养及维修记录。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6477000" y="5207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731000" y="5524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493000" y="5397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多源数据实时接入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兼容主流IoT协议，统一汇聚、清洗并可视化展示所有监测设备的实时数据。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250825" y="121094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10642600" y="0"/>
            <a:ext cx="1380490" cy="221869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10642600" y="2256790"/>
            <a:ext cx="1380490" cy="210439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10642600" y="4458970"/>
            <a:ext cx="1380490" cy="23996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050155" y="166941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2350135" y="2872740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668682" y="331374"/>
            <a:ext cx="6159055" cy="73942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1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70707"/>
                </a:solidFill>
                <a:latin typeface="Noto Sans SC" panose="020B0200000000000000" charset="-122"/>
                <a:ea typeface="Noto Sans SC" panose="020B0200000000000000" charset="-122"/>
              </a:rPr>
              <a:t>设备管理·界面展示</a:t>
            </a:r>
            <a:endParaRPr sz="3600" b="1" i="0">
              <a:solidFill>
                <a:srgbClr val="070707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趣味营销：云认养 · 提前锁定销售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果树认养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消费者在线挑选并认养专属果树，支付认养费用建立绑定关系。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84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5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683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成长直播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11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通过照片、视频或实时摄像头，让认养者随时查看果树生长状态。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207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75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905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农事互动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认养者可远程参与浇水、施肥等趣味互动，体验真实的田园生活。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429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0" y="1905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128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认养证书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56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生成独一无二的数字认养证书，方便用户分享到社交平台进行传播。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65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2500" y="1905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035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果实交付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7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果实成熟后，按约定直接将生态果实或定制礼盒寄送到家。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9525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提前锁定销售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525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在果实生长初期即完成销售闭环，帮助农场快速回笼现金流，降低市场波动风险。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4069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45974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增强用户粘性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974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从单纯的买卖关系转变为情感连接，通过高频互动实现用户留存与口碑裂变。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518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242300" y="4381500"/>
            <a:ext cx="2997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提升品牌溢价</a:t>
            </a:r>
            <a:r>
              <a:rPr lang="en-US" sz="22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30%-50%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423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认养模式赋予农产品稀缺性与情感价值，使其脱离单纯价格竞争，获得更高的利润空间。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3"/>
          <p:cNvSpPr/>
          <p:nvPr/>
        </p:nvSpPr>
        <p:spPr>
          <a:xfrm>
            <a:off x="5401945" y="1155065"/>
            <a:ext cx="4527550" cy="336804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18135" y="1155065"/>
            <a:ext cx="4773295" cy="355028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1835785" y="3211195"/>
            <a:ext cx="4859655" cy="361505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61713" y="326040"/>
            <a:ext cx="3156394" cy="450056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75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云认养·界面展示</a:t>
            </a:r>
            <a:endParaRPr sz="3075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0365" y="4523105"/>
            <a:ext cx="1623695" cy="2219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23202" y="4638611"/>
            <a:ext cx="1003744" cy="16078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</a:rPr>
              <a:t>果成长直播页面</a:t>
            </a:r>
            <a:endParaRPr sz="1125" b="0" i="0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4123" y="4552901"/>
            <a:ext cx="2193607" cy="1751078"/>
          </a:xfrm>
          <a:prstGeom prst="rect">
            <a:avLst/>
          </a:prstGeom>
        </p:spPr>
      </p:pic>
      <p:sp>
        <p:nvSpPr>
          <p:cNvPr id="34" name="AutoShape 3"/>
          <p:cNvSpPr/>
          <p:nvPr/>
        </p:nvSpPr>
        <p:spPr>
          <a:xfrm>
            <a:off x="10155555" y="1137920"/>
            <a:ext cx="1571625" cy="387286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综合成效：数据说话，每一项指标都在变好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农事排程时间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2小时/天 → 优化后: &lt;30分钟/天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75%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农事记录完整率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&lt;30% → 优化后: &gt;80%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大幅提升 167%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农资库存准确率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~60% → 优化后: &gt;95%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准确率提升 58%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预警响应时间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小时级 → 优化后: &lt;5分钟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响应效率提升 &gt;90%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不可追踪 → 优化后: 全程可量化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管理全流程透明化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经验驱动 → 优化后: 数据驱动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建议准确率达 70%+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从无预估到实现 ±8% 以内的精准预测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产销协同更高效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品牌溢价能力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从无溯源到实现全程可追溯管理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品牌价值提升 10%+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整体效益总结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解决痛点，实现降本增效提质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全方位的业务价值增长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投资回报分析：真实客户收益，数据验证价值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/>
          <a:stretch>
            <a:fillRect/>
          </a:stretch>
        </p:blipFill>
        <p:spPr>
          <a:xfrm>
            <a:off x="1066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>
            <p:custDataLst>
              <p:tags r:id="rId4"/>
            </p:custDataLst>
          </p:nvPr>
        </p:nvSpPr>
        <p:spPr>
          <a:xfrm>
            <a:off x="1651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投入分析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066800" y="2411730"/>
            <a:ext cx="4597400" cy="216027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系统部署成本：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智慧果园管理系统的开发与搭建费用。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设备接入成本：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物联网传感器、智能监测硬件及网络设施。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培训实施成本：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为员工提供系统与数字化种植的专业培训。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运营维护成本：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系统定期升级与硬件设备的日常巡检维护。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6223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/>
          <a:stretch>
            <a:fillRect/>
          </a:stretch>
        </p:blipFill>
        <p:spPr>
          <a:xfrm>
            <a:off x="6527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7112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产出分析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6527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成本节约：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优化人工排班降低人力成本，精准控制农资投入减少浪费，智能预警降低自然灾害带来的损失。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收益提升：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科学种植显著提升产量与果实品质，打造数字化农业标杆，实现品牌溢价，拓宽销售渠道。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效率提升：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实现生产过程全流程数字化管理，数据驱动科学决策，快速响应市场需求与突发状况。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rcRect/>
          <a:stretch>
            <a:fillRect/>
          </a:stretch>
        </p:blipFill>
        <p:spPr>
          <a:xfrm>
            <a:off x="1066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>
            <p:custDataLst>
              <p:tags r:id="rId14"/>
            </p:custDataLst>
          </p:nvPr>
        </p:nvSpPr>
        <p:spPr>
          <a:xfrm>
            <a:off x="1905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预计投资回收期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18 - 24 个月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15"/>
            </p:custDataLst>
          </p:nvPr>
        </p:nvSpPr>
        <p:spPr>
          <a:xfrm>
            <a:off x="6223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rcRect/>
          <a:stretch>
            <a:fillRect/>
          </a:stretch>
        </p:blipFill>
        <p:spPr>
          <a:xfrm>
            <a:off x="6527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7366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预计年化投资回报率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 - 60%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客户证言与产品路线图：他们正在使用，并将持续进化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客户声音：真实价值的见证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0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“以前决策靠拍脑袋，现在看数据说话，心里踏实多了。”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某大型果业集团负责人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87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“没想到大爷大妈都能轻松上手，现在巡园效率太高了，问题发现得也早。”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某基地管理者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07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514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“有了溯源码，消费者明显更信任我们的产品，愿意出更高的价格。”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某合作社理事长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03340" y="1905000"/>
            <a:ext cx="4954270" cy="4150995"/>
          </a:xfrm>
          <a:prstGeom prst="roundRect">
            <a:avLst>
              <a:gd name="adj" fmla="val 6956"/>
            </a:avLst>
          </a:prstGeom>
          <a:blipFill rotWithShape="1">
            <a:blip r:embed="rId7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携手共赢 · 合作模式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适合起步阶段 | 1-3个基地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52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¥ 20,000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核心SaaS功能完整开放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标准工单系统基础支持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在线文档与视频教程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3429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2E7D32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302000" cy="1016000"/>
          </a:xfrm>
          <a:prstGeom prst="roundRect">
            <a:avLst>
              <a:gd name="adj" fmla="val 10000"/>
            </a:avLst>
          </a:prstGeom>
          <a:solidFill>
            <a:srgbClr val="2E7D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445000" y="17145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企业级首选 | &lt;10个基地</a:t>
            </a:r>
            <a:endParaRPr lang="en-US" sz="1300" b="0" i="0" u="none" strike="noStrike">
              <a:solidFill>
                <a:srgbClr val="FFFFFF">
                  <a:alpha val="94902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635500" y="2794000"/>
            <a:ext cx="29210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8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¥ 25,000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系统全功能模块解锁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专属通道，问题优先响应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含2场线上/线下产品培训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1B5E2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128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旗舰版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集团定制方案 | 10个以上基地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318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1B5E2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定制报价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1对1专属VIP客户经理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系统功能定制开发支持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专家团队上门现场实施部署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2705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524500"/>
            <a:ext cx="1905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</a:t>
            </a:r>
            <a:b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服务保障体系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04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342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7×24h技术支持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快速响应您的需求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5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5334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定期版本更新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持续迭代优化功能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23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数据安全保障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确保备份与容灾恢复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76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9144000" y="5486400"/>
            <a:ext cx="1524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培训与实操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定制化现场与远程部署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8E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立即行动，抢占千亿智慧果园先机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032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460500" y="2006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邮箱：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user007a@126.com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460500" y="2895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电话：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15111480531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460500" y="3873500"/>
            <a:ext cx="241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地址：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长沙市枫林三路</a:t>
            </a:r>
            <a:br>
              <a:rPr lang="en-US" sz="16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湘江智谷超算中心C区F栋308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445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添加解决方案专家微信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获取详细解决方案与资讯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8763000" y="1968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128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添加商务顾问微信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一对一专业种植咨询服务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0" y="5524500"/>
            <a:ext cx="1219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9525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智道易农科技有限公司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 l="387" r="387"/>
          <a:stretch>
            <a:fillRect/>
          </a:stretch>
        </p:blipFill>
        <p:spPr>
          <a:xfrm>
            <a:off x="9906000" y="6159500"/>
            <a:ext cx="1524000" cy="6731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  <p:pic>
        <p:nvPicPr>
          <p:cNvPr id="20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5207000" y="2095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 · 更科学 · 更赚钱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334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期待与您携手 · 共启智慧农业新篇章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8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9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0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9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8157</Words>
  <Application>WPS 演示</Application>
  <PresentationFormat/>
  <Paragraphs>922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38</vt:i4>
      </vt:variant>
    </vt:vector>
  </HeadingPairs>
  <TitlesOfParts>
    <vt:vector size="58" baseType="lpstr">
      <vt:lpstr>Arial</vt:lpstr>
      <vt:lpstr>宋体</vt:lpstr>
      <vt:lpstr>Wingdings</vt:lpstr>
      <vt:lpstr>Arial</vt:lpstr>
      <vt:lpstr>Noto Sans SC</vt:lpstr>
      <vt:lpstr>Songti SC</vt:lpstr>
      <vt:lpstr>Segoe Print</vt:lpstr>
      <vt:lpstr>微软雅黑</vt:lpstr>
      <vt:lpstr>Arial Unicode MS</vt:lpstr>
      <vt:lpstr>Office 主题​​</vt:lpstr>
      <vt:lpstr>默认主题</vt:lpstr>
      <vt:lpstr>1_默认主题</vt:lpstr>
      <vt:lpstr>2_默认主题</vt:lpstr>
      <vt:lpstr>3_默认主题</vt:lpstr>
      <vt:lpstr>4_默认主题</vt:lpstr>
      <vt:lpstr>5_默认主题</vt:lpstr>
      <vt:lpstr>6_默认主题</vt:lpstr>
      <vt:lpstr>7_默认主题</vt:lpstr>
      <vt:lpstr>8_默认主题</vt:lpstr>
      <vt:lpstr>9_默认主题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刘友宝</cp:lastModifiedBy>
  <cp:revision>26</cp:revision>
  <dcterms:created xsi:type="dcterms:W3CDTF">2026-05-23T09:46:00Z</dcterms:created>
  <dcterms:modified xsi:type="dcterms:W3CDTF">2026-05-24T02:08:34Z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DCE3CA80776148E0843631B60BEC92AB_13</vt:lpwstr>
  </property>
  <property fmtid="{D5CDD505-2E9C-101B-9397-08002B2CF9AE}" pid="3" name="KSOProductBuildVer">
    <vt:lpwstr>2052-12.1.0.26373</vt:lpwstr>
  </property>
</Properties>
</file>